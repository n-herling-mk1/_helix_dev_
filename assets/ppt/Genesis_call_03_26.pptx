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1.xml" ContentType="application/vnd.openxmlformats-officedocument.presentationml.comments+xml"/>
  <Override PartName="/ppt/notesSlides/notesSlide8.xml" ContentType="application/vnd.openxmlformats-officedocument.presentationml.notesSlide+xml"/>
  <Override PartName="/ppt/comments/comment2.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embeddedFontLst>
    <p:embeddedFont>
      <p:font typeface="Arial Black" panose="020B0A04020102020204" pitchFamily="34" charset="0"/>
      <p:regular r:id="rId38"/>
      <p:bold r:id="rId39"/>
    </p:embeddedFont>
    <p:embeddedFont>
      <p:font typeface="Helvetica Neue" panose="020B0604020202020204" charset="0"/>
      <p:regular r:id="rId40"/>
      <p:bold r:id="rId41"/>
      <p:italic r:id="rId42"/>
      <p:boldItalic r:id="rId43"/>
    </p:embeddedFont>
    <p:embeddedFont>
      <p:font typeface="Jacques Francois Shadow" panose="020B0604020202020204" charset="0"/>
      <p:regular r:id="rId44"/>
    </p:embeddedFont>
    <p:embeddedFont>
      <p:font typeface="Source Sans Pro" panose="020B0503030403020204" pitchFamily="34" charset="0"/>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ushik De" initials="" lastIdx="1" clrIdx="0"/>
  <p:cmAuthor id="1" name="Shawn McKee" initials=""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990"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3-24T16:04:20.273" idx="1">
    <p:pos x="212" y="2713"/>
    <p:text>Should we make this a collaboration between all US T1 &amp; T2 sites?</p:text>
  </p:cm>
  <p:cm authorId="1" dt="2026-03-25T17:38:34.784" idx="1">
    <p:pos x="172" y="364"/>
    <p:text>Needs a home.   Really doesn't fit where I thought it might.  It is related to data center, but our use-case has it in service to HEP and our required Cyberinfrastructure.  Could be merged with Elwood and similar efforts in service to HEP (Area 14)</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3-25T17:36:35.064" idx="2">
    <p:pos x="172" y="364"/>
    <p:text>The focus in Topic 20 is really about the security of AI models themselves rather than infrastructure underlying things. 
It would also overlap with 20C: Real-Time Attack Detection and Mitigation for AI Models (ASCR). We also have some correspondence with 11B: AIOps - AI for Network Operations (ASCR).   I believe this work is needed but struggling to find the right home...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3cec68efd2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3cec68efd2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cf1cd045a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cf1cd045a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d1cbdd8375_31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d1cbdd8375_31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d232ba5301_587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d232ba5301_587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d0eb5d4d4e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d0eb5d4d4e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d1cbdd8375_3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g3d1cbdd8375_31_5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d1cbdd8375_31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g3d1cbdd8375_31_7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d1cbdd8375_31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g3d1cbdd8375_31_9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d0eb5d4d4e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d0eb5d4d4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da37995089_18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da37995089_18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d232ba5301_34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d232ba5301_34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d232ba5301_34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d232ba5301_34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d232ba5301_604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d232ba5301_604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d17082b6e0_118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d17082b6e0_11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d232ba5301_587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d232ba5301_58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d232ba5301_69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d232ba5301_69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d232ba5301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d232ba5301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d0eb5d4d4e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d0eb5d4d4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d232ba5301_239_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d232ba5301_239_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3d232ba5301_239_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d1b2013f8b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d1b2013f8b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d1cbdd8375_31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d1cbdd8375_3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d0f6a39cd5_2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d0f6a39cd5_2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d1992f2ea1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d1992f2ea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17082b6e0_102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d17082b6e0_10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d232ba5301_587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3d232ba5301_587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d1cbdd8375_31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d1cbdd8375_31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d232ba5301_159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d232ba5301_15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d232ba5301_250_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g3d232ba5301_25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d232ba5301_367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d232ba5301_36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cec68efd2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cec68efd2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d0eb5d4d4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d0eb5d4d4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d0f6a39cd5_3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d0f6a39cd5_3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d0f6a39cd5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d0f6a39cd5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d0f6a39cd5_2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3d0f6a39cd5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d0eb5d4d4e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d0eb5d4d4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1">
  <p:cSld name="TITLE_AND_BODY_1">
    <p:spTree>
      <p:nvGrpSpPr>
        <p:cNvPr id="1" name="Shape 51"/>
        <p:cNvGrpSpPr/>
        <p:nvPr/>
      </p:nvGrpSpPr>
      <p:grpSpPr>
        <a:xfrm>
          <a:off x="0" y="0"/>
          <a:ext cx="0" cy="0"/>
          <a:chOff x="0" y="0"/>
          <a:chExt cx="0" cy="0"/>
        </a:xfrm>
      </p:grpSpPr>
      <p:sp>
        <p:nvSpPr>
          <p:cNvPr id="52" name="Google Shape;52;p14"/>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lvl="0" indent="0" algn="ctr">
              <a:lnSpc>
                <a:spcPct val="100000"/>
              </a:lnSpc>
              <a:spcBef>
                <a:spcPts val="0"/>
              </a:spcBef>
              <a:spcAft>
                <a:spcPts val="0"/>
              </a:spcAft>
              <a:buClr>
                <a:srgbClr val="000000"/>
              </a:buClr>
              <a:buSzPts val="700"/>
              <a:buFont typeface="Helvetica Neue"/>
              <a:buNone/>
              <a:defRPr sz="700">
                <a:solidFill>
                  <a:srgbClr val="000000"/>
                </a:solidFill>
              </a:defRPr>
            </a:lvl1pPr>
            <a:lvl2pPr marL="0" lvl="1" indent="0" algn="ctr">
              <a:lnSpc>
                <a:spcPct val="100000"/>
              </a:lnSpc>
              <a:spcBef>
                <a:spcPts val="0"/>
              </a:spcBef>
              <a:spcAft>
                <a:spcPts val="0"/>
              </a:spcAft>
              <a:buClr>
                <a:srgbClr val="000000"/>
              </a:buClr>
              <a:buSzPts val="700"/>
              <a:buFont typeface="Helvetica Neue"/>
              <a:buNone/>
              <a:defRPr sz="700">
                <a:solidFill>
                  <a:srgbClr val="000000"/>
                </a:solidFill>
              </a:defRPr>
            </a:lvl2pPr>
            <a:lvl3pPr marL="0" lvl="2" indent="0" algn="ctr">
              <a:lnSpc>
                <a:spcPct val="100000"/>
              </a:lnSpc>
              <a:spcBef>
                <a:spcPts val="0"/>
              </a:spcBef>
              <a:spcAft>
                <a:spcPts val="0"/>
              </a:spcAft>
              <a:buClr>
                <a:srgbClr val="000000"/>
              </a:buClr>
              <a:buSzPts val="700"/>
              <a:buFont typeface="Helvetica Neue"/>
              <a:buNone/>
              <a:defRPr sz="700">
                <a:solidFill>
                  <a:srgbClr val="000000"/>
                </a:solidFill>
              </a:defRPr>
            </a:lvl3pPr>
            <a:lvl4pPr marL="0" lvl="3" indent="0" algn="ctr">
              <a:lnSpc>
                <a:spcPct val="100000"/>
              </a:lnSpc>
              <a:spcBef>
                <a:spcPts val="0"/>
              </a:spcBef>
              <a:spcAft>
                <a:spcPts val="0"/>
              </a:spcAft>
              <a:buClr>
                <a:srgbClr val="000000"/>
              </a:buClr>
              <a:buSzPts val="700"/>
              <a:buFont typeface="Helvetica Neue"/>
              <a:buNone/>
              <a:defRPr sz="700">
                <a:solidFill>
                  <a:srgbClr val="000000"/>
                </a:solidFill>
              </a:defRPr>
            </a:lvl4pPr>
            <a:lvl5pPr marL="0" lvl="4" indent="0" algn="ctr">
              <a:lnSpc>
                <a:spcPct val="100000"/>
              </a:lnSpc>
              <a:spcBef>
                <a:spcPts val="0"/>
              </a:spcBef>
              <a:spcAft>
                <a:spcPts val="0"/>
              </a:spcAft>
              <a:buClr>
                <a:srgbClr val="000000"/>
              </a:buClr>
              <a:buSzPts val="700"/>
              <a:buFont typeface="Helvetica Neue"/>
              <a:buNone/>
              <a:defRPr sz="700">
                <a:solidFill>
                  <a:srgbClr val="000000"/>
                </a:solidFill>
              </a:defRPr>
            </a:lvl5pPr>
            <a:lvl6pPr marL="0" lvl="5" indent="0" algn="ctr">
              <a:lnSpc>
                <a:spcPct val="100000"/>
              </a:lnSpc>
              <a:spcBef>
                <a:spcPts val="0"/>
              </a:spcBef>
              <a:spcAft>
                <a:spcPts val="0"/>
              </a:spcAft>
              <a:buClr>
                <a:srgbClr val="000000"/>
              </a:buClr>
              <a:buSzPts val="700"/>
              <a:buFont typeface="Helvetica Neue"/>
              <a:buNone/>
              <a:defRPr sz="700">
                <a:solidFill>
                  <a:srgbClr val="000000"/>
                </a:solidFill>
              </a:defRPr>
            </a:lvl6pPr>
            <a:lvl7pPr marL="0" lvl="6" indent="0" algn="ctr">
              <a:lnSpc>
                <a:spcPct val="100000"/>
              </a:lnSpc>
              <a:spcBef>
                <a:spcPts val="0"/>
              </a:spcBef>
              <a:spcAft>
                <a:spcPts val="0"/>
              </a:spcAft>
              <a:buClr>
                <a:srgbClr val="000000"/>
              </a:buClr>
              <a:buSzPts val="700"/>
              <a:buFont typeface="Helvetica Neue"/>
              <a:buNone/>
              <a:defRPr sz="700">
                <a:solidFill>
                  <a:srgbClr val="000000"/>
                </a:solidFill>
              </a:defRPr>
            </a:lvl7pPr>
            <a:lvl8pPr marL="0" lvl="7" indent="0" algn="ctr">
              <a:lnSpc>
                <a:spcPct val="100000"/>
              </a:lnSpc>
              <a:spcBef>
                <a:spcPts val="0"/>
              </a:spcBef>
              <a:spcAft>
                <a:spcPts val="0"/>
              </a:spcAft>
              <a:buClr>
                <a:srgbClr val="000000"/>
              </a:buClr>
              <a:buSzPts val="700"/>
              <a:buFont typeface="Helvetica Neue"/>
              <a:buNone/>
              <a:defRPr sz="700">
                <a:solidFill>
                  <a:srgbClr val="000000"/>
                </a:solidFill>
              </a:defRPr>
            </a:lvl8pPr>
            <a:lvl9pPr marL="0" lvl="8" indent="0" algn="ctr">
              <a:lnSpc>
                <a:spcPct val="100000"/>
              </a:lnSpc>
              <a:spcBef>
                <a:spcPts val="0"/>
              </a:spcBef>
              <a:spcAft>
                <a:spcPts val="0"/>
              </a:spcAft>
              <a:buClr>
                <a:srgbClr val="000000"/>
              </a:buClr>
              <a:buSzPts val="700"/>
              <a:buFont typeface="Helvetica Neue"/>
              <a:buNone/>
              <a:defRPr sz="700">
                <a:solidFill>
                  <a:srgbClr val="000000"/>
                </a:solidFill>
              </a:defRPr>
            </a:lvl9pPr>
          </a:lstStyle>
          <a:p>
            <a:pPr marL="0" lvl="0" indent="0" algn="ct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iles.simpler.grants.gov/opportunities/0228b895-9cb3-4160-8acc-58709e75c3c7/attachments/83da5c66-a604-49b6-91e8-86339cefa14e/DE-FOA-0003612.pdf"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hyperlink" Target="https://partnerships.genesismissionconsortium.org/user/login" TargetMode="External"/><Relationship Id="rId5" Type="http://schemas.openxmlformats.org/officeDocument/2006/relationships/hyperlink" Target="https://science-doe.zoomgov.com/webinar/register/WN_cByyhWASR72Do7yIDpe3_g#/registration" TargetMode="External"/><Relationship Id="rId4" Type="http://schemas.openxmlformats.org/officeDocument/2006/relationships/hyperlink" Target="https://science.osti.gov/-/media/grants/pdf/foas-resources/2026/Genesis-Mission-RFA-FAQs-20260323.pdf"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docs.google.com/spreadsheets/d/1zLZu2O5_jceYk5kTw20eu09koUimU2uE-fLq-9zvH6c/edit?usp=sharing"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4.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mailto:afarbin@uta.edu"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hyperlink" Target="mailto:blake.burghgrave@uta.edu" TargetMode="External"/><Relationship Id="rId4" Type="http://schemas.openxmlformats.org/officeDocument/2006/relationships/hyperlink" Target="mailto:hadavand@uta.edu"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mailto:afarbin@uta.edu"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hyperlink" Target="mailto:blake.burghgrave@uta.edu" TargetMode="External"/><Relationship Id="rId4" Type="http://schemas.openxmlformats.org/officeDocument/2006/relationships/hyperlink" Target="mailto:hadavand@uta.edu"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arxiv.org/abs/2601.11719"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hyperlink" Target="mailto:dsrankin@sas.upenn.edu" TargetMode="External"/><Relationship Id="rId4" Type="http://schemas.openxmlformats.org/officeDocument/2006/relationships/hyperlink" Target="https://arxiv.org/abs/2410.13947"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mailto:Catrin.Bernius@cern.ch"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hyperlink" Target="https://indico.cern.ch/event/1649694" TargetMode="External"/><Relationship Id="rId5" Type="http://schemas.openxmlformats.org/officeDocument/2006/relationships/hyperlink" Target="mailto:vimartin@umass.edu" TargetMode="External"/><Relationship Id="rId4" Type="http://schemas.openxmlformats.org/officeDocument/2006/relationships/hyperlink" Target="mailto:ponyisi@utexas.edu"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mailto:Catrin.Bernius@cern.ch"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hyperlink" Target="https://indico.cern.ch/event/1649694" TargetMode="External"/><Relationship Id="rId5" Type="http://schemas.openxmlformats.org/officeDocument/2006/relationships/hyperlink" Target="mailto:vimartin@umass.edu" TargetMode="External"/><Relationship Id="rId4" Type="http://schemas.openxmlformats.org/officeDocument/2006/relationships/hyperlink" Target="mailto:ponyisi@utexas.edu"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mailto:boveia.1@osu.edu"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mailto:saptaparnab@smu.edu" TargetMode="External"/><Relationship Id="rId7"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hyperlink" Target="mailto:msn@illinois.edu" TargetMode="External"/><Relationship Id="rId9"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hyperlink" Target="https://docs.google.com/document/d/1YXdomYMdorhYO00XTMFMgC_L3EwZRCIkbGSZQpsQLNY/edit?usp=sharing"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s://indico.cern.ch/event/1649694/#16-self-driving-trigger-system"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hyperlink" Target="https://arxiv.org/abs/2601.08910" TargetMode="External"/><Relationship Id="rId4" Type="http://schemas.openxmlformats.org/officeDocument/2006/relationships/hyperlink" Target="https://arxiv.org/abs/2104.06622"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jp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we know about Genesis call</a:t>
            </a:r>
            <a:endParaRPr/>
          </a:p>
        </p:txBody>
      </p:sp>
      <p:sp>
        <p:nvSpPr>
          <p:cNvPr id="58" name="Google Shape;5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u="sng">
                <a:solidFill>
                  <a:schemeClr val="hlink"/>
                </a:solidFill>
                <a:hlinkClick r:id="rId3"/>
              </a:rPr>
              <a:t>Genesis RFA</a:t>
            </a:r>
            <a:r>
              <a:rPr lang="en"/>
              <a:t> and </a:t>
            </a:r>
            <a:r>
              <a:rPr lang="en" u="sng">
                <a:solidFill>
                  <a:schemeClr val="hlink"/>
                </a:solidFill>
                <a:hlinkClick r:id="rId4"/>
              </a:rPr>
              <a:t>FAQ</a:t>
            </a:r>
            <a:r>
              <a:rPr lang="en"/>
              <a:t> - </a:t>
            </a:r>
            <a:r>
              <a:rPr lang="en" u="sng">
                <a:solidFill>
                  <a:schemeClr val="accent5"/>
                </a:solidFill>
                <a:hlinkClick r:id="rId5">
                  <a:extLst>
                    <a:ext uri="{A12FA001-AC4F-418D-AE19-62706E023703}">
                      <ahyp:hlinkClr xmlns:ahyp="http://schemas.microsoft.com/office/drawing/2018/hyperlinkcolor" val="tx"/>
                    </a:ext>
                  </a:extLst>
                </a:hlinkClick>
              </a:rPr>
              <a:t>Register for Thu 26 webinar</a:t>
            </a:r>
            <a:r>
              <a:rPr lang="en"/>
              <a:t> - </a:t>
            </a:r>
            <a:r>
              <a:rPr lang="en" u="sng">
                <a:solidFill>
                  <a:schemeClr val="hlink"/>
                </a:solidFill>
                <a:hlinkClick r:id="rId6"/>
              </a:rPr>
              <a:t>Genesis Partnership Exchange</a:t>
            </a:r>
            <a:endParaRPr/>
          </a:p>
          <a:p>
            <a:pPr marL="457200" lvl="0" indent="-325755" algn="l" rtl="0">
              <a:spcBef>
                <a:spcPts val="1200"/>
              </a:spcBef>
              <a:spcAft>
                <a:spcPts val="0"/>
              </a:spcAft>
              <a:buSzPct val="100000"/>
              <a:buChar char="●"/>
            </a:pPr>
            <a:r>
              <a:rPr lang="en"/>
              <a:t>FY26 Phase 1 proposals due April 28</a:t>
            </a:r>
            <a:endParaRPr/>
          </a:p>
          <a:p>
            <a:pPr marL="914400" lvl="1" indent="-304165" algn="l" rtl="0">
              <a:spcBef>
                <a:spcPts val="0"/>
              </a:spcBef>
              <a:spcAft>
                <a:spcPts val="0"/>
              </a:spcAft>
              <a:buSzPct val="100000"/>
              <a:buChar char="○"/>
            </a:pPr>
            <a:r>
              <a:rPr lang="en"/>
              <a:t>500-750k. July 1 start date. Six months performance period. Show results and opportunities to scale to apply for Phase 2 in December</a:t>
            </a:r>
            <a:endParaRPr/>
          </a:p>
          <a:p>
            <a:pPr marL="914400" lvl="1" indent="-304165" algn="l" rtl="0">
              <a:spcBef>
                <a:spcPts val="0"/>
              </a:spcBef>
              <a:spcAft>
                <a:spcPts val="0"/>
              </a:spcAft>
              <a:buSzPct val="100000"/>
              <a:buChar char="○"/>
            </a:pPr>
            <a:r>
              <a:rPr lang="en"/>
              <a:t>Priority is to support DOE-funded universities. 15-50 awards</a:t>
            </a:r>
            <a:endParaRPr/>
          </a:p>
          <a:p>
            <a:pPr marL="914400" lvl="1" indent="-304165" algn="l" rtl="0">
              <a:spcBef>
                <a:spcPts val="0"/>
              </a:spcBef>
              <a:spcAft>
                <a:spcPts val="0"/>
              </a:spcAft>
              <a:buSzPct val="100000"/>
              <a:buChar char="○"/>
            </a:pPr>
            <a:r>
              <a:rPr lang="en"/>
              <a:t>ATLAS/CMS collaboration encouraged where it makes sense</a:t>
            </a:r>
            <a:endParaRPr/>
          </a:p>
          <a:p>
            <a:pPr marL="457200" lvl="0" indent="-325755" algn="l" rtl="0">
              <a:spcBef>
                <a:spcPts val="0"/>
              </a:spcBef>
              <a:spcAft>
                <a:spcPts val="0"/>
              </a:spcAft>
              <a:buSzPct val="100000"/>
              <a:buChar char="●"/>
            </a:pPr>
            <a:r>
              <a:rPr lang="en"/>
              <a:t>Phase 2 1st round LOIs April 28. May 19 proposals. Awards in FY27</a:t>
            </a:r>
            <a:endParaRPr/>
          </a:p>
          <a:p>
            <a:pPr marL="914400" lvl="1" indent="-304165" algn="l" rtl="0">
              <a:spcBef>
                <a:spcPts val="0"/>
              </a:spcBef>
              <a:spcAft>
                <a:spcPts val="0"/>
              </a:spcAft>
              <a:buSzPct val="100000"/>
              <a:buChar char="○"/>
            </a:pPr>
            <a:r>
              <a:rPr lang="en"/>
              <a:t>2-5M/year three years. 1 or 2 HEP awards.</a:t>
            </a:r>
            <a:endParaRPr/>
          </a:p>
          <a:p>
            <a:pPr marL="914400" lvl="1" indent="-304165" algn="l" rtl="0">
              <a:spcBef>
                <a:spcPts val="0"/>
              </a:spcBef>
              <a:spcAft>
                <a:spcPts val="0"/>
              </a:spcAft>
              <a:buSzPct val="100000"/>
              <a:buChar char="○"/>
            </a:pPr>
            <a:r>
              <a:rPr lang="en"/>
              <a:t>Cross-frontier </a:t>
            </a:r>
            <a:endParaRPr/>
          </a:p>
          <a:p>
            <a:pPr marL="457200" lvl="0" indent="-325755" algn="l" rtl="0">
              <a:spcBef>
                <a:spcPts val="0"/>
              </a:spcBef>
              <a:spcAft>
                <a:spcPts val="0"/>
              </a:spcAft>
              <a:buSzPct val="100000"/>
              <a:buChar char="●"/>
            </a:pPr>
            <a:r>
              <a:rPr lang="en"/>
              <a:t>FY27 call for Phase 2 and possibly more Phase 1</a:t>
            </a:r>
            <a:endParaRPr/>
          </a:p>
          <a:p>
            <a:pPr marL="457200" lvl="0" indent="-325755" algn="l" rtl="0">
              <a:spcBef>
                <a:spcPts val="0"/>
              </a:spcBef>
              <a:spcAft>
                <a:spcPts val="0"/>
              </a:spcAft>
              <a:buSzPct val="100000"/>
              <a:buChar char="●"/>
            </a:pPr>
            <a:r>
              <a:rPr lang="en"/>
              <a:t>Three HEP </a:t>
            </a:r>
            <a:r>
              <a:rPr lang="en" b="1"/>
              <a:t>and NP</a:t>
            </a:r>
            <a:r>
              <a:rPr lang="en"/>
              <a:t> tracks: </a:t>
            </a:r>
            <a:endParaRPr/>
          </a:p>
          <a:p>
            <a:pPr marL="914400" lvl="1" indent="-304165" algn="l" rtl="0">
              <a:spcBef>
                <a:spcPts val="0"/>
              </a:spcBef>
              <a:spcAft>
                <a:spcPts val="0"/>
              </a:spcAft>
              <a:buSzPct val="100000"/>
              <a:buChar char="○"/>
            </a:pPr>
            <a:r>
              <a:rPr lang="en"/>
              <a:t>14a Foundation Models, AI ready data, new methods (TREASURE)</a:t>
            </a:r>
            <a:endParaRPr/>
          </a:p>
          <a:p>
            <a:pPr marL="914400" lvl="1" indent="-304165" algn="l" rtl="0">
              <a:spcBef>
                <a:spcPts val="0"/>
              </a:spcBef>
              <a:spcAft>
                <a:spcPts val="0"/>
              </a:spcAft>
              <a:buSzPct val="100000"/>
              <a:buChar char="○"/>
            </a:pPr>
            <a:r>
              <a:rPr lang="en"/>
              <a:t>14b DUNE, </a:t>
            </a:r>
            <a:endParaRPr/>
          </a:p>
          <a:p>
            <a:pPr marL="914400" lvl="1" indent="-304165" algn="l" rtl="0">
              <a:spcBef>
                <a:spcPts val="0"/>
              </a:spcBef>
              <a:spcAft>
                <a:spcPts val="0"/>
              </a:spcAft>
              <a:buSzPct val="100000"/>
              <a:buChar char="○"/>
            </a:pPr>
            <a:r>
              <a:rPr lang="en"/>
              <a:t>14c HEP applications on PB-scale datasets (data movement, data quality, analysis, simulation very broad)</a:t>
            </a:r>
            <a:endParaRPr/>
          </a:p>
          <a:p>
            <a:pPr marL="914400" lvl="1" indent="-304165" algn="l" rtl="0">
              <a:spcBef>
                <a:spcPts val="0"/>
              </a:spcBef>
              <a:spcAft>
                <a:spcPts val="0"/>
              </a:spcAft>
              <a:buSzPct val="100000"/>
              <a:buChar char="○"/>
            </a:pPr>
            <a:r>
              <a:rPr lang="en"/>
              <a:t>DUNE is a relabelling of review recommendations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More Thoughts on Strategy</a:t>
            </a:r>
            <a:endParaRPr/>
          </a:p>
        </p:txBody>
      </p:sp>
      <p:sp>
        <p:nvSpPr>
          <p:cNvPr id="64" name="Google Shape;6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Collaborative proposals stronger, as usual. </a:t>
            </a:r>
            <a:endParaRPr/>
          </a:p>
          <a:p>
            <a:pPr marL="914400" lvl="1" indent="-317500" algn="l" rtl="0">
              <a:spcBef>
                <a:spcPts val="0"/>
              </a:spcBef>
              <a:spcAft>
                <a:spcPts val="0"/>
              </a:spcAft>
              <a:buSzPts val="1400"/>
              <a:buChar char="○"/>
            </a:pPr>
            <a:r>
              <a:rPr lang="en"/>
              <a:t>First within US ATLAS, then with CMS and others. </a:t>
            </a:r>
            <a:endParaRPr/>
          </a:p>
          <a:p>
            <a:pPr marL="457200" lvl="0" indent="-342900" algn="l" rtl="0">
              <a:spcBef>
                <a:spcPts val="0"/>
              </a:spcBef>
              <a:spcAft>
                <a:spcPts val="0"/>
              </a:spcAft>
              <a:buSzPts val="1800"/>
              <a:buChar char="●"/>
            </a:pPr>
            <a:r>
              <a:rPr lang="en" b="1"/>
              <a:t>Both </a:t>
            </a:r>
            <a:r>
              <a:rPr lang="en"/>
              <a:t>Phase 1 and Phase 2 projects must point to </a:t>
            </a:r>
            <a:r>
              <a:rPr lang="en" b="1"/>
              <a:t>transformative use of AI to double productivity.</a:t>
            </a:r>
            <a:endParaRPr b="1"/>
          </a:p>
          <a:p>
            <a:pPr marL="457200" lvl="0" indent="-342900" algn="l" rtl="0">
              <a:spcBef>
                <a:spcPts val="0"/>
              </a:spcBef>
              <a:spcAft>
                <a:spcPts val="0"/>
              </a:spcAft>
              <a:buSzPts val="1800"/>
              <a:buChar char="●"/>
            </a:pPr>
            <a:r>
              <a:rPr lang="en"/>
              <a:t>Phase 1 have six-nine months to demonstrate the core of their idea. </a:t>
            </a:r>
            <a:endParaRPr/>
          </a:p>
          <a:p>
            <a:pPr marL="914400" lvl="1" indent="-317500" algn="l" rtl="0">
              <a:spcBef>
                <a:spcPts val="0"/>
              </a:spcBef>
              <a:spcAft>
                <a:spcPts val="0"/>
              </a:spcAft>
              <a:buSzPts val="1400"/>
              <a:buChar char="○"/>
            </a:pPr>
            <a:r>
              <a:rPr lang="en" b="1"/>
              <a:t>Timeline favors existing projects with a functioning team</a:t>
            </a:r>
            <a:endParaRPr b="1"/>
          </a:p>
          <a:p>
            <a:pPr marL="457200" lvl="0" indent="-342900" algn="l" rtl="0">
              <a:spcBef>
                <a:spcPts val="0"/>
              </a:spcBef>
              <a:spcAft>
                <a:spcPts val="0"/>
              </a:spcAft>
              <a:buSzPts val="1800"/>
              <a:buChar char="●"/>
            </a:pPr>
            <a:r>
              <a:rPr lang="en"/>
              <a:t>Phase 2 timescale few years, targeting HL-LHC, DUNE, EIC.  </a:t>
            </a:r>
            <a:endParaRPr/>
          </a:p>
          <a:p>
            <a:pPr marL="914400" lvl="1" indent="-317500" algn="l" rtl="0">
              <a:spcBef>
                <a:spcPts val="0"/>
              </a:spcBef>
              <a:spcAft>
                <a:spcPts val="0"/>
              </a:spcAft>
              <a:buSzPts val="1400"/>
              <a:buChar char="○"/>
            </a:pPr>
            <a:r>
              <a:rPr lang="en"/>
              <a:t>Long-term project like FCC out of scope</a:t>
            </a:r>
            <a:endParaRPr/>
          </a:p>
          <a:p>
            <a:pPr marL="1371600" lvl="2" indent="-317500" algn="l" rtl="0">
              <a:spcBef>
                <a:spcPts val="0"/>
              </a:spcBef>
              <a:spcAft>
                <a:spcPts val="0"/>
              </a:spcAft>
              <a:buSzPts val="1400"/>
              <a:buChar char="■"/>
            </a:pPr>
            <a:r>
              <a:rPr lang="en"/>
              <a:t>but future colliders applicability could strengthen the proposal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Goals for Today</a:t>
            </a:r>
            <a:endParaRPr/>
          </a:p>
        </p:txBody>
      </p:sp>
      <p:sp>
        <p:nvSpPr>
          <p:cNvPr id="70" name="Google Shape;70;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b="1"/>
              <a:t>Quickly</a:t>
            </a:r>
            <a:r>
              <a:rPr lang="en"/>
              <a:t> present our ideas</a:t>
            </a:r>
            <a:endParaRPr/>
          </a:p>
          <a:p>
            <a:pPr marL="0" lvl="0" indent="0" algn="l" rtl="0">
              <a:spcBef>
                <a:spcPts val="1200"/>
              </a:spcBef>
              <a:spcAft>
                <a:spcPts val="0"/>
              </a:spcAft>
              <a:buNone/>
            </a:pPr>
            <a:r>
              <a:rPr lang="en"/>
              <a:t>Ask clarifying questions</a:t>
            </a:r>
            <a:endParaRPr/>
          </a:p>
          <a:p>
            <a:pPr marL="0" lvl="0" indent="0" algn="l" rtl="0">
              <a:spcBef>
                <a:spcPts val="1200"/>
              </a:spcBef>
              <a:spcAft>
                <a:spcPts val="0"/>
              </a:spcAft>
              <a:buNone/>
            </a:pPr>
            <a:r>
              <a:rPr lang="en"/>
              <a:t>Create connections</a:t>
            </a:r>
            <a:endParaRPr/>
          </a:p>
          <a:p>
            <a:pPr marL="0" lvl="0" indent="0" algn="l" rtl="0">
              <a:spcBef>
                <a:spcPts val="1200"/>
              </a:spcBef>
              <a:spcAft>
                <a:spcPts val="0"/>
              </a:spcAft>
              <a:buNone/>
            </a:pPr>
            <a:endParaRPr/>
          </a:p>
          <a:p>
            <a:pPr marL="0" lvl="0" indent="0" algn="l" rtl="0">
              <a:spcBef>
                <a:spcPts val="1200"/>
              </a:spcBef>
              <a:spcAft>
                <a:spcPts val="0"/>
              </a:spcAft>
              <a:buNone/>
            </a:pPr>
            <a:r>
              <a:rPr lang="en" b="1"/>
              <a:t>NOT A GOAL:</a:t>
            </a:r>
            <a:endParaRPr b="1"/>
          </a:p>
          <a:p>
            <a:pPr marL="0" lvl="0" indent="0" algn="l" rtl="0">
              <a:spcBef>
                <a:spcPts val="1200"/>
              </a:spcBef>
              <a:spcAft>
                <a:spcPts val="0"/>
              </a:spcAft>
              <a:buNone/>
            </a:pPr>
            <a:r>
              <a:rPr lang="en"/>
              <a:t>Discuss merit of proposed ideas</a:t>
            </a:r>
            <a:endParaRPr/>
          </a:p>
          <a:p>
            <a:pPr marL="0" lvl="0" indent="0" algn="l" rtl="0">
              <a:spcBef>
                <a:spcPts val="1200"/>
              </a:spcBef>
              <a:spcAft>
                <a:spcPts val="0"/>
              </a:spcAft>
              <a:buNone/>
            </a:pPr>
            <a:r>
              <a:rPr lang="en"/>
              <a:t>Ask detailed questions</a:t>
            </a:r>
            <a:endParaRPr/>
          </a:p>
          <a:p>
            <a:pPr marL="0" lvl="0" indent="0" algn="l" rtl="0">
              <a:spcBef>
                <a:spcPts val="1200"/>
              </a:spcBef>
              <a:spcAft>
                <a:spcPts val="1200"/>
              </a:spcAft>
              <a:buNone/>
            </a:pPr>
            <a:r>
              <a:rPr lang="en"/>
              <a:t>Discuss collaboration composition, leadership, funding, etc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 ATLAS Expressions of Interest Spreadsheet</a:t>
            </a:r>
            <a:endParaRPr/>
          </a:p>
        </p:txBody>
      </p:sp>
      <p:sp>
        <p:nvSpPr>
          <p:cNvPr id="76" name="Google Shape;7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Please add your ideas, and keep the information updated</a:t>
            </a:r>
            <a:endParaRPr/>
          </a:p>
          <a:p>
            <a:pPr marL="0" lvl="0" indent="0" algn="l" rtl="0">
              <a:spcBef>
                <a:spcPts val="1200"/>
              </a:spcBef>
              <a:spcAft>
                <a:spcPts val="0"/>
              </a:spcAft>
              <a:buNone/>
            </a:pPr>
            <a:endParaRPr/>
          </a:p>
          <a:p>
            <a:pPr marL="0" lvl="0" indent="0" algn="l" rtl="0">
              <a:spcBef>
                <a:spcPts val="1200"/>
              </a:spcBef>
              <a:spcAft>
                <a:spcPts val="0"/>
              </a:spcAft>
              <a:buNone/>
            </a:pPr>
            <a:r>
              <a:rPr lang="en" u="sng">
                <a:solidFill>
                  <a:schemeClr val="hlink"/>
                </a:solidFill>
                <a:hlinkClick r:id="rId3"/>
              </a:rPr>
              <a:t>https://docs.google.com/spreadsheets/d/1zLZu2O5_jceYk5kTw20eu09koUimU2uE-fLq-9zvH6c/edit?usp=sharing</a:t>
            </a:r>
            <a:endParaRPr/>
          </a:p>
          <a:p>
            <a:pPr marL="0" lvl="0" indent="0" algn="l" rtl="0">
              <a:spcBef>
                <a:spcPts val="120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9"/>
          <p:cNvPicPr preferRelativeResize="0"/>
          <p:nvPr/>
        </p:nvPicPr>
        <p:blipFill>
          <a:blip r:embed="rId3">
            <a:alphaModFix/>
          </a:blip>
          <a:stretch>
            <a:fillRect/>
          </a:stretch>
        </p:blipFill>
        <p:spPr>
          <a:xfrm>
            <a:off x="0" y="0"/>
            <a:ext cx="9144000" cy="5143500"/>
          </a:xfrm>
          <a:prstGeom prst="rect">
            <a:avLst/>
          </a:prstGeom>
          <a:noFill/>
          <a:ln>
            <a:noFill/>
          </a:ln>
        </p:spPr>
      </p:pic>
      <p:sp>
        <p:nvSpPr>
          <p:cNvPr id="82" name="Google Shape;8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83" name="Google Shape;83;p19"/>
          <p:cNvSpPr txBox="1"/>
          <p:nvPr/>
        </p:nvSpPr>
        <p:spPr>
          <a:xfrm>
            <a:off x="6456900" y="2108375"/>
            <a:ext cx="2375400" cy="6465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2"/>
                </a:solidFill>
              </a:rPr>
              <a:t>Alexei </a:t>
            </a:r>
            <a:r>
              <a:rPr lang="en" sz="1500">
                <a:solidFill>
                  <a:schemeClr val="dk2"/>
                </a:solidFill>
              </a:rPr>
              <a:t>with input from KD, JE, FHBM,TM,...</a:t>
            </a:r>
            <a:endParaRPr sz="1500">
              <a:solidFill>
                <a:schemeClr val="dk2"/>
              </a:solidFill>
            </a:endParaRPr>
          </a:p>
        </p:txBody>
      </p:sp>
      <p:sp>
        <p:nvSpPr>
          <p:cNvPr id="84" name="Google Shape;84;p19"/>
          <p:cNvSpPr txBox="1"/>
          <p:nvPr/>
        </p:nvSpPr>
        <p:spPr>
          <a:xfrm>
            <a:off x="1915650" y="756375"/>
            <a:ext cx="450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rPr>
              <a:t>Alexei Klimentov aak@bnl.gov</a:t>
            </a:r>
            <a:endParaRPr>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0"/>
          <p:cNvSpPr txBox="1"/>
          <p:nvPr/>
        </p:nvSpPr>
        <p:spPr>
          <a:xfrm>
            <a:off x="274345" y="55235"/>
            <a:ext cx="8595300" cy="523200"/>
          </a:xfrm>
          <a:prstGeom prst="rect">
            <a:avLst/>
          </a:prstGeom>
          <a:solidFill>
            <a:srgbClr val="EBF1DE"/>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b="1" i="0" u="none" strike="noStrike" cap="none">
                <a:solidFill>
                  <a:srgbClr val="003366"/>
                </a:solidFill>
                <a:latin typeface="Calibri"/>
                <a:ea typeface="Calibri"/>
                <a:cs typeface="Calibri"/>
                <a:sym typeface="Calibri"/>
              </a:rPr>
              <a:t>Project ARGUS: </a:t>
            </a:r>
            <a:r>
              <a:rPr lang="en" b="1">
                <a:solidFill>
                  <a:schemeClr val="dk1"/>
                </a:solidFill>
              </a:rPr>
              <a:t>A</a:t>
            </a:r>
            <a:r>
              <a:rPr lang="en">
                <a:solidFill>
                  <a:schemeClr val="dk1"/>
                </a:solidFill>
              </a:rPr>
              <a:t>gentic </a:t>
            </a:r>
            <a:r>
              <a:rPr lang="en" b="1">
                <a:solidFill>
                  <a:schemeClr val="dk1"/>
                </a:solidFill>
              </a:rPr>
              <a:t>R</a:t>
            </a:r>
            <a:r>
              <a:rPr lang="en">
                <a:solidFill>
                  <a:schemeClr val="dk1"/>
                </a:solidFill>
              </a:rPr>
              <a:t>untime &amp; </a:t>
            </a:r>
            <a:r>
              <a:rPr lang="en" b="1">
                <a:solidFill>
                  <a:schemeClr val="dk1"/>
                </a:solidFill>
              </a:rPr>
              <a:t>G</a:t>
            </a:r>
            <a:r>
              <a:rPr lang="en">
                <a:solidFill>
                  <a:schemeClr val="dk1"/>
                </a:solidFill>
              </a:rPr>
              <a:t>eneralization for </a:t>
            </a:r>
            <a:r>
              <a:rPr lang="en" b="1">
                <a:solidFill>
                  <a:schemeClr val="dk1"/>
                </a:solidFill>
              </a:rPr>
              <a:t>U</a:t>
            </a:r>
            <a:r>
              <a:rPr lang="en">
                <a:solidFill>
                  <a:schemeClr val="dk1"/>
                </a:solidFill>
              </a:rPr>
              <a:t>niversal </a:t>
            </a:r>
            <a:r>
              <a:rPr lang="en" b="1">
                <a:solidFill>
                  <a:schemeClr val="dk1"/>
                </a:solidFill>
              </a:rPr>
              <a:t>S</a:t>
            </a:r>
            <a:r>
              <a:rPr lang="en">
                <a:solidFill>
                  <a:schemeClr val="dk1"/>
                </a:solidFill>
              </a:rPr>
              <a:t>oftware-orchestration (Alex Undrus)</a:t>
            </a:r>
            <a:endParaRPr b="1" i="0" u="none" strike="noStrike" cap="none">
              <a:solidFill>
                <a:srgbClr val="003366"/>
              </a:solidFill>
              <a:latin typeface="Calibri"/>
              <a:ea typeface="Calibri"/>
              <a:cs typeface="Calibri"/>
              <a:sym typeface="Calibri"/>
            </a:endParaRPr>
          </a:p>
          <a:p>
            <a:pPr marL="0" marR="0" lvl="0" indent="0" algn="l" rtl="0">
              <a:spcBef>
                <a:spcPts val="0"/>
              </a:spcBef>
              <a:spcAft>
                <a:spcPts val="0"/>
              </a:spcAft>
              <a:buNone/>
            </a:pPr>
            <a:r>
              <a:rPr lang="en" i="0" u="none" strike="noStrike" cap="none">
                <a:solidFill>
                  <a:srgbClr val="003366"/>
                </a:solidFill>
                <a:latin typeface="Calibri"/>
                <a:ea typeface="Calibri"/>
                <a:cs typeface="Calibri"/>
                <a:sym typeface="Calibri"/>
              </a:rPr>
              <a:t>Agentic CI/CD for PB-Scale HEP Frameworks</a:t>
            </a:r>
            <a:endParaRPr sz="2000"/>
          </a:p>
        </p:txBody>
      </p:sp>
      <p:sp>
        <p:nvSpPr>
          <p:cNvPr id="90" name="Google Shape;90;p20"/>
          <p:cNvSpPr txBox="1"/>
          <p:nvPr/>
        </p:nvSpPr>
        <p:spPr>
          <a:xfrm>
            <a:off x="274345" y="578423"/>
            <a:ext cx="8595300" cy="292500"/>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300" b="1" i="0" u="none" strike="noStrike" cap="none">
                <a:solidFill>
                  <a:schemeClr val="dk1"/>
                </a:solidFill>
                <a:latin typeface="Calibri"/>
                <a:ea typeface="Calibri"/>
                <a:cs typeface="Calibri"/>
                <a:sym typeface="Calibri"/>
              </a:rPr>
              <a:t>Genesis FY26 Phase 1 | </a:t>
            </a:r>
            <a:r>
              <a:rPr lang="en" sz="1100" b="1">
                <a:solidFill>
                  <a:schemeClr val="dk1"/>
                </a:solidFill>
              </a:rPr>
              <a:t>Topic 14/C</a:t>
            </a:r>
            <a:r>
              <a:rPr lang="en" sz="1100">
                <a:solidFill>
                  <a:schemeClr val="dk1"/>
                </a:solidFill>
              </a:rPr>
              <a:t> (Expedited Discovery) and </a:t>
            </a:r>
            <a:r>
              <a:rPr lang="en" sz="1100" b="1">
                <a:solidFill>
                  <a:schemeClr val="dk1"/>
                </a:solidFill>
              </a:rPr>
              <a:t>Focus Area 18</a:t>
            </a:r>
            <a:r>
              <a:rPr lang="en" sz="1100">
                <a:solidFill>
                  <a:schemeClr val="dk1"/>
                </a:solidFill>
              </a:rPr>
              <a:t> (AI-Assisted Software Engineering)</a:t>
            </a:r>
            <a:endParaRPr/>
          </a:p>
        </p:txBody>
      </p:sp>
      <p:sp>
        <p:nvSpPr>
          <p:cNvPr id="91" name="Google Shape;91;p20"/>
          <p:cNvSpPr txBox="1"/>
          <p:nvPr/>
        </p:nvSpPr>
        <p:spPr>
          <a:xfrm>
            <a:off x="274320" y="822960"/>
            <a:ext cx="41148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500" b="1" i="0" u="none" strike="noStrike" cap="none">
                <a:solidFill>
                  <a:srgbClr val="990000"/>
                </a:solidFill>
                <a:latin typeface="Calibri"/>
                <a:ea typeface="Calibri"/>
                <a:cs typeface="Calibri"/>
                <a:sym typeface="Calibri"/>
              </a:rPr>
              <a:t>SCIENTIFIC VISION &amp; AI ADVANTAGE</a:t>
            </a:r>
            <a:endParaRPr/>
          </a:p>
        </p:txBody>
      </p:sp>
      <p:sp>
        <p:nvSpPr>
          <p:cNvPr id="92" name="Google Shape;92;p20"/>
          <p:cNvSpPr txBox="1"/>
          <p:nvPr/>
        </p:nvSpPr>
        <p:spPr>
          <a:xfrm>
            <a:off x="274320" y="1097280"/>
            <a:ext cx="4114800" cy="224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Problem: Current HEP CI/CD (Athena/CMSSW) is static and brittle, requiring high manual effort to tune for CPU/GPU/FPGA environments.</a:t>
            </a:r>
            <a:br>
              <a:rPr lang="en" sz="1400" b="0" i="0" u="none" strike="noStrike" cap="none">
                <a:solidFill>
                  <a:schemeClr val="dk1"/>
                </a:solidFill>
                <a:latin typeface="Calibri"/>
                <a:ea typeface="Calibri"/>
                <a:cs typeface="Calibri"/>
                <a:sym typeface="Calibri"/>
              </a:rPr>
            </a:br>
            <a:r>
              <a:rPr lang="en" sz="1400" b="0" i="0" u="none" strike="noStrike" cap="none">
                <a:solidFill>
                  <a:schemeClr val="dk1"/>
                </a:solidFill>
                <a:latin typeface="Calibri"/>
                <a:ea typeface="Calibri"/>
                <a:cs typeface="Calibri"/>
                <a:sym typeface="Calibri"/>
              </a:rPr>
              <a:t>• AI Advantage: ARGUS replaces rigid </a:t>
            </a:r>
            <a:r>
              <a:rPr lang="en">
                <a:solidFill>
                  <a:schemeClr val="dk1"/>
                </a:solidFill>
                <a:latin typeface="Calibri"/>
                <a:ea typeface="Calibri"/>
                <a:cs typeface="Calibri"/>
                <a:sym typeface="Calibri"/>
              </a:rPr>
              <a:t>workflow components</a:t>
            </a:r>
            <a:r>
              <a:rPr lang="en" sz="1400" b="0" i="0" u="none" strike="noStrike" cap="none">
                <a:solidFill>
                  <a:schemeClr val="dk1"/>
                </a:solidFill>
                <a:latin typeface="Calibri"/>
                <a:ea typeface="Calibri"/>
                <a:cs typeface="Calibri"/>
                <a:sym typeface="Calibri"/>
              </a:rPr>
              <a:t> with LLM-based Agents. These 'DevOps Agents' reason over build logs and environment traces to self-heal and optimize workflows.</a:t>
            </a:r>
            <a:br>
              <a:rPr lang="en" sz="1400" b="0" i="0" u="none" strike="noStrike" cap="none">
                <a:solidFill>
                  <a:schemeClr val="dk1"/>
                </a:solidFill>
                <a:latin typeface="Calibri"/>
                <a:ea typeface="Calibri"/>
                <a:cs typeface="Calibri"/>
                <a:sym typeface="Calibri"/>
              </a:rPr>
            </a:br>
            <a:r>
              <a:rPr lang="en" sz="1400" b="0" i="0" u="none" strike="noStrike" cap="none">
                <a:solidFill>
                  <a:schemeClr val="dk1"/>
                </a:solidFill>
                <a:latin typeface="Calibri"/>
                <a:ea typeface="Calibri"/>
                <a:cs typeface="Calibri"/>
                <a:sym typeface="Calibri"/>
              </a:rPr>
              <a:t>• Outcome: Enables 'Intent-Driven' science where the framework handles the mapping of physics kernels to PB-scale infrastructure.</a:t>
            </a:r>
            <a:endParaRPr/>
          </a:p>
        </p:txBody>
      </p:sp>
      <p:sp>
        <p:nvSpPr>
          <p:cNvPr id="93" name="Google Shape;93;p20"/>
          <p:cNvSpPr txBox="1"/>
          <p:nvPr/>
        </p:nvSpPr>
        <p:spPr>
          <a:xfrm>
            <a:off x="4754880" y="822960"/>
            <a:ext cx="41148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500" b="1" i="0" u="none" strike="noStrike" cap="none">
                <a:solidFill>
                  <a:srgbClr val="006600"/>
                </a:solidFill>
                <a:latin typeface="Calibri"/>
                <a:ea typeface="Calibri"/>
                <a:cs typeface="Calibri"/>
                <a:sym typeface="Calibri"/>
              </a:rPr>
              <a:t>PHASE 1 SPRINT (6 MONTHS)</a:t>
            </a:r>
            <a:endParaRPr/>
          </a:p>
        </p:txBody>
      </p:sp>
      <p:sp>
        <p:nvSpPr>
          <p:cNvPr id="94" name="Google Shape;94;p20"/>
          <p:cNvSpPr txBox="1"/>
          <p:nvPr/>
        </p:nvSpPr>
        <p:spPr>
          <a:xfrm>
            <a:off x="4754880" y="1097280"/>
            <a:ext cx="4114800" cy="203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Primary Deliverable: A 'Self-Healing' Agentic Wrapper for </a:t>
            </a:r>
            <a:r>
              <a:rPr lang="en">
                <a:solidFill>
                  <a:schemeClr val="dk1"/>
                </a:solidFill>
                <a:latin typeface="Calibri"/>
                <a:ea typeface="Calibri"/>
                <a:cs typeface="Calibri"/>
                <a:sym typeface="Calibri"/>
              </a:rPr>
              <a:t>software development workflow </a:t>
            </a:r>
            <a:r>
              <a:rPr lang="en" b="1">
                <a:solidFill>
                  <a:schemeClr val="dk1"/>
                </a:solidFill>
                <a:latin typeface="Calibri"/>
                <a:ea typeface="Calibri"/>
                <a:cs typeface="Calibri"/>
                <a:sym typeface="Calibri"/>
              </a:rPr>
              <a:t>and/or</a:t>
            </a:r>
            <a:r>
              <a:rPr lang="en" sz="1400" b="0" i="0" u="none" strike="noStrike" cap="none">
                <a:solidFill>
                  <a:schemeClr val="dk1"/>
                </a:solidFill>
                <a:latin typeface="Calibri"/>
                <a:ea typeface="Calibri"/>
                <a:cs typeface="Calibri"/>
                <a:sym typeface="Calibri"/>
              </a:rPr>
              <a:t> </a:t>
            </a:r>
            <a:r>
              <a:rPr lang="en">
                <a:solidFill>
                  <a:schemeClr val="dk1"/>
                </a:solidFill>
                <a:latin typeface="Calibri"/>
                <a:ea typeface="Calibri"/>
                <a:cs typeface="Calibri"/>
                <a:sym typeface="Calibri"/>
              </a:rPr>
              <a:t>g</a:t>
            </a:r>
            <a:r>
              <a:rPr lang="en" sz="1400" b="0" i="0" u="none" strike="noStrike" cap="none">
                <a:solidFill>
                  <a:schemeClr val="dk1"/>
                </a:solidFill>
                <a:latin typeface="Calibri"/>
                <a:ea typeface="Calibri"/>
                <a:cs typeface="Calibri"/>
                <a:sym typeface="Calibri"/>
              </a:rPr>
              <a:t>rid </a:t>
            </a:r>
            <a:r>
              <a:rPr lang="en">
                <a:solidFill>
                  <a:schemeClr val="dk1"/>
                </a:solidFill>
                <a:latin typeface="Calibri"/>
                <a:ea typeface="Calibri"/>
                <a:cs typeface="Calibri"/>
                <a:sym typeface="Calibri"/>
              </a:rPr>
              <a:t>j</a:t>
            </a:r>
            <a:r>
              <a:rPr lang="en" sz="1400" b="0" i="0" u="none" strike="noStrike" cap="none">
                <a:solidFill>
                  <a:schemeClr val="dk1"/>
                </a:solidFill>
                <a:latin typeface="Calibri"/>
                <a:ea typeface="Calibri"/>
                <a:cs typeface="Calibri"/>
                <a:sym typeface="Calibri"/>
              </a:rPr>
              <a:t>ob </a:t>
            </a:r>
            <a:r>
              <a:rPr lang="en">
                <a:solidFill>
                  <a:schemeClr val="dk1"/>
                </a:solidFill>
                <a:latin typeface="Calibri"/>
                <a:ea typeface="Calibri"/>
                <a:cs typeface="Calibri"/>
                <a:sym typeface="Calibri"/>
              </a:rPr>
              <a:t>o</a:t>
            </a:r>
            <a:r>
              <a:rPr lang="en" sz="1400" b="0" i="0" u="none" strike="noStrike" cap="none">
                <a:solidFill>
                  <a:schemeClr val="dk1"/>
                </a:solidFill>
                <a:latin typeface="Calibri"/>
                <a:ea typeface="Calibri"/>
                <a:cs typeface="Calibri"/>
                <a:sym typeface="Calibri"/>
              </a:rPr>
              <a:t>rchestration (PanDA/Kubernetes).</a:t>
            </a:r>
            <a:br>
              <a:rPr lang="en" sz="1400" b="0" i="0" u="none" strike="noStrike" cap="none">
                <a:solidFill>
                  <a:schemeClr val="dk1"/>
                </a:solidFill>
                <a:latin typeface="Calibri"/>
                <a:ea typeface="Calibri"/>
                <a:cs typeface="Calibri"/>
                <a:sym typeface="Calibri"/>
              </a:rPr>
            </a:br>
            <a:r>
              <a:rPr lang="en" sz="1400" b="0" i="0" u="none" strike="noStrike" cap="none">
                <a:solidFill>
                  <a:schemeClr val="dk1"/>
                </a:solidFill>
                <a:latin typeface="Calibri"/>
                <a:ea typeface="Calibri"/>
                <a:cs typeface="Calibri"/>
                <a:sym typeface="Calibri"/>
              </a:rPr>
              <a:t>• Technical Goal: Automate the 'Debug-Refactor-Redeploy' cycle. Agents detect failures, suggest code fixes for environment mismatches, and re-trigger pipelines.</a:t>
            </a:r>
            <a:br>
              <a:rPr lang="en" sz="1400" b="0" i="0" u="none" strike="noStrike" cap="none">
                <a:solidFill>
                  <a:schemeClr val="dk1"/>
                </a:solidFill>
                <a:latin typeface="Calibri"/>
                <a:ea typeface="Calibri"/>
                <a:cs typeface="Calibri"/>
                <a:sym typeface="Calibri"/>
              </a:rPr>
            </a:br>
            <a:r>
              <a:rPr lang="en" sz="1400" b="0" i="0" u="none" strike="noStrike" cap="none">
                <a:solidFill>
                  <a:schemeClr val="dk1"/>
                </a:solidFill>
                <a:latin typeface="Calibri"/>
                <a:ea typeface="Calibri"/>
                <a:cs typeface="Calibri"/>
                <a:sym typeface="Calibri"/>
              </a:rPr>
              <a:t>• KPI: 50% reduction in Human-in-the-Loop time for software release and deployment to production sites.</a:t>
            </a:r>
            <a:endParaRPr/>
          </a:p>
        </p:txBody>
      </p:sp>
      <p:sp>
        <p:nvSpPr>
          <p:cNvPr id="95" name="Google Shape;95;p20"/>
          <p:cNvSpPr txBox="1"/>
          <p:nvPr/>
        </p:nvSpPr>
        <p:spPr>
          <a:xfrm>
            <a:off x="274345" y="3344580"/>
            <a:ext cx="8595300" cy="292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300" b="1" i="0" u="none" strike="noStrike" cap="none">
                <a:solidFill>
                  <a:schemeClr val="dk1"/>
                </a:solidFill>
                <a:latin typeface="Calibri"/>
                <a:ea typeface="Calibri"/>
                <a:cs typeface="Calibri"/>
                <a:sym typeface="Calibri"/>
              </a:rPr>
              <a:t>THE AGENTIC CI/CD LOOP (AUTONOMOUS FRAMEWORK)</a:t>
            </a:r>
            <a:endParaRPr/>
          </a:p>
        </p:txBody>
      </p:sp>
      <p:grpSp>
        <p:nvGrpSpPr>
          <p:cNvPr id="96" name="Google Shape;96;p20"/>
          <p:cNvGrpSpPr/>
          <p:nvPr/>
        </p:nvGrpSpPr>
        <p:grpSpPr>
          <a:xfrm>
            <a:off x="459388" y="3669304"/>
            <a:ext cx="8046659" cy="548700"/>
            <a:chOff x="457200" y="2811779"/>
            <a:chExt cx="8046659" cy="548700"/>
          </a:xfrm>
        </p:grpSpPr>
        <p:sp>
          <p:nvSpPr>
            <p:cNvPr id="97" name="Google Shape;97;p20"/>
            <p:cNvSpPr/>
            <p:nvPr/>
          </p:nvSpPr>
          <p:spPr>
            <a:xfrm>
              <a:off x="457200" y="2811779"/>
              <a:ext cx="1737300" cy="548700"/>
            </a:xfrm>
            <a:prstGeom prst="roundRect">
              <a:avLst>
                <a:gd name="adj" fmla="val 16667"/>
              </a:avLst>
            </a:prstGeom>
            <a:solidFill>
              <a:srgbClr val="EBF1DE"/>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i="0" u="none" strike="noStrike" cap="none">
                  <a:solidFill>
                    <a:srgbClr val="000000"/>
                  </a:solidFill>
                  <a:latin typeface="Calibri"/>
                  <a:ea typeface="Calibri"/>
                  <a:cs typeface="Calibri"/>
                  <a:sym typeface="Calibri"/>
                </a:rPr>
                <a:t>1. MONITOR</a:t>
              </a:r>
              <a:br>
                <a:rPr lang="en" sz="1200" b="1" i="0" u="none" strike="noStrike" cap="none">
                  <a:solidFill>
                    <a:srgbClr val="000000"/>
                  </a:solidFill>
                  <a:latin typeface="Calibri"/>
                  <a:ea typeface="Calibri"/>
                  <a:cs typeface="Calibri"/>
                  <a:sym typeface="Calibri"/>
                </a:rPr>
              </a:br>
              <a:r>
                <a:rPr lang="en" sz="1200" b="1" i="0" u="none" strike="noStrike" cap="none">
                  <a:solidFill>
                    <a:srgbClr val="000000"/>
                  </a:solidFill>
                  <a:latin typeface="Calibri"/>
                  <a:ea typeface="Calibri"/>
                  <a:cs typeface="Calibri"/>
                  <a:sym typeface="Calibri"/>
                </a:rPr>
                <a:t>Grid/Logs</a:t>
              </a:r>
              <a:endParaRPr/>
            </a:p>
          </p:txBody>
        </p:sp>
        <p:sp>
          <p:nvSpPr>
            <p:cNvPr id="98" name="Google Shape;98;p20"/>
            <p:cNvSpPr/>
            <p:nvPr/>
          </p:nvSpPr>
          <p:spPr>
            <a:xfrm>
              <a:off x="2286000" y="2983229"/>
              <a:ext cx="274200" cy="205800"/>
            </a:xfrm>
            <a:prstGeom prst="rightArrow">
              <a:avLst>
                <a:gd name="adj1" fmla="val 50000"/>
                <a:gd name="adj2" fmla="val 50000"/>
              </a:avLst>
            </a:prstGeom>
            <a:solidFill>
              <a:srgbClr val="646464"/>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20"/>
            <p:cNvSpPr/>
            <p:nvPr/>
          </p:nvSpPr>
          <p:spPr>
            <a:xfrm>
              <a:off x="2560320" y="2811779"/>
              <a:ext cx="1737300" cy="548700"/>
            </a:xfrm>
            <a:prstGeom prst="roundRect">
              <a:avLst>
                <a:gd name="adj" fmla="val 16667"/>
              </a:avLst>
            </a:prstGeom>
            <a:solidFill>
              <a:srgbClr val="DAEEF3"/>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i="0" u="none" strike="noStrike" cap="none">
                  <a:solidFill>
                    <a:srgbClr val="000000"/>
                  </a:solidFill>
                  <a:latin typeface="Calibri"/>
                  <a:ea typeface="Calibri"/>
                  <a:cs typeface="Calibri"/>
                  <a:sym typeface="Calibri"/>
                </a:rPr>
                <a:t>2. REASON</a:t>
              </a:r>
              <a:br>
                <a:rPr lang="en" sz="1200" b="1" i="0" u="none" strike="noStrike" cap="none">
                  <a:solidFill>
                    <a:srgbClr val="000000"/>
                  </a:solidFill>
                  <a:latin typeface="Calibri"/>
                  <a:ea typeface="Calibri"/>
                  <a:cs typeface="Calibri"/>
                  <a:sym typeface="Calibri"/>
                </a:rPr>
              </a:br>
              <a:r>
                <a:rPr lang="en" sz="1200" b="1" i="0" u="none" strike="noStrike" cap="none">
                  <a:solidFill>
                    <a:srgbClr val="000000"/>
                  </a:solidFill>
                  <a:latin typeface="Calibri"/>
                  <a:ea typeface="Calibri"/>
                  <a:cs typeface="Calibri"/>
                  <a:sym typeface="Calibri"/>
                </a:rPr>
                <a:t>Agent Analysis</a:t>
              </a:r>
              <a:endParaRPr/>
            </a:p>
          </p:txBody>
        </p:sp>
        <p:sp>
          <p:nvSpPr>
            <p:cNvPr id="100" name="Google Shape;100;p20"/>
            <p:cNvSpPr/>
            <p:nvPr/>
          </p:nvSpPr>
          <p:spPr>
            <a:xfrm>
              <a:off x="4389119" y="2983229"/>
              <a:ext cx="274200" cy="205800"/>
            </a:xfrm>
            <a:prstGeom prst="rightArrow">
              <a:avLst>
                <a:gd name="adj1" fmla="val 50000"/>
                <a:gd name="adj2" fmla="val 50000"/>
              </a:avLst>
            </a:prstGeom>
            <a:solidFill>
              <a:srgbClr val="646464"/>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1" name="Google Shape;101;p20"/>
            <p:cNvSpPr/>
            <p:nvPr/>
          </p:nvSpPr>
          <p:spPr>
            <a:xfrm>
              <a:off x="4663440" y="2811779"/>
              <a:ext cx="1737300" cy="548700"/>
            </a:xfrm>
            <a:prstGeom prst="roundRect">
              <a:avLst>
                <a:gd name="adj" fmla="val 16667"/>
              </a:avLst>
            </a:prstGeom>
            <a:solidFill>
              <a:srgbClr val="EBF1DE"/>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i="0" u="none" strike="noStrike" cap="none">
                  <a:solidFill>
                    <a:srgbClr val="000000"/>
                  </a:solidFill>
                  <a:latin typeface="Calibri"/>
                  <a:ea typeface="Calibri"/>
                  <a:cs typeface="Calibri"/>
                  <a:sym typeface="Calibri"/>
                </a:rPr>
                <a:t>3. ACT</a:t>
              </a:r>
              <a:br>
                <a:rPr lang="en" sz="1200" b="1" i="0" u="none" strike="noStrike" cap="none">
                  <a:solidFill>
                    <a:srgbClr val="000000"/>
                  </a:solidFill>
                  <a:latin typeface="Calibri"/>
                  <a:ea typeface="Calibri"/>
                  <a:cs typeface="Calibri"/>
                  <a:sym typeface="Calibri"/>
                </a:rPr>
              </a:br>
              <a:r>
                <a:rPr lang="en" sz="1200" b="1" i="0" u="none" strike="noStrike" cap="none">
                  <a:solidFill>
                    <a:srgbClr val="000000"/>
                  </a:solidFill>
                  <a:latin typeface="Calibri"/>
                  <a:ea typeface="Calibri"/>
                  <a:cs typeface="Calibri"/>
                  <a:sym typeface="Calibri"/>
                </a:rPr>
                <a:t>Auto-Refactor</a:t>
              </a:r>
              <a:endParaRPr/>
            </a:p>
          </p:txBody>
        </p:sp>
        <p:sp>
          <p:nvSpPr>
            <p:cNvPr id="102" name="Google Shape;102;p20"/>
            <p:cNvSpPr/>
            <p:nvPr/>
          </p:nvSpPr>
          <p:spPr>
            <a:xfrm>
              <a:off x="6492240" y="2983229"/>
              <a:ext cx="274200" cy="205800"/>
            </a:xfrm>
            <a:prstGeom prst="rightArrow">
              <a:avLst>
                <a:gd name="adj1" fmla="val 50000"/>
                <a:gd name="adj2" fmla="val 50000"/>
              </a:avLst>
            </a:prstGeom>
            <a:solidFill>
              <a:srgbClr val="646464"/>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20"/>
            <p:cNvSpPr/>
            <p:nvPr/>
          </p:nvSpPr>
          <p:spPr>
            <a:xfrm>
              <a:off x="6766559" y="2811779"/>
              <a:ext cx="1737300" cy="548700"/>
            </a:xfrm>
            <a:prstGeom prst="roundRect">
              <a:avLst>
                <a:gd name="adj" fmla="val 16667"/>
              </a:avLst>
            </a:prstGeom>
            <a:solidFill>
              <a:srgbClr val="DAEEF3"/>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i="0" u="none" strike="noStrike" cap="none">
                  <a:solidFill>
                    <a:srgbClr val="000000"/>
                  </a:solidFill>
                  <a:latin typeface="Calibri"/>
                  <a:ea typeface="Calibri"/>
                  <a:cs typeface="Calibri"/>
                  <a:sym typeface="Calibri"/>
                </a:rPr>
                <a:t>4. DEPLOY</a:t>
              </a:r>
              <a:br>
                <a:rPr lang="en" sz="1200" b="1" i="0" u="none" strike="noStrike" cap="none">
                  <a:solidFill>
                    <a:srgbClr val="000000"/>
                  </a:solidFill>
                  <a:latin typeface="Calibri"/>
                  <a:ea typeface="Calibri"/>
                  <a:cs typeface="Calibri"/>
                  <a:sym typeface="Calibri"/>
                </a:rPr>
              </a:br>
              <a:r>
                <a:rPr lang="en" sz="1200" b="1" i="0" u="none" strike="noStrike" cap="none">
                  <a:solidFill>
                    <a:srgbClr val="000000"/>
                  </a:solidFill>
                  <a:latin typeface="Calibri"/>
                  <a:ea typeface="Calibri"/>
                  <a:cs typeface="Calibri"/>
                  <a:sym typeface="Calibri"/>
                </a:rPr>
                <a:t>Cloud/Edge</a:t>
              </a:r>
              <a:endParaRPr/>
            </a:p>
          </p:txBody>
        </p:sp>
      </p:grpSp>
      <p:sp>
        <p:nvSpPr>
          <p:cNvPr id="104" name="Google Shape;104;p20"/>
          <p:cNvSpPr txBox="1"/>
          <p:nvPr/>
        </p:nvSpPr>
        <p:spPr>
          <a:xfrm>
            <a:off x="337650" y="4307700"/>
            <a:ext cx="7997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Team: PanDA expert(s) and Alex (DevOps expert). Direct connection to Analysis Facilities &amp; PanDA development.</a:t>
            </a:r>
            <a:endParaRPr sz="1200">
              <a:solidFill>
                <a:schemeClr val="dk2"/>
              </a:solidFill>
            </a:endParaRPr>
          </a:p>
        </p:txBody>
      </p:sp>
      <p:sp>
        <p:nvSpPr>
          <p:cNvPr id="105" name="Google Shape;105;p20"/>
          <p:cNvSpPr txBox="1"/>
          <p:nvPr/>
        </p:nvSpPr>
        <p:spPr>
          <a:xfrm>
            <a:off x="6592225" y="3129175"/>
            <a:ext cx="2551800" cy="400200"/>
          </a:xfrm>
          <a:prstGeom prst="rect">
            <a:avLst/>
          </a:prstGeom>
          <a:solidFill>
            <a:srgbClr val="00FF00"/>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Alex Undrus, undrus@bnl.gov</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p:nvPr/>
        </p:nvSpPr>
        <p:spPr>
          <a:xfrm>
            <a:off x="274345" y="55235"/>
            <a:ext cx="8595300" cy="738900"/>
          </a:xfrm>
          <a:prstGeom prst="rect">
            <a:avLst/>
          </a:prstGeom>
          <a:solidFill>
            <a:srgbClr val="EBF1DE"/>
          </a:solid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 b="1">
                <a:solidFill>
                  <a:srgbClr val="003366"/>
                </a:solidFill>
                <a:latin typeface="Calibri"/>
                <a:ea typeface="Calibri"/>
                <a:cs typeface="Calibri"/>
                <a:sym typeface="Calibri"/>
              </a:rPr>
              <a:t>Project AURA: Autonomous Unified Response Agents for Infrastructure Assurance</a:t>
            </a:r>
            <a:endParaRPr b="1">
              <a:solidFill>
                <a:srgbClr val="003366"/>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b="1">
                <a:solidFill>
                  <a:srgbClr val="003366"/>
                </a:solidFill>
                <a:latin typeface="Calibri"/>
                <a:ea typeface="Calibri"/>
                <a:cs typeface="Calibri"/>
                <a:sym typeface="Calibri"/>
              </a:rPr>
              <a:t>Cyberagents for Proactive Infrastructure Management</a:t>
            </a:r>
            <a:endParaRPr b="1">
              <a:solidFill>
                <a:srgbClr val="003366"/>
              </a:solidFill>
              <a:latin typeface="Calibri"/>
              <a:ea typeface="Calibri"/>
              <a:cs typeface="Calibri"/>
              <a:sym typeface="Calibri"/>
            </a:endParaRPr>
          </a:p>
          <a:p>
            <a:pPr marL="0" marR="0" lvl="0" indent="0" algn="l" rtl="0">
              <a:spcBef>
                <a:spcPts val="0"/>
              </a:spcBef>
              <a:spcAft>
                <a:spcPts val="0"/>
              </a:spcAft>
              <a:buNone/>
            </a:pPr>
            <a:endParaRPr b="1">
              <a:solidFill>
                <a:srgbClr val="003366"/>
              </a:solidFill>
              <a:latin typeface="Calibri"/>
              <a:ea typeface="Calibri"/>
              <a:cs typeface="Calibri"/>
              <a:sym typeface="Calibri"/>
            </a:endParaRPr>
          </a:p>
        </p:txBody>
      </p:sp>
      <p:sp>
        <p:nvSpPr>
          <p:cNvPr id="111" name="Google Shape;111;p21"/>
          <p:cNvSpPr txBox="1"/>
          <p:nvPr/>
        </p:nvSpPr>
        <p:spPr>
          <a:xfrm>
            <a:off x="274345" y="578423"/>
            <a:ext cx="8595300" cy="292500"/>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300" b="1">
                <a:solidFill>
                  <a:schemeClr val="dk1"/>
                </a:solidFill>
                <a:latin typeface="Calibri"/>
                <a:ea typeface="Calibri"/>
                <a:cs typeface="Calibri"/>
                <a:sym typeface="Calibri"/>
              </a:rPr>
              <a:t>Genesis FY26 Phase 1 | Topic ?</a:t>
            </a:r>
            <a:endParaRPr/>
          </a:p>
        </p:txBody>
      </p:sp>
      <p:sp>
        <p:nvSpPr>
          <p:cNvPr id="112" name="Google Shape;112;p21"/>
          <p:cNvSpPr txBox="1"/>
          <p:nvPr/>
        </p:nvSpPr>
        <p:spPr>
          <a:xfrm>
            <a:off x="274320" y="822960"/>
            <a:ext cx="41148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500" b="1" i="0" u="none" strike="noStrike" cap="none">
                <a:solidFill>
                  <a:srgbClr val="990000"/>
                </a:solidFill>
                <a:latin typeface="Calibri"/>
                <a:ea typeface="Calibri"/>
                <a:cs typeface="Calibri"/>
                <a:sym typeface="Calibri"/>
              </a:rPr>
              <a:t>SCIENTIFIC VISION &amp; AI ADVANTAGE</a:t>
            </a:r>
            <a:endParaRPr/>
          </a:p>
        </p:txBody>
      </p:sp>
      <p:sp>
        <p:nvSpPr>
          <p:cNvPr id="113" name="Google Shape;113;p21"/>
          <p:cNvSpPr txBox="1"/>
          <p:nvPr/>
        </p:nvSpPr>
        <p:spPr>
          <a:xfrm>
            <a:off x="274320" y="1097280"/>
            <a:ext cx="4114800" cy="224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a:solidFill>
                  <a:schemeClr val="dk1"/>
                </a:solidFill>
                <a:latin typeface="Calibri"/>
                <a:ea typeface="Calibri"/>
                <a:cs typeface="Calibri"/>
                <a:sym typeface="Calibri"/>
              </a:rPr>
              <a:t>• </a:t>
            </a:r>
            <a:r>
              <a:rPr lang="en" b="1">
                <a:solidFill>
                  <a:schemeClr val="dk1"/>
                </a:solidFill>
                <a:latin typeface="Calibri"/>
                <a:ea typeface="Calibri"/>
                <a:cs typeface="Calibri"/>
                <a:sym typeface="Calibri"/>
              </a:rPr>
              <a:t>Problem</a:t>
            </a:r>
            <a:r>
              <a:rPr lang="en">
                <a:solidFill>
                  <a:schemeClr val="dk1"/>
                </a:solidFill>
                <a:latin typeface="Calibri"/>
                <a:ea typeface="Calibri"/>
                <a:cs typeface="Calibri"/>
                <a:sym typeface="Calibri"/>
              </a:rPr>
              <a:t>: Current infrastructure monitoring is reactive -  failures detected only AFTER they occur, causing wasted</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
                <a:solidFill>
                  <a:schemeClr val="dk1"/>
                </a:solidFill>
                <a:latin typeface="Calibri"/>
                <a:ea typeface="Calibri"/>
                <a:cs typeface="Calibri"/>
                <a:sym typeface="Calibri"/>
              </a:rPr>
              <a:t>• </a:t>
            </a:r>
            <a:r>
              <a:rPr lang="en" b="1">
                <a:solidFill>
                  <a:schemeClr val="dk1"/>
                </a:solidFill>
                <a:latin typeface="Calibri"/>
                <a:ea typeface="Calibri"/>
                <a:cs typeface="Calibri"/>
                <a:sym typeface="Calibri"/>
              </a:rPr>
              <a:t>AI Advantage</a:t>
            </a:r>
            <a:r>
              <a:rPr lang="en">
                <a:solidFill>
                  <a:schemeClr val="dk1"/>
                </a:solidFill>
                <a:latin typeface="Calibri"/>
                <a:ea typeface="Calibri"/>
                <a:cs typeface="Calibri"/>
                <a:sym typeface="Calibri"/>
              </a:rPr>
              <a:t>: AURA uses specialized agents that analyze sensors and configurations to identify subtle patterns indicating  impending failures and performance degradation.</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
                <a:solidFill>
                  <a:schemeClr val="dk1"/>
                </a:solidFill>
                <a:latin typeface="Calibri"/>
                <a:ea typeface="Calibri"/>
                <a:cs typeface="Calibri"/>
                <a:sym typeface="Calibri"/>
              </a:rPr>
              <a:t>• </a:t>
            </a:r>
            <a:r>
              <a:rPr lang="en" b="1">
                <a:solidFill>
                  <a:schemeClr val="dk1"/>
                </a:solidFill>
                <a:latin typeface="Calibri"/>
                <a:ea typeface="Calibri"/>
                <a:cs typeface="Calibri"/>
                <a:sym typeface="Calibri"/>
              </a:rPr>
              <a:t>Goal</a:t>
            </a:r>
            <a:r>
              <a:rPr lang="en">
                <a:solidFill>
                  <a:schemeClr val="dk1"/>
                </a:solidFill>
                <a:latin typeface="Calibri"/>
                <a:ea typeface="Calibri"/>
                <a:cs typeface="Calibri"/>
                <a:sym typeface="Calibri"/>
              </a:rPr>
              <a:t>: Increase scientific productivity by preventing infrastructure, software and configuration issues before they impact research.</a:t>
            </a:r>
            <a:endParaRPr>
              <a:solidFill>
                <a:schemeClr val="dk1"/>
              </a:solidFill>
              <a:latin typeface="Calibri"/>
              <a:ea typeface="Calibri"/>
              <a:cs typeface="Calibri"/>
              <a:sym typeface="Calibri"/>
            </a:endParaRPr>
          </a:p>
        </p:txBody>
      </p:sp>
      <p:sp>
        <p:nvSpPr>
          <p:cNvPr id="114" name="Google Shape;114;p21"/>
          <p:cNvSpPr txBox="1"/>
          <p:nvPr/>
        </p:nvSpPr>
        <p:spPr>
          <a:xfrm>
            <a:off x="4754880" y="822960"/>
            <a:ext cx="41148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500" b="1" i="0" u="none" strike="noStrike" cap="none">
                <a:solidFill>
                  <a:srgbClr val="006600"/>
                </a:solidFill>
                <a:latin typeface="Calibri"/>
                <a:ea typeface="Calibri"/>
                <a:cs typeface="Calibri"/>
                <a:sym typeface="Calibri"/>
              </a:rPr>
              <a:t>PHASE 1 SPRINT (6-9 MONTHS)</a:t>
            </a:r>
            <a:endParaRPr/>
          </a:p>
        </p:txBody>
      </p:sp>
      <p:sp>
        <p:nvSpPr>
          <p:cNvPr id="115" name="Google Shape;115;p21"/>
          <p:cNvSpPr txBox="1"/>
          <p:nvPr/>
        </p:nvSpPr>
        <p:spPr>
          <a:xfrm>
            <a:off x="4754880" y="1097280"/>
            <a:ext cx="4114800" cy="181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a:t>
            </a:r>
            <a:r>
              <a:rPr lang="en" b="1">
                <a:solidFill>
                  <a:schemeClr val="dk1"/>
                </a:solidFill>
                <a:latin typeface="Calibri"/>
                <a:ea typeface="Calibri"/>
                <a:cs typeface="Calibri"/>
                <a:sym typeface="Calibri"/>
              </a:rPr>
              <a:t>Primary Deliverable</a:t>
            </a:r>
            <a:r>
              <a:rPr lang="en">
                <a:solidFill>
                  <a:schemeClr val="dk1"/>
                </a:solidFill>
                <a:latin typeface="Calibri"/>
                <a:ea typeface="Calibri"/>
                <a:cs typeface="Calibri"/>
                <a:sym typeface="Calibri"/>
              </a:rPr>
              <a:t>: Three LLM-based Cyberagents for   Hardware Health, Task Performance, and Configuration Analysis.</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a:t>
            </a:r>
            <a:r>
              <a:rPr lang="en" sz="1400" b="1" i="0" u="none" strike="noStrike" cap="none">
                <a:solidFill>
                  <a:schemeClr val="dk1"/>
                </a:solidFill>
                <a:latin typeface="Calibri"/>
                <a:ea typeface="Calibri"/>
                <a:cs typeface="Calibri"/>
                <a:sym typeface="Calibri"/>
              </a:rPr>
              <a:t>Technical Goal</a:t>
            </a:r>
            <a:r>
              <a:rPr lang="en" sz="1400" b="0" i="0" u="none" strike="noStrike" cap="none">
                <a:solidFill>
                  <a:schemeClr val="dk1"/>
                </a:solidFill>
                <a:latin typeface="Calibri"/>
                <a:ea typeface="Calibri"/>
                <a:cs typeface="Calibri"/>
                <a:sym typeface="Calibri"/>
              </a:rPr>
              <a:t>:</a:t>
            </a:r>
            <a:r>
              <a:rPr lang="en">
                <a:solidFill>
                  <a:schemeClr val="dk1"/>
                </a:solidFill>
                <a:latin typeface="Calibri"/>
                <a:ea typeface="Calibri"/>
                <a:cs typeface="Calibri"/>
                <a:sym typeface="Calibri"/>
              </a:rPr>
              <a:t> Detect infrastructure, software and hardware issues 24-48 hours before traditional monitoring.</a:t>
            </a:r>
            <a:br>
              <a:rPr lang="en" sz="1400" b="0" i="0" u="none" strike="noStrike" cap="none">
                <a:solidFill>
                  <a:schemeClr val="dk1"/>
                </a:solidFill>
                <a:latin typeface="Calibri"/>
                <a:ea typeface="Calibri"/>
                <a:cs typeface="Calibri"/>
                <a:sym typeface="Calibri"/>
              </a:rPr>
            </a:br>
            <a:r>
              <a:rPr lang="en" sz="1400" b="0" i="0" u="none" strike="noStrike" cap="none">
                <a:solidFill>
                  <a:schemeClr val="dk1"/>
                </a:solidFill>
                <a:latin typeface="Calibri"/>
                <a:ea typeface="Calibri"/>
                <a:cs typeface="Calibri"/>
                <a:sym typeface="Calibri"/>
              </a:rPr>
              <a:t>• </a:t>
            </a:r>
            <a:r>
              <a:rPr lang="en" sz="1400" b="1" i="0" u="none" strike="noStrike" cap="none">
                <a:solidFill>
                  <a:schemeClr val="dk1"/>
                </a:solidFill>
                <a:latin typeface="Calibri"/>
                <a:ea typeface="Calibri"/>
                <a:cs typeface="Calibri"/>
                <a:sym typeface="Calibri"/>
              </a:rPr>
              <a:t>KPI</a:t>
            </a:r>
            <a:r>
              <a:rPr lang="en" sz="1400" b="0" i="0" u="none" strike="noStrike" cap="none">
                <a:solidFill>
                  <a:schemeClr val="dk1"/>
                </a:solidFill>
                <a:latin typeface="Calibri"/>
                <a:ea typeface="Calibri"/>
                <a:cs typeface="Calibri"/>
                <a:sym typeface="Calibri"/>
              </a:rPr>
              <a:t>: </a:t>
            </a:r>
            <a:r>
              <a:rPr lang="en">
                <a:solidFill>
                  <a:schemeClr val="dk1"/>
                </a:solidFill>
                <a:latin typeface="Calibri"/>
                <a:ea typeface="Calibri"/>
                <a:cs typeface="Calibri"/>
                <a:sym typeface="Calibri"/>
              </a:rPr>
              <a:t>4</a:t>
            </a:r>
            <a:r>
              <a:rPr lang="en" sz="1400" b="0" i="0" u="none" strike="noStrike" cap="none">
                <a:solidFill>
                  <a:schemeClr val="dk1"/>
                </a:solidFill>
                <a:latin typeface="Calibri"/>
                <a:ea typeface="Calibri"/>
                <a:cs typeface="Calibri"/>
                <a:sym typeface="Calibri"/>
              </a:rPr>
              <a:t>0% reduction in</a:t>
            </a:r>
            <a:r>
              <a:rPr lang="en">
                <a:solidFill>
                  <a:schemeClr val="dk1"/>
                </a:solidFill>
                <a:latin typeface="Calibri"/>
                <a:ea typeface="Calibri"/>
                <a:cs typeface="Calibri"/>
                <a:sym typeface="Calibri"/>
              </a:rPr>
              <a:t> unplanned downtime, 24h early warning lead time, &lt;15% false positive rate</a:t>
            </a:r>
            <a:r>
              <a:rPr lang="en" sz="1400" b="0" i="0" u="none" strike="noStrike" cap="none">
                <a:solidFill>
                  <a:schemeClr val="dk1"/>
                </a:solidFill>
                <a:latin typeface="Calibri"/>
                <a:ea typeface="Calibri"/>
                <a:cs typeface="Calibri"/>
                <a:sym typeface="Calibri"/>
              </a:rPr>
              <a:t>.</a:t>
            </a:r>
            <a:endParaRPr/>
          </a:p>
        </p:txBody>
      </p:sp>
      <p:sp>
        <p:nvSpPr>
          <p:cNvPr id="116" name="Google Shape;116;p21"/>
          <p:cNvSpPr txBox="1"/>
          <p:nvPr/>
        </p:nvSpPr>
        <p:spPr>
          <a:xfrm>
            <a:off x="274345" y="3344580"/>
            <a:ext cx="8595300" cy="292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300" b="1">
                <a:solidFill>
                  <a:schemeClr val="dk1"/>
                </a:solidFill>
                <a:latin typeface="Calibri"/>
                <a:ea typeface="Calibri"/>
                <a:cs typeface="Calibri"/>
                <a:sym typeface="Calibri"/>
              </a:rPr>
              <a:t>THE CYBERAGENT INFRASTRUCTURE ASSURANCE LOOP</a:t>
            </a:r>
            <a:endParaRPr/>
          </a:p>
        </p:txBody>
      </p:sp>
      <p:grpSp>
        <p:nvGrpSpPr>
          <p:cNvPr id="117" name="Google Shape;117;p21"/>
          <p:cNvGrpSpPr/>
          <p:nvPr/>
        </p:nvGrpSpPr>
        <p:grpSpPr>
          <a:xfrm>
            <a:off x="459388" y="3669304"/>
            <a:ext cx="8046659" cy="548700"/>
            <a:chOff x="457200" y="2811779"/>
            <a:chExt cx="8046659" cy="548700"/>
          </a:xfrm>
        </p:grpSpPr>
        <p:sp>
          <p:nvSpPr>
            <p:cNvPr id="118" name="Google Shape;118;p21"/>
            <p:cNvSpPr/>
            <p:nvPr/>
          </p:nvSpPr>
          <p:spPr>
            <a:xfrm>
              <a:off x="457200" y="2811779"/>
              <a:ext cx="1737300" cy="548700"/>
            </a:xfrm>
            <a:prstGeom prst="roundRect">
              <a:avLst>
                <a:gd name="adj" fmla="val 16667"/>
              </a:avLst>
            </a:prstGeom>
            <a:solidFill>
              <a:srgbClr val="EBF1DE"/>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Font typeface="Arial"/>
                <a:buNone/>
              </a:pPr>
              <a:r>
                <a:rPr lang="en" sz="1200" b="1">
                  <a:latin typeface="Calibri"/>
                  <a:ea typeface="Calibri"/>
                  <a:cs typeface="Calibri"/>
                  <a:sym typeface="Calibri"/>
                </a:rPr>
                <a:t>1. INGEST Metrics/Logs/Task Sensors</a:t>
              </a:r>
              <a:endParaRPr/>
            </a:p>
          </p:txBody>
        </p:sp>
        <p:sp>
          <p:nvSpPr>
            <p:cNvPr id="119" name="Google Shape;119;p21"/>
            <p:cNvSpPr/>
            <p:nvPr/>
          </p:nvSpPr>
          <p:spPr>
            <a:xfrm>
              <a:off x="2286000" y="2983229"/>
              <a:ext cx="274200" cy="205800"/>
            </a:xfrm>
            <a:prstGeom prst="rightArrow">
              <a:avLst>
                <a:gd name="adj1" fmla="val 50000"/>
                <a:gd name="adj2" fmla="val 50000"/>
              </a:avLst>
            </a:prstGeom>
            <a:solidFill>
              <a:srgbClr val="646464"/>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21"/>
            <p:cNvSpPr/>
            <p:nvPr/>
          </p:nvSpPr>
          <p:spPr>
            <a:xfrm>
              <a:off x="2560320" y="2811779"/>
              <a:ext cx="1737300" cy="548700"/>
            </a:xfrm>
            <a:prstGeom prst="roundRect">
              <a:avLst>
                <a:gd name="adj" fmla="val 16667"/>
              </a:avLst>
            </a:prstGeom>
            <a:solidFill>
              <a:srgbClr val="DAEEF3"/>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a:latin typeface="Calibri"/>
                  <a:ea typeface="Calibri"/>
                  <a:cs typeface="Calibri"/>
                  <a:sym typeface="Calibri"/>
                </a:rPr>
                <a:t>2. ANALYZE </a:t>
              </a:r>
              <a:endParaRPr sz="1200" b="1">
                <a:latin typeface="Calibri"/>
                <a:ea typeface="Calibri"/>
                <a:cs typeface="Calibri"/>
                <a:sym typeface="Calibri"/>
              </a:endParaRPr>
            </a:p>
            <a:p>
              <a:pPr marL="0" marR="0" lvl="0" indent="0" algn="ctr" rtl="0">
                <a:spcBef>
                  <a:spcPts val="0"/>
                </a:spcBef>
                <a:spcAft>
                  <a:spcPts val="0"/>
                </a:spcAft>
                <a:buNone/>
              </a:pPr>
              <a:r>
                <a:rPr lang="en" sz="1200" b="1">
                  <a:latin typeface="Calibri"/>
                  <a:ea typeface="Calibri"/>
                  <a:cs typeface="Calibri"/>
                  <a:sym typeface="Calibri"/>
                </a:rPr>
                <a:t>LLM Correlation &amp; Pattern Recognition</a:t>
              </a:r>
              <a:endParaRPr/>
            </a:p>
          </p:txBody>
        </p:sp>
        <p:sp>
          <p:nvSpPr>
            <p:cNvPr id="121" name="Google Shape;121;p21"/>
            <p:cNvSpPr/>
            <p:nvPr/>
          </p:nvSpPr>
          <p:spPr>
            <a:xfrm>
              <a:off x="4389119" y="2983229"/>
              <a:ext cx="274200" cy="205800"/>
            </a:xfrm>
            <a:prstGeom prst="rightArrow">
              <a:avLst>
                <a:gd name="adj1" fmla="val 50000"/>
                <a:gd name="adj2" fmla="val 50000"/>
              </a:avLst>
            </a:prstGeom>
            <a:solidFill>
              <a:srgbClr val="646464"/>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2" name="Google Shape;122;p21"/>
            <p:cNvSpPr/>
            <p:nvPr/>
          </p:nvSpPr>
          <p:spPr>
            <a:xfrm>
              <a:off x="4663440" y="2811779"/>
              <a:ext cx="1737300" cy="548700"/>
            </a:xfrm>
            <a:prstGeom prst="roundRect">
              <a:avLst>
                <a:gd name="adj" fmla="val 16667"/>
              </a:avLst>
            </a:prstGeom>
            <a:solidFill>
              <a:srgbClr val="EBF1DE"/>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a:latin typeface="Calibri"/>
                  <a:ea typeface="Calibri"/>
                  <a:cs typeface="Calibri"/>
                  <a:sym typeface="Calibri"/>
                </a:rPr>
                <a:t>3. RECOMMEND  Action Suggestions &amp; Tuning Options</a:t>
              </a:r>
              <a:endParaRPr/>
            </a:p>
          </p:txBody>
        </p:sp>
        <p:sp>
          <p:nvSpPr>
            <p:cNvPr id="123" name="Google Shape;123;p21"/>
            <p:cNvSpPr/>
            <p:nvPr/>
          </p:nvSpPr>
          <p:spPr>
            <a:xfrm>
              <a:off x="6492240" y="2983229"/>
              <a:ext cx="274200" cy="205800"/>
            </a:xfrm>
            <a:prstGeom prst="rightArrow">
              <a:avLst>
                <a:gd name="adj1" fmla="val 50000"/>
                <a:gd name="adj2" fmla="val 50000"/>
              </a:avLst>
            </a:prstGeom>
            <a:solidFill>
              <a:srgbClr val="646464"/>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21"/>
            <p:cNvSpPr/>
            <p:nvPr/>
          </p:nvSpPr>
          <p:spPr>
            <a:xfrm>
              <a:off x="6766559" y="2811779"/>
              <a:ext cx="1737300" cy="548700"/>
            </a:xfrm>
            <a:prstGeom prst="roundRect">
              <a:avLst>
                <a:gd name="adj" fmla="val 16667"/>
              </a:avLst>
            </a:prstGeom>
            <a:solidFill>
              <a:srgbClr val="DAEEF3"/>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a:latin typeface="Calibri"/>
                  <a:ea typeface="Calibri"/>
                  <a:cs typeface="Calibri"/>
                  <a:sym typeface="Calibri"/>
                </a:rPr>
                <a:t>4. VALIDATE Human-in-the-Loop Feedback &amp; Approval</a:t>
              </a:r>
              <a:endParaRPr/>
            </a:p>
          </p:txBody>
        </p:sp>
      </p:grpSp>
      <p:sp>
        <p:nvSpPr>
          <p:cNvPr id="125" name="Google Shape;125;p21"/>
          <p:cNvSpPr txBox="1"/>
          <p:nvPr/>
        </p:nvSpPr>
        <p:spPr>
          <a:xfrm>
            <a:off x="337650" y="4307700"/>
            <a:ext cx="7997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Team: U. Michigan, U. Chicago, BNL, AmSC/ModCon (AI resources). Connect to AGLT2, MWT2, BNL operations.</a:t>
            </a:r>
            <a:endParaRPr sz="1200">
              <a:solidFill>
                <a:schemeClr val="dk2"/>
              </a:solidFill>
            </a:endParaRPr>
          </a:p>
        </p:txBody>
      </p:sp>
      <p:sp>
        <p:nvSpPr>
          <p:cNvPr id="126" name="Google Shape;126;p21"/>
          <p:cNvSpPr txBox="1"/>
          <p:nvPr/>
        </p:nvSpPr>
        <p:spPr>
          <a:xfrm>
            <a:off x="5938300" y="2944375"/>
            <a:ext cx="3205800" cy="400200"/>
          </a:xfrm>
          <a:prstGeom prst="rect">
            <a:avLst/>
          </a:prstGeom>
          <a:solidFill>
            <a:srgbClr val="00FF00"/>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Shawn McKee, smckee@umich.edu</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p:nvPr/>
        </p:nvSpPr>
        <p:spPr>
          <a:xfrm>
            <a:off x="274345" y="55235"/>
            <a:ext cx="8595300" cy="738900"/>
          </a:xfrm>
          <a:prstGeom prst="rect">
            <a:avLst/>
          </a:prstGeom>
          <a:solidFill>
            <a:srgbClr val="EBF1DE"/>
          </a:solidFill>
          <a:ln>
            <a:noFill/>
          </a:ln>
        </p:spPr>
        <p:txBody>
          <a:bodyPr spcFirstLastPara="1" wrap="square" lIns="91425" tIns="45700" rIns="91425" bIns="45700" anchor="t" anchorCtr="0">
            <a:spAutoFit/>
          </a:bodyPr>
          <a:lstStyle/>
          <a:p>
            <a:pPr marL="0" lvl="0" indent="0" algn="l" rtl="0">
              <a:spcBef>
                <a:spcPts val="0"/>
              </a:spcBef>
              <a:spcAft>
                <a:spcPts val="0"/>
              </a:spcAft>
              <a:buSzPts val="1100"/>
              <a:buNone/>
            </a:pPr>
            <a:r>
              <a:rPr lang="en" b="1">
                <a:solidFill>
                  <a:srgbClr val="003366"/>
                </a:solidFill>
                <a:latin typeface="Calibri"/>
                <a:ea typeface="Calibri"/>
                <a:cs typeface="Calibri"/>
                <a:sym typeface="Calibri"/>
              </a:rPr>
              <a:t>Project GUARDIAN: Generative AI-based Unified Response and Decision Intelligence for Advanced Networks,</a:t>
            </a:r>
            <a:endParaRPr b="1">
              <a:solidFill>
                <a:srgbClr val="003366"/>
              </a:solidFill>
              <a:latin typeface="Calibri"/>
              <a:ea typeface="Calibri"/>
              <a:cs typeface="Calibri"/>
              <a:sym typeface="Calibri"/>
            </a:endParaRPr>
          </a:p>
          <a:p>
            <a:pPr marL="0" lvl="0" indent="0" algn="l" rtl="0">
              <a:spcBef>
                <a:spcPts val="0"/>
              </a:spcBef>
              <a:spcAft>
                <a:spcPts val="0"/>
              </a:spcAft>
              <a:buSzPts val="1100"/>
              <a:buNone/>
            </a:pPr>
            <a:r>
              <a:rPr lang="en" b="1">
                <a:solidFill>
                  <a:srgbClr val="003366"/>
                </a:solidFill>
                <a:latin typeface="Calibri"/>
                <a:ea typeface="Calibri"/>
                <a:cs typeface="Calibri"/>
                <a:sym typeface="Calibri"/>
              </a:rPr>
              <a:t>AI Security Orchestrator for Scientific Infrastructure</a:t>
            </a:r>
            <a:endParaRPr b="1">
              <a:solidFill>
                <a:srgbClr val="003366"/>
              </a:solidFill>
              <a:latin typeface="Calibri"/>
              <a:ea typeface="Calibri"/>
              <a:cs typeface="Calibri"/>
              <a:sym typeface="Calibri"/>
            </a:endParaRPr>
          </a:p>
          <a:p>
            <a:pPr marL="0" marR="0" lvl="0" indent="0" algn="l" rtl="0">
              <a:spcBef>
                <a:spcPts val="0"/>
              </a:spcBef>
              <a:spcAft>
                <a:spcPts val="0"/>
              </a:spcAft>
              <a:buNone/>
            </a:pPr>
            <a:endParaRPr b="1">
              <a:solidFill>
                <a:srgbClr val="003366"/>
              </a:solidFill>
              <a:latin typeface="Calibri"/>
              <a:ea typeface="Calibri"/>
              <a:cs typeface="Calibri"/>
              <a:sym typeface="Calibri"/>
            </a:endParaRPr>
          </a:p>
        </p:txBody>
      </p:sp>
      <p:sp>
        <p:nvSpPr>
          <p:cNvPr id="132" name="Google Shape;132;p22"/>
          <p:cNvSpPr txBox="1"/>
          <p:nvPr/>
        </p:nvSpPr>
        <p:spPr>
          <a:xfrm>
            <a:off x="274345" y="578423"/>
            <a:ext cx="8595300" cy="276900"/>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200" b="1">
                <a:solidFill>
                  <a:schemeClr val="dk1"/>
                </a:solidFill>
                <a:latin typeface="Calibri"/>
                <a:ea typeface="Calibri"/>
                <a:cs typeface="Calibri"/>
                <a:sym typeface="Calibri"/>
              </a:rPr>
              <a:t>Genesis FY26 Phase 1 | Topic 20 (Cybersecurity for AI-driven Science Workflows) | Focus Area 20A (AI for Adversarial Robustness)</a:t>
            </a:r>
            <a:endParaRPr sz="1300"/>
          </a:p>
        </p:txBody>
      </p:sp>
      <p:sp>
        <p:nvSpPr>
          <p:cNvPr id="133" name="Google Shape;133;p22"/>
          <p:cNvSpPr txBox="1"/>
          <p:nvPr/>
        </p:nvSpPr>
        <p:spPr>
          <a:xfrm>
            <a:off x="274320" y="822960"/>
            <a:ext cx="41148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500" b="1" i="0" u="none" strike="noStrike" cap="none">
                <a:solidFill>
                  <a:srgbClr val="990000"/>
                </a:solidFill>
                <a:latin typeface="Calibri"/>
                <a:ea typeface="Calibri"/>
                <a:cs typeface="Calibri"/>
                <a:sym typeface="Calibri"/>
              </a:rPr>
              <a:t>SCIENTIFIC VISION &amp; AI ADVANTAGE</a:t>
            </a:r>
            <a:endParaRPr/>
          </a:p>
        </p:txBody>
      </p:sp>
      <p:sp>
        <p:nvSpPr>
          <p:cNvPr id="134" name="Google Shape;134;p22"/>
          <p:cNvSpPr txBox="1"/>
          <p:nvPr/>
        </p:nvSpPr>
        <p:spPr>
          <a:xfrm>
            <a:off x="250550" y="1097275"/>
            <a:ext cx="4536300" cy="2154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a:solidFill>
                  <a:schemeClr val="dk1"/>
                </a:solidFill>
                <a:latin typeface="Calibri"/>
                <a:ea typeface="Calibri"/>
                <a:cs typeface="Calibri"/>
                <a:sym typeface="Calibri"/>
              </a:rPr>
              <a:t>•</a:t>
            </a:r>
            <a:r>
              <a:rPr lang="en" sz="1300">
                <a:solidFill>
                  <a:schemeClr val="dk1"/>
                </a:solidFill>
                <a:latin typeface="Calibri"/>
                <a:ea typeface="Calibri"/>
                <a:cs typeface="Calibri"/>
                <a:sym typeface="Calibri"/>
              </a:rPr>
              <a:t> </a:t>
            </a:r>
            <a:r>
              <a:rPr lang="en" sz="1200" b="1">
                <a:solidFill>
                  <a:schemeClr val="dk1"/>
                </a:solidFill>
                <a:latin typeface="Calibri"/>
                <a:ea typeface="Calibri"/>
                <a:cs typeface="Calibri"/>
                <a:sym typeface="Calibri"/>
              </a:rPr>
              <a:t>Problem</a:t>
            </a:r>
            <a:r>
              <a:rPr lang="en" sz="1200">
                <a:solidFill>
                  <a:schemeClr val="dk1"/>
                </a:solidFill>
                <a:latin typeface="Calibri"/>
                <a:ea typeface="Calibri"/>
                <a:cs typeface="Calibri"/>
                <a:sym typeface="Calibri"/>
              </a:rPr>
              <a:t>:  Scientific infrastructures typically have minimal focus and tooling for security, putting science at risk; implementing standard Security Operations Centers (SOCs) is recommended.</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 sz="1200">
                <a:solidFill>
                  <a:schemeClr val="dk1"/>
                </a:solidFill>
                <a:latin typeface="Calibri"/>
                <a:ea typeface="Calibri"/>
                <a:cs typeface="Calibri"/>
                <a:sym typeface="Calibri"/>
              </a:rPr>
              <a:t>• </a:t>
            </a:r>
            <a:r>
              <a:rPr lang="en" sz="1200" b="1">
                <a:solidFill>
                  <a:schemeClr val="dk1"/>
                </a:solidFill>
                <a:latin typeface="Calibri"/>
                <a:ea typeface="Calibri"/>
                <a:cs typeface="Calibri"/>
                <a:sym typeface="Calibri"/>
              </a:rPr>
              <a:t>However: </a:t>
            </a:r>
            <a:r>
              <a:rPr lang="en" sz="1200">
                <a:solidFill>
                  <a:schemeClr val="dk1"/>
                </a:solidFill>
                <a:latin typeface="Calibri"/>
                <a:ea typeface="Calibri"/>
                <a:cs typeface="Calibri"/>
                <a:sym typeface="Calibri"/>
              </a:rPr>
              <a:t>SOC-analysts drown in alerts (&gt;95% false positives) from rule-based systems, missing subtle multi-stage attacks and taking 30+ minutes to generate incident reports manually.</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 sz="1200">
                <a:solidFill>
                  <a:schemeClr val="dk1"/>
                </a:solidFill>
                <a:latin typeface="Calibri"/>
                <a:ea typeface="Calibri"/>
                <a:cs typeface="Calibri"/>
                <a:sym typeface="Calibri"/>
              </a:rPr>
              <a:t>• </a:t>
            </a:r>
            <a:r>
              <a:rPr lang="en" sz="1200" b="1">
                <a:solidFill>
                  <a:schemeClr val="dk1"/>
                </a:solidFill>
                <a:latin typeface="Calibri"/>
                <a:ea typeface="Calibri"/>
                <a:cs typeface="Calibri"/>
                <a:sym typeface="Calibri"/>
              </a:rPr>
              <a:t>AI Advantage</a:t>
            </a:r>
            <a:r>
              <a:rPr lang="en" sz="1200">
                <a:solidFill>
                  <a:schemeClr val="dk1"/>
                </a:solidFill>
                <a:latin typeface="Calibri"/>
                <a:ea typeface="Calibri"/>
                <a:cs typeface="Calibri"/>
                <a:sym typeface="Calibri"/>
              </a:rPr>
              <a:t>: GUARDIAN uses LLMs to intelligently correlate events across network, threat intel and system telemetry, distinguishing legitimate workflows and transfers from malicious ones.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 sz="1200">
                <a:solidFill>
                  <a:schemeClr val="dk1"/>
                </a:solidFill>
                <a:latin typeface="Calibri"/>
                <a:ea typeface="Calibri"/>
                <a:cs typeface="Calibri"/>
                <a:sym typeface="Calibri"/>
              </a:rPr>
              <a:t>• </a:t>
            </a:r>
            <a:r>
              <a:rPr lang="en" sz="1200" b="1">
                <a:solidFill>
                  <a:schemeClr val="dk1"/>
                </a:solidFill>
                <a:latin typeface="Calibri"/>
                <a:ea typeface="Calibri"/>
                <a:cs typeface="Calibri"/>
                <a:sym typeface="Calibri"/>
              </a:rPr>
              <a:t>Goal: </a:t>
            </a:r>
            <a:r>
              <a:rPr lang="en" sz="1200">
                <a:solidFill>
                  <a:schemeClr val="dk1"/>
                </a:solidFill>
                <a:latin typeface="Calibri"/>
                <a:ea typeface="Calibri"/>
                <a:cs typeface="Calibri"/>
                <a:sym typeface="Calibri"/>
              </a:rPr>
              <a:t>Enabling rapid security mitigation with context aware input to prevent science workflow interruptions and resource compromises. </a:t>
            </a:r>
            <a:endParaRPr sz="1200">
              <a:solidFill>
                <a:schemeClr val="dk1"/>
              </a:solidFill>
              <a:latin typeface="Calibri"/>
              <a:ea typeface="Calibri"/>
              <a:cs typeface="Calibri"/>
              <a:sym typeface="Calibri"/>
            </a:endParaRPr>
          </a:p>
        </p:txBody>
      </p:sp>
      <p:sp>
        <p:nvSpPr>
          <p:cNvPr id="135" name="Google Shape;135;p22"/>
          <p:cNvSpPr txBox="1"/>
          <p:nvPr/>
        </p:nvSpPr>
        <p:spPr>
          <a:xfrm>
            <a:off x="4754880" y="822960"/>
            <a:ext cx="41148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500" b="1" i="0" u="none" strike="noStrike" cap="none">
                <a:solidFill>
                  <a:srgbClr val="006600"/>
                </a:solidFill>
                <a:latin typeface="Calibri"/>
                <a:ea typeface="Calibri"/>
                <a:cs typeface="Calibri"/>
                <a:sym typeface="Calibri"/>
              </a:rPr>
              <a:t>PHASE 1 SPRINT (6-9 MONTHS)</a:t>
            </a:r>
            <a:endParaRPr/>
          </a:p>
        </p:txBody>
      </p:sp>
      <p:sp>
        <p:nvSpPr>
          <p:cNvPr id="136" name="Google Shape;136;p22"/>
          <p:cNvSpPr txBox="1"/>
          <p:nvPr/>
        </p:nvSpPr>
        <p:spPr>
          <a:xfrm>
            <a:off x="4754875" y="1097276"/>
            <a:ext cx="4114800" cy="181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a:t>
            </a:r>
            <a:r>
              <a:rPr lang="en" b="1">
                <a:solidFill>
                  <a:schemeClr val="dk1"/>
                </a:solidFill>
                <a:latin typeface="Calibri"/>
                <a:ea typeface="Calibri"/>
                <a:cs typeface="Calibri"/>
                <a:sym typeface="Calibri"/>
              </a:rPr>
              <a:t>Primary Deliverable</a:t>
            </a:r>
            <a:r>
              <a:rPr lang="en">
                <a:solidFill>
                  <a:schemeClr val="dk1"/>
                </a:solidFill>
                <a:latin typeface="Calibri"/>
                <a:ea typeface="Calibri"/>
                <a:cs typeface="Calibri"/>
                <a:sym typeface="Calibri"/>
              </a:rPr>
              <a:t>: LLM-enhance Security Orchestrator that correlates security telemetry across heterogeneous sources(Zeek, MISP, net flows, metrics)</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a:t>
            </a:r>
            <a:r>
              <a:rPr lang="en" sz="1400" b="1" i="0" u="none" strike="noStrike" cap="none">
                <a:solidFill>
                  <a:schemeClr val="dk1"/>
                </a:solidFill>
                <a:latin typeface="Calibri"/>
                <a:ea typeface="Calibri"/>
                <a:cs typeface="Calibri"/>
                <a:sym typeface="Calibri"/>
              </a:rPr>
              <a:t>Technical Goal</a:t>
            </a:r>
            <a:r>
              <a:rPr lang="en" sz="1400" b="0" i="0" u="none" strike="noStrike" cap="none">
                <a:solidFill>
                  <a:schemeClr val="dk1"/>
                </a:solidFill>
                <a:latin typeface="Calibri"/>
                <a:ea typeface="Calibri"/>
                <a:cs typeface="Calibri"/>
                <a:sym typeface="Calibri"/>
              </a:rPr>
              <a:t>:</a:t>
            </a:r>
            <a:r>
              <a:rPr lang="en">
                <a:solidFill>
                  <a:schemeClr val="dk1"/>
                </a:solidFill>
                <a:latin typeface="Calibri"/>
                <a:ea typeface="Calibri"/>
                <a:cs typeface="Calibri"/>
                <a:sym typeface="Calibri"/>
              </a:rPr>
              <a:t> Identify a wide range of threats while reducing false positive rate by &gt;50% and automating incident reports &lt;10 minutes.</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a:t>
            </a:r>
            <a:r>
              <a:rPr lang="en" sz="1400" b="1" i="0" u="none" strike="noStrike" cap="none">
                <a:solidFill>
                  <a:schemeClr val="dk1"/>
                </a:solidFill>
                <a:latin typeface="Calibri"/>
                <a:ea typeface="Calibri"/>
                <a:cs typeface="Calibri"/>
                <a:sym typeface="Calibri"/>
              </a:rPr>
              <a:t>KPI</a:t>
            </a:r>
            <a:r>
              <a:rPr lang="en" sz="1400" b="0" i="0" u="none" strike="noStrike" cap="none">
                <a:solidFill>
                  <a:schemeClr val="dk1"/>
                </a:solidFill>
                <a:latin typeface="Calibri"/>
                <a:ea typeface="Calibri"/>
                <a:cs typeface="Calibri"/>
                <a:sym typeface="Calibri"/>
              </a:rPr>
              <a:t>: </a:t>
            </a:r>
            <a:r>
              <a:rPr lang="en">
                <a:solidFill>
                  <a:schemeClr val="dk1"/>
                </a:solidFill>
                <a:latin typeface="Calibri"/>
                <a:ea typeface="Calibri"/>
                <a:cs typeface="Calibri"/>
                <a:sym typeface="Calibri"/>
              </a:rPr>
              <a:t>&gt;50% false positive reduction, &lt;10 minute incident report generation, &gt;80% analyst accept rate.</a:t>
            </a:r>
            <a:endParaRPr>
              <a:solidFill>
                <a:schemeClr val="dk1"/>
              </a:solidFill>
              <a:latin typeface="Calibri"/>
              <a:ea typeface="Calibri"/>
              <a:cs typeface="Calibri"/>
              <a:sym typeface="Calibri"/>
            </a:endParaRPr>
          </a:p>
        </p:txBody>
      </p:sp>
      <p:sp>
        <p:nvSpPr>
          <p:cNvPr id="137" name="Google Shape;137;p22"/>
          <p:cNvSpPr txBox="1"/>
          <p:nvPr/>
        </p:nvSpPr>
        <p:spPr>
          <a:xfrm>
            <a:off x="274345" y="3344580"/>
            <a:ext cx="8595300" cy="292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300" b="1">
                <a:solidFill>
                  <a:schemeClr val="dk1"/>
                </a:solidFill>
                <a:latin typeface="Calibri"/>
                <a:ea typeface="Calibri"/>
                <a:cs typeface="Calibri"/>
                <a:sym typeface="Calibri"/>
              </a:rPr>
              <a:t>THE AI SECURITY ORCHESTRATION LOOP (AUTONOMOUS ANALYSIS)</a:t>
            </a:r>
            <a:endParaRPr/>
          </a:p>
        </p:txBody>
      </p:sp>
      <p:grpSp>
        <p:nvGrpSpPr>
          <p:cNvPr id="138" name="Google Shape;138;p22"/>
          <p:cNvGrpSpPr/>
          <p:nvPr/>
        </p:nvGrpSpPr>
        <p:grpSpPr>
          <a:xfrm>
            <a:off x="459388" y="3669304"/>
            <a:ext cx="8046659" cy="548700"/>
            <a:chOff x="457200" y="2811779"/>
            <a:chExt cx="8046659" cy="548700"/>
          </a:xfrm>
        </p:grpSpPr>
        <p:sp>
          <p:nvSpPr>
            <p:cNvPr id="139" name="Google Shape;139;p22"/>
            <p:cNvSpPr/>
            <p:nvPr/>
          </p:nvSpPr>
          <p:spPr>
            <a:xfrm>
              <a:off x="457200" y="2811779"/>
              <a:ext cx="1737300" cy="548700"/>
            </a:xfrm>
            <a:prstGeom prst="roundRect">
              <a:avLst>
                <a:gd name="adj" fmla="val 16667"/>
              </a:avLst>
            </a:prstGeom>
            <a:solidFill>
              <a:srgbClr val="EBF1DE"/>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a:latin typeface="Calibri"/>
                  <a:ea typeface="Calibri"/>
                  <a:cs typeface="Calibri"/>
                  <a:sym typeface="Calibri"/>
                </a:rPr>
                <a:t>1. GATHER Multi-source Telemetry</a:t>
              </a:r>
              <a:endParaRPr/>
            </a:p>
          </p:txBody>
        </p:sp>
        <p:sp>
          <p:nvSpPr>
            <p:cNvPr id="140" name="Google Shape;140;p22"/>
            <p:cNvSpPr/>
            <p:nvPr/>
          </p:nvSpPr>
          <p:spPr>
            <a:xfrm>
              <a:off x="2286000" y="2983229"/>
              <a:ext cx="274200" cy="205800"/>
            </a:xfrm>
            <a:prstGeom prst="rightArrow">
              <a:avLst>
                <a:gd name="adj1" fmla="val 50000"/>
                <a:gd name="adj2" fmla="val 50000"/>
              </a:avLst>
            </a:prstGeom>
            <a:solidFill>
              <a:srgbClr val="646464"/>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22"/>
            <p:cNvSpPr/>
            <p:nvPr/>
          </p:nvSpPr>
          <p:spPr>
            <a:xfrm>
              <a:off x="2560320" y="2811779"/>
              <a:ext cx="1737300" cy="548700"/>
            </a:xfrm>
            <a:prstGeom prst="roundRect">
              <a:avLst>
                <a:gd name="adj" fmla="val 16667"/>
              </a:avLst>
            </a:prstGeom>
            <a:solidFill>
              <a:srgbClr val="DAEEF3"/>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a:latin typeface="Calibri"/>
                  <a:ea typeface="Calibri"/>
                  <a:cs typeface="Calibri"/>
                  <a:sym typeface="Calibri"/>
                </a:rPr>
                <a:t>2. CORRELATE </a:t>
              </a:r>
              <a:endParaRPr sz="1200" b="1">
                <a:latin typeface="Calibri"/>
                <a:ea typeface="Calibri"/>
                <a:cs typeface="Calibri"/>
                <a:sym typeface="Calibri"/>
              </a:endParaRPr>
            </a:p>
            <a:p>
              <a:pPr marL="0" marR="0" lvl="0" indent="0" algn="ctr" rtl="0">
                <a:spcBef>
                  <a:spcPts val="0"/>
                </a:spcBef>
                <a:spcAft>
                  <a:spcPts val="0"/>
                </a:spcAft>
                <a:buNone/>
              </a:pPr>
              <a:r>
                <a:rPr lang="en" sz="1200" b="1">
                  <a:latin typeface="Calibri"/>
                  <a:ea typeface="Calibri"/>
                  <a:cs typeface="Calibri"/>
                  <a:sym typeface="Calibri"/>
                </a:rPr>
                <a:t>LLM Pattern Recognition</a:t>
              </a:r>
              <a:endParaRPr/>
            </a:p>
          </p:txBody>
        </p:sp>
        <p:sp>
          <p:nvSpPr>
            <p:cNvPr id="142" name="Google Shape;142;p22"/>
            <p:cNvSpPr/>
            <p:nvPr/>
          </p:nvSpPr>
          <p:spPr>
            <a:xfrm>
              <a:off x="4389119" y="2983229"/>
              <a:ext cx="274200" cy="205800"/>
            </a:xfrm>
            <a:prstGeom prst="rightArrow">
              <a:avLst>
                <a:gd name="adj1" fmla="val 50000"/>
                <a:gd name="adj2" fmla="val 50000"/>
              </a:avLst>
            </a:prstGeom>
            <a:solidFill>
              <a:srgbClr val="646464"/>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22"/>
            <p:cNvSpPr/>
            <p:nvPr/>
          </p:nvSpPr>
          <p:spPr>
            <a:xfrm>
              <a:off x="4663440" y="2811779"/>
              <a:ext cx="1737300" cy="548700"/>
            </a:xfrm>
            <a:prstGeom prst="roundRect">
              <a:avLst>
                <a:gd name="adj" fmla="val 16667"/>
              </a:avLst>
            </a:prstGeom>
            <a:solidFill>
              <a:srgbClr val="EBF1DE"/>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a:latin typeface="Calibri"/>
                  <a:ea typeface="Calibri"/>
                  <a:cs typeface="Calibri"/>
                  <a:sym typeface="Calibri"/>
                </a:rPr>
                <a:t>3. CLASSIFY </a:t>
              </a:r>
              <a:endParaRPr sz="1200" b="1">
                <a:latin typeface="Calibri"/>
                <a:ea typeface="Calibri"/>
                <a:cs typeface="Calibri"/>
                <a:sym typeface="Calibri"/>
              </a:endParaRPr>
            </a:p>
            <a:p>
              <a:pPr marL="0" marR="0" lvl="0" indent="0" algn="ctr" rtl="0">
                <a:spcBef>
                  <a:spcPts val="0"/>
                </a:spcBef>
                <a:spcAft>
                  <a:spcPts val="0"/>
                </a:spcAft>
                <a:buNone/>
              </a:pPr>
              <a:r>
                <a:rPr lang="en" sz="1200" b="1">
                  <a:latin typeface="Calibri"/>
                  <a:ea typeface="Calibri"/>
                  <a:cs typeface="Calibri"/>
                  <a:sym typeface="Calibri"/>
                </a:rPr>
                <a:t>Binary Classification Normal vs Malicious</a:t>
              </a:r>
              <a:endParaRPr/>
            </a:p>
          </p:txBody>
        </p:sp>
        <p:sp>
          <p:nvSpPr>
            <p:cNvPr id="144" name="Google Shape;144;p22"/>
            <p:cNvSpPr/>
            <p:nvPr/>
          </p:nvSpPr>
          <p:spPr>
            <a:xfrm>
              <a:off x="6492240" y="2983229"/>
              <a:ext cx="274200" cy="205800"/>
            </a:xfrm>
            <a:prstGeom prst="rightArrow">
              <a:avLst>
                <a:gd name="adj1" fmla="val 50000"/>
                <a:gd name="adj2" fmla="val 50000"/>
              </a:avLst>
            </a:prstGeom>
            <a:solidFill>
              <a:srgbClr val="646464"/>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5" name="Google Shape;145;p22"/>
            <p:cNvSpPr/>
            <p:nvPr/>
          </p:nvSpPr>
          <p:spPr>
            <a:xfrm>
              <a:off x="6766559" y="2811779"/>
              <a:ext cx="1737300" cy="548700"/>
            </a:xfrm>
            <a:prstGeom prst="roundRect">
              <a:avLst>
                <a:gd name="adj" fmla="val 16667"/>
              </a:avLst>
            </a:prstGeom>
            <a:solidFill>
              <a:srgbClr val="DAEEF3"/>
            </a:solidFill>
            <a:ln w="9525" cap="flat" cmpd="sng">
              <a:solidFill>
                <a:srgbClr val="80808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 sz="1200" b="1">
                  <a:latin typeface="Calibri"/>
                  <a:ea typeface="Calibri"/>
                  <a:cs typeface="Calibri"/>
                  <a:sym typeface="Calibri"/>
                </a:rPr>
                <a:t>4. REPORT  </a:t>
              </a:r>
              <a:endParaRPr sz="1200" b="1">
                <a:latin typeface="Calibri"/>
                <a:ea typeface="Calibri"/>
                <a:cs typeface="Calibri"/>
                <a:sym typeface="Calibri"/>
              </a:endParaRPr>
            </a:p>
            <a:p>
              <a:pPr marL="0" marR="0" lvl="0" indent="0" algn="ctr" rtl="0">
                <a:spcBef>
                  <a:spcPts val="0"/>
                </a:spcBef>
                <a:spcAft>
                  <a:spcPts val="0"/>
                </a:spcAft>
                <a:buNone/>
              </a:pPr>
              <a:r>
                <a:rPr lang="en" sz="1200" b="1">
                  <a:latin typeface="Calibri"/>
                  <a:ea typeface="Calibri"/>
                  <a:cs typeface="Calibri"/>
                  <a:sym typeface="Calibri"/>
                </a:rPr>
                <a:t>Automated Context Aware Incident Reports</a:t>
              </a:r>
              <a:endParaRPr/>
            </a:p>
          </p:txBody>
        </p:sp>
      </p:grpSp>
      <p:sp>
        <p:nvSpPr>
          <p:cNvPr id="146" name="Google Shape;146;p22"/>
          <p:cNvSpPr txBox="1"/>
          <p:nvPr/>
        </p:nvSpPr>
        <p:spPr>
          <a:xfrm>
            <a:off x="337650" y="4307700"/>
            <a:ext cx="79974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2"/>
                </a:solidFill>
              </a:rPr>
              <a:t>Team: U. Michigan, LBNL/ESnet, U. Chicago. Direct connection to WLCG SOC implementations at AGLT2 and MWT2.</a:t>
            </a:r>
            <a:endParaRPr sz="1100">
              <a:solidFill>
                <a:schemeClr val="dk2"/>
              </a:solidFill>
            </a:endParaRPr>
          </a:p>
        </p:txBody>
      </p:sp>
      <p:sp>
        <p:nvSpPr>
          <p:cNvPr id="147" name="Google Shape;147;p22"/>
          <p:cNvSpPr txBox="1"/>
          <p:nvPr/>
        </p:nvSpPr>
        <p:spPr>
          <a:xfrm>
            <a:off x="5938300" y="2944375"/>
            <a:ext cx="3205800" cy="400200"/>
          </a:xfrm>
          <a:prstGeom prst="rect">
            <a:avLst/>
          </a:prstGeom>
          <a:solidFill>
            <a:srgbClr val="00FF00"/>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Shawn McKee, smckee@umich.edu</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a:spLocks noGrp="1"/>
          </p:cNvSpPr>
          <p:nvPr>
            <p:ph type="title"/>
          </p:nvPr>
        </p:nvSpPr>
        <p:spPr>
          <a:xfrm>
            <a:off x="311700" y="120150"/>
            <a:ext cx="5391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Foundation Model for HEP(Viviana)</a:t>
            </a:r>
            <a:endParaRPr/>
          </a:p>
        </p:txBody>
      </p:sp>
      <p:sp>
        <p:nvSpPr>
          <p:cNvPr id="153" name="Google Shape;153;p23"/>
          <p:cNvSpPr txBox="1">
            <a:spLocks noGrp="1"/>
          </p:cNvSpPr>
          <p:nvPr>
            <p:ph type="body" idx="1"/>
          </p:nvPr>
        </p:nvSpPr>
        <p:spPr>
          <a:xfrm>
            <a:off x="2185475" y="1199174"/>
            <a:ext cx="3174600" cy="4629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 sz="7200">
                <a:latin typeface="Helvetica Neue"/>
                <a:ea typeface="Helvetica Neue"/>
                <a:cs typeface="Helvetica Neue"/>
                <a:sym typeface="Helvetica Neue"/>
              </a:rPr>
              <a:t>Treasure is currently here</a:t>
            </a:r>
            <a:endParaRPr sz="7200">
              <a:latin typeface="Helvetica Neue"/>
              <a:ea typeface="Helvetica Neue"/>
              <a:cs typeface="Helvetica Neue"/>
              <a:sym typeface="Helvetica Neue"/>
            </a:endParaRPr>
          </a:p>
          <a:p>
            <a:pPr marL="0" lvl="0" indent="0" algn="l" rtl="0">
              <a:spcBef>
                <a:spcPts val="1200"/>
              </a:spcBef>
              <a:spcAft>
                <a:spcPts val="1200"/>
              </a:spcAft>
              <a:buNone/>
            </a:pPr>
            <a:endParaRPr/>
          </a:p>
        </p:txBody>
      </p:sp>
      <p:pic>
        <p:nvPicPr>
          <p:cNvPr id="154" name="Google Shape;154;p23" title="Screenshot 2026-03-24 at 10.20.07 AM.png"/>
          <p:cNvPicPr preferRelativeResize="0"/>
          <p:nvPr/>
        </p:nvPicPr>
        <p:blipFill>
          <a:blip r:embed="rId3">
            <a:alphaModFix/>
          </a:blip>
          <a:stretch>
            <a:fillRect/>
          </a:stretch>
        </p:blipFill>
        <p:spPr>
          <a:xfrm>
            <a:off x="5637550" y="162400"/>
            <a:ext cx="3420623" cy="2664875"/>
          </a:xfrm>
          <a:prstGeom prst="rect">
            <a:avLst/>
          </a:prstGeom>
          <a:noFill/>
          <a:ln>
            <a:noFill/>
          </a:ln>
        </p:spPr>
      </p:pic>
      <p:cxnSp>
        <p:nvCxnSpPr>
          <p:cNvPr id="155" name="Google Shape;155;p23"/>
          <p:cNvCxnSpPr/>
          <p:nvPr/>
        </p:nvCxnSpPr>
        <p:spPr>
          <a:xfrm>
            <a:off x="4926925" y="1452825"/>
            <a:ext cx="1055700" cy="324900"/>
          </a:xfrm>
          <a:prstGeom prst="straightConnector1">
            <a:avLst/>
          </a:prstGeom>
          <a:noFill/>
          <a:ln w="9525" cap="flat" cmpd="sng">
            <a:solidFill>
              <a:schemeClr val="dk2"/>
            </a:solidFill>
            <a:prstDash val="solid"/>
            <a:round/>
            <a:headEnd type="none" w="med" len="med"/>
            <a:tailEnd type="triangle" w="med" len="med"/>
          </a:ln>
        </p:spPr>
      </p:cxnSp>
      <p:pic>
        <p:nvPicPr>
          <p:cNvPr id="156" name="Google Shape;156;p23" title="Screenshot 2026-02-09 at 12.53.44 PM.png"/>
          <p:cNvPicPr preferRelativeResize="0"/>
          <p:nvPr/>
        </p:nvPicPr>
        <p:blipFill>
          <a:blip r:embed="rId4">
            <a:alphaModFix/>
          </a:blip>
          <a:stretch>
            <a:fillRect/>
          </a:stretch>
        </p:blipFill>
        <p:spPr>
          <a:xfrm>
            <a:off x="0" y="1726300"/>
            <a:ext cx="5627873" cy="3204151"/>
          </a:xfrm>
          <a:prstGeom prst="rect">
            <a:avLst/>
          </a:prstGeom>
          <a:noFill/>
          <a:ln>
            <a:noFill/>
          </a:ln>
        </p:spPr>
      </p:pic>
      <p:pic>
        <p:nvPicPr>
          <p:cNvPr id="157" name="Google Shape;157;p23" title="Treasure_sticker.jpeg"/>
          <p:cNvPicPr preferRelativeResize="0"/>
          <p:nvPr/>
        </p:nvPicPr>
        <p:blipFill>
          <a:blip r:embed="rId5">
            <a:alphaModFix/>
          </a:blip>
          <a:stretch>
            <a:fillRect/>
          </a:stretch>
        </p:blipFill>
        <p:spPr>
          <a:xfrm>
            <a:off x="6402950" y="2827275"/>
            <a:ext cx="2052225" cy="2052225"/>
          </a:xfrm>
          <a:prstGeom prst="rect">
            <a:avLst/>
          </a:prstGeom>
          <a:noFill/>
          <a:ln>
            <a:noFill/>
          </a:ln>
        </p:spPr>
      </p:pic>
      <p:sp>
        <p:nvSpPr>
          <p:cNvPr id="158" name="Google Shape;158;p23"/>
          <p:cNvSpPr txBox="1"/>
          <p:nvPr/>
        </p:nvSpPr>
        <p:spPr>
          <a:xfrm>
            <a:off x="6578250" y="4791575"/>
            <a:ext cx="2202000" cy="22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Logo by L. Brost</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4"/>
          <p:cNvSpPr txBox="1">
            <a:spLocks noGrp="1"/>
          </p:cNvSpPr>
          <p:nvPr>
            <p:ph type="title"/>
          </p:nvPr>
        </p:nvSpPr>
        <p:spPr>
          <a:xfrm>
            <a:off x="311700" y="120150"/>
            <a:ext cx="5391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Foundation Model for HEP(Viviana)</a:t>
            </a:r>
            <a:endParaRPr/>
          </a:p>
        </p:txBody>
      </p:sp>
      <p:sp>
        <p:nvSpPr>
          <p:cNvPr id="164" name="Google Shape;164;p24"/>
          <p:cNvSpPr txBox="1">
            <a:spLocks noGrp="1"/>
          </p:cNvSpPr>
          <p:nvPr>
            <p:ph type="body" idx="1"/>
          </p:nvPr>
        </p:nvSpPr>
        <p:spPr>
          <a:xfrm>
            <a:off x="272450" y="1110000"/>
            <a:ext cx="7442700" cy="21294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 sz="7200">
                <a:latin typeface="Helvetica Neue"/>
                <a:ea typeface="Helvetica Neue"/>
                <a:cs typeface="Helvetica Neue"/>
                <a:sym typeface="Helvetica Neue"/>
              </a:rPr>
              <a:t>We are imagining a Phase 2 Treasure that aims at building a Foundation Model for HEP with different end goals in mind: </a:t>
            </a:r>
            <a:endParaRPr sz="7200">
              <a:latin typeface="Helvetica Neue"/>
              <a:ea typeface="Helvetica Neue"/>
              <a:cs typeface="Helvetica Neue"/>
              <a:sym typeface="Helvetica Neue"/>
            </a:endParaRPr>
          </a:p>
          <a:p>
            <a:pPr marL="457200" lvl="0" indent="-342900" algn="l" rtl="0">
              <a:spcBef>
                <a:spcPts val="1200"/>
              </a:spcBef>
              <a:spcAft>
                <a:spcPts val="0"/>
              </a:spcAft>
              <a:buSzPct val="100000"/>
              <a:buFont typeface="Helvetica Neue"/>
              <a:buChar char="●"/>
            </a:pPr>
            <a:r>
              <a:rPr lang="en" sz="7200">
                <a:latin typeface="Helvetica Neue"/>
                <a:ea typeface="Helvetica Neue"/>
                <a:cs typeface="Helvetica Neue"/>
                <a:sym typeface="Helvetica Neue"/>
              </a:rPr>
              <a:t>Reconstruction, Classification, EFT analysis, Real time application, cross-experiment discovery etc.</a:t>
            </a:r>
            <a:endParaRPr sz="7200">
              <a:latin typeface="Helvetica Neue"/>
              <a:ea typeface="Helvetica Neue"/>
              <a:cs typeface="Helvetica Neue"/>
              <a:sym typeface="Helvetica Neue"/>
            </a:endParaRPr>
          </a:p>
          <a:p>
            <a:pPr marL="457200" lvl="0" indent="-342900" algn="l" rtl="0">
              <a:spcBef>
                <a:spcPts val="0"/>
              </a:spcBef>
              <a:spcAft>
                <a:spcPts val="0"/>
              </a:spcAft>
              <a:buSzPct val="100000"/>
              <a:buFont typeface="Helvetica Neue"/>
              <a:buChar char="●"/>
            </a:pPr>
            <a:r>
              <a:rPr lang="en" sz="7200">
                <a:latin typeface="Helvetica Neue"/>
                <a:ea typeface="Helvetica Neue"/>
                <a:cs typeface="Helvetica Neue"/>
                <a:sym typeface="Helvetica Neue"/>
              </a:rPr>
              <a:t>In order for this to happen various elements have to come into play</a:t>
            </a:r>
            <a:endParaRPr sz="7200">
              <a:latin typeface="Helvetica Neue"/>
              <a:ea typeface="Helvetica Neue"/>
              <a:cs typeface="Helvetica Neue"/>
              <a:sym typeface="Helvetica Neue"/>
            </a:endParaRPr>
          </a:p>
          <a:p>
            <a:pPr marL="457200" lvl="0" indent="-342900" algn="l" rtl="0">
              <a:spcBef>
                <a:spcPts val="0"/>
              </a:spcBef>
              <a:spcAft>
                <a:spcPts val="0"/>
              </a:spcAft>
              <a:buSzPct val="100000"/>
              <a:buFont typeface="Helvetica Neue"/>
              <a:buChar char="●"/>
            </a:pPr>
            <a:r>
              <a:rPr lang="en" sz="7200">
                <a:latin typeface="Helvetica Neue"/>
                <a:ea typeface="Helvetica Neue"/>
                <a:cs typeface="Helvetica Neue"/>
                <a:sym typeface="Helvetica Neue"/>
              </a:rPr>
              <a:t>It would be nice if as a community we could think of different aspects for different institutions to lead that could come together into a single Phase 2</a:t>
            </a:r>
            <a:endParaRPr sz="7200">
              <a:latin typeface="Helvetica Neue"/>
              <a:ea typeface="Helvetica Neue"/>
              <a:cs typeface="Helvetica Neue"/>
              <a:sym typeface="Helvetica Neue"/>
            </a:endParaRPr>
          </a:p>
          <a:p>
            <a:pPr marL="457200" lvl="0" indent="-342900" algn="l" rtl="0">
              <a:spcBef>
                <a:spcPts val="0"/>
              </a:spcBef>
              <a:spcAft>
                <a:spcPts val="0"/>
              </a:spcAft>
              <a:buSzPct val="100000"/>
              <a:buFont typeface="Helvetica Neue"/>
              <a:buChar char="●"/>
            </a:pPr>
            <a:r>
              <a:rPr lang="en" sz="7200">
                <a:latin typeface="Helvetica Neue"/>
                <a:ea typeface="Helvetica Neue"/>
                <a:cs typeface="Helvetica Neue"/>
                <a:sym typeface="Helvetica Neue"/>
              </a:rPr>
              <a:t>Treasure ATLAS Pi: Viviana Cavaliere, Paolo Calafiura, Walter Hopkins, Michael Kagan. CMS: Kevin Pedro</a:t>
            </a:r>
            <a:endParaRPr sz="7200">
              <a:latin typeface="Helvetica Neue"/>
              <a:ea typeface="Helvetica Neue"/>
              <a:cs typeface="Helvetica Neue"/>
              <a:sym typeface="Helvetica Neue"/>
            </a:endParaRPr>
          </a:p>
          <a:p>
            <a:pPr marL="0" lvl="0" indent="0" algn="l" rtl="0">
              <a:spcBef>
                <a:spcPts val="1200"/>
              </a:spcBef>
              <a:spcAft>
                <a:spcPts val="12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body" idx="1"/>
          </p:nvPr>
        </p:nvSpPr>
        <p:spPr>
          <a:xfrm>
            <a:off x="142500" y="927275"/>
            <a:ext cx="8748600" cy="4138800"/>
          </a:xfrm>
          <a:prstGeom prst="rect">
            <a:avLst/>
          </a:prstGeom>
        </p:spPr>
        <p:txBody>
          <a:bodyPr spcFirstLastPara="1" wrap="square" lIns="91425" tIns="91425" rIns="91425" bIns="91425" anchor="t" anchorCtr="0">
            <a:normAutofit fontScale="92500" lnSpcReduction="10000"/>
          </a:bodyPr>
          <a:lstStyle/>
          <a:p>
            <a:pPr marL="457200" lvl="0" indent="-293211" algn="l" rtl="0">
              <a:spcBef>
                <a:spcPts val="0"/>
              </a:spcBef>
              <a:spcAft>
                <a:spcPts val="0"/>
              </a:spcAft>
              <a:buClr>
                <a:schemeClr val="dk1"/>
              </a:buClr>
              <a:buSzPct val="100000"/>
              <a:buChar char="●"/>
            </a:pPr>
            <a:r>
              <a:rPr lang="en" sz="1100" b="1">
                <a:solidFill>
                  <a:schemeClr val="dk1"/>
                </a:solidFill>
              </a:rPr>
              <a:t>Working Title: </a:t>
            </a:r>
            <a:r>
              <a:rPr lang="en" sz="1100">
                <a:solidFill>
                  <a:schemeClr val="dk1"/>
                </a:solidFill>
              </a:rPr>
              <a:t>From Taus to Full Calorimetry: Graph Foundation Models for Reconstruction, Simulation, and Data-Driven Inference in ATLAS</a:t>
            </a:r>
            <a:endParaRPr sz="1100">
              <a:solidFill>
                <a:schemeClr val="dk1"/>
              </a:solidFill>
            </a:endParaRPr>
          </a:p>
          <a:p>
            <a:pPr marL="457200" lvl="0" indent="-293211" algn="l" rtl="0">
              <a:spcBef>
                <a:spcPts val="0"/>
              </a:spcBef>
              <a:spcAft>
                <a:spcPts val="0"/>
              </a:spcAft>
              <a:buClr>
                <a:schemeClr val="dk1"/>
              </a:buClr>
              <a:buSzPct val="100000"/>
              <a:buChar char="●"/>
            </a:pPr>
            <a:r>
              <a:rPr lang="en" sz="1100" b="1">
                <a:solidFill>
                  <a:schemeClr val="dk1"/>
                </a:solidFill>
              </a:rPr>
              <a:t>Core idea</a:t>
            </a:r>
            <a:endParaRPr sz="1100" b="1">
              <a:solidFill>
                <a:schemeClr val="dk1"/>
              </a:solidFill>
            </a:endParaRPr>
          </a:p>
          <a:p>
            <a:pPr marL="914400" lvl="1" indent="-293211" algn="l" rtl="0">
              <a:spcBef>
                <a:spcPts val="0"/>
              </a:spcBef>
              <a:spcAft>
                <a:spcPts val="0"/>
              </a:spcAft>
              <a:buClr>
                <a:schemeClr val="dk1"/>
              </a:buClr>
              <a:buSzPct val="100000"/>
              <a:buChar char="○"/>
            </a:pPr>
            <a:r>
              <a:rPr lang="en" sz="1100">
                <a:solidFill>
                  <a:schemeClr val="dk1"/>
                </a:solidFill>
              </a:rPr>
              <a:t>Build a </a:t>
            </a:r>
            <a:r>
              <a:rPr lang="en" sz="1100" b="1">
                <a:solidFill>
                  <a:schemeClr val="dk1"/>
                </a:solidFill>
              </a:rPr>
              <a:t>detector-conditioned graph foundation model for calorimetry</a:t>
            </a:r>
            <a:r>
              <a:rPr lang="en" sz="1100">
                <a:solidFill>
                  <a:schemeClr val="dk1"/>
                </a:solidFill>
              </a:rPr>
              <a:t>: one shared AI backbone that learns from low-level calorimeter response and produces reusable detector-aware embeddings.</a:t>
            </a:r>
            <a:endParaRPr sz="1100">
              <a:solidFill>
                <a:schemeClr val="dk1"/>
              </a:solidFill>
            </a:endParaRPr>
          </a:p>
          <a:p>
            <a:pPr marL="914400" lvl="1" indent="-293211" algn="l" rtl="0">
              <a:spcBef>
                <a:spcPts val="0"/>
              </a:spcBef>
              <a:spcAft>
                <a:spcPts val="0"/>
              </a:spcAft>
              <a:buClr>
                <a:schemeClr val="dk1"/>
              </a:buClr>
              <a:buSzPct val="100000"/>
              <a:buChar char="○"/>
            </a:pPr>
            <a:r>
              <a:rPr lang="en" sz="1100">
                <a:solidFill>
                  <a:schemeClr val="dk1"/>
                </a:solidFill>
              </a:rPr>
              <a:t>Treat calorimeter information as a </a:t>
            </a:r>
            <a:r>
              <a:rPr lang="en" sz="1100" b="1">
                <a:solidFill>
                  <a:schemeClr val="dk1"/>
                </a:solidFill>
              </a:rPr>
              <a:t>multi-scale, multi-graph problem</a:t>
            </a:r>
            <a:r>
              <a:rPr lang="en" sz="1100">
                <a:solidFill>
                  <a:schemeClr val="dk1"/>
                </a:solidFill>
              </a:rPr>
              <a:t>, not a single flat input.</a:t>
            </a:r>
            <a:endParaRPr sz="1100">
              <a:solidFill>
                <a:schemeClr val="dk1"/>
              </a:solidFill>
            </a:endParaRPr>
          </a:p>
          <a:p>
            <a:pPr marL="457200" lvl="0" indent="-293211" algn="l" rtl="0">
              <a:spcBef>
                <a:spcPts val="0"/>
              </a:spcBef>
              <a:spcAft>
                <a:spcPts val="0"/>
              </a:spcAft>
              <a:buClr>
                <a:schemeClr val="dk1"/>
              </a:buClr>
              <a:buSzPct val="100000"/>
              <a:buChar char="●"/>
            </a:pPr>
            <a:r>
              <a:rPr lang="en" sz="1100" b="1">
                <a:solidFill>
                  <a:schemeClr val="dk1"/>
                </a:solidFill>
              </a:rPr>
              <a:t>How the information is represented</a:t>
            </a:r>
            <a:endParaRPr sz="1100" b="1">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Static detector graph:</a:t>
            </a:r>
            <a:r>
              <a:rPr lang="en" sz="1100">
                <a:solidFill>
                  <a:schemeClr val="dk1"/>
                </a:solidFill>
              </a:rPr>
              <a:t> calorimeter cells as nodes, with edges from geometry/neighborhood, layer transitions, material boundaries, and detector conditions.</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Dynamic event graph:</a:t>
            </a:r>
            <a:r>
              <a:rPr lang="en" sz="1100">
                <a:solidFill>
                  <a:schemeClr val="dk1"/>
                </a:solidFill>
              </a:rPr>
              <a:t> active cells with energies, times, quality/noise, gains, and optional track/context information for each event.</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Learned shower / cluster:</a:t>
            </a:r>
            <a:r>
              <a:rPr lang="en" sz="1100">
                <a:solidFill>
                  <a:schemeClr val="dk1"/>
                </a:solidFill>
              </a:rPr>
              <a:t> latent nodes representing showers or clusters, with soft cell→shower assignments.</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Object graph:</a:t>
            </a:r>
            <a:r>
              <a:rPr lang="en" sz="1100">
                <a:solidFill>
                  <a:schemeClr val="dk1"/>
                </a:solidFill>
              </a:rPr>
              <a:t> higher-level nodes for τ, e/\gamma, jets, neutral hadrons, MET contributors, etc.</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Privileged MC / truth graph:</a:t>
            </a:r>
            <a:r>
              <a:rPr lang="en" sz="1100">
                <a:solidFill>
                  <a:schemeClr val="dk1"/>
                </a:solidFill>
              </a:rPr>
              <a:t> decay chain, particles at calorimeter entrance, calibration-hit decomposition, and truth↔reco associations used only during training.</a:t>
            </a:r>
            <a:endParaRPr sz="1100">
              <a:solidFill>
                <a:schemeClr val="dk1"/>
              </a:solidFill>
            </a:endParaRPr>
          </a:p>
          <a:p>
            <a:pPr marL="457200" lvl="0" indent="-293211" algn="l" rtl="0">
              <a:spcBef>
                <a:spcPts val="0"/>
              </a:spcBef>
              <a:spcAft>
                <a:spcPts val="0"/>
              </a:spcAft>
              <a:buClr>
                <a:schemeClr val="dk1"/>
              </a:buClr>
              <a:buSzPct val="100000"/>
              <a:buChar char="●"/>
            </a:pPr>
            <a:r>
              <a:rPr lang="en" sz="1100" b="1">
                <a:solidFill>
                  <a:schemeClr val="dk1"/>
                </a:solidFill>
              </a:rPr>
              <a:t>AI / training strategy</a:t>
            </a:r>
            <a:endParaRPr sz="1100" b="1">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Pretrain</a:t>
            </a:r>
            <a:r>
              <a:rPr lang="en" sz="1100">
                <a:solidFill>
                  <a:schemeClr val="dk1"/>
                </a:solidFill>
              </a:rPr>
              <a:t> the backbone on generic calorimeter tasks:</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masked cell reconstruction / denoising</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calibration-hit prediction</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shower association / clustering objectives</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uncertainty estimation and detector-nuisance conditioning</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Mix simulation and data</a:t>
            </a:r>
            <a:r>
              <a:rPr lang="en" sz="1100">
                <a:solidFill>
                  <a:schemeClr val="dk1"/>
                </a:solidFill>
              </a:rPr>
              <a:t>:</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MC gives privileged supervision (truth, calibration hits, latent energy composition)</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data supports weak supervision, calibration, and robustness/domain adaptation</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Fine-tune lightweight task heads</a:t>
            </a:r>
            <a:r>
              <a:rPr lang="en" sz="1100">
                <a:solidFill>
                  <a:schemeClr val="dk1"/>
                </a:solidFill>
              </a:rPr>
              <a:t> instead of rebuilding a new model for every analysis.</a:t>
            </a:r>
            <a:endParaRPr sz="1100" b="1">
              <a:solidFill>
                <a:schemeClr val="dk1"/>
              </a:solidFill>
            </a:endParaRPr>
          </a:p>
        </p:txBody>
      </p:sp>
      <p:sp>
        <p:nvSpPr>
          <p:cNvPr id="170" name="Google Shape;170;p25"/>
          <p:cNvSpPr txBox="1">
            <a:spLocks noGrp="1"/>
          </p:cNvSpPr>
          <p:nvPr>
            <p:ph type="title"/>
          </p:nvPr>
        </p:nvSpPr>
        <p:spPr>
          <a:xfrm>
            <a:off x="256500" y="301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Towards a Foundation Model for Calorimetry (1/2)</a:t>
            </a:r>
            <a:endParaRPr/>
          </a:p>
        </p:txBody>
      </p:sp>
      <p:sp>
        <p:nvSpPr>
          <p:cNvPr id="171" name="Google Shape;171;p25"/>
          <p:cNvSpPr txBox="1"/>
          <p:nvPr/>
        </p:nvSpPr>
        <p:spPr>
          <a:xfrm>
            <a:off x="7622125" y="-71150"/>
            <a:ext cx="16266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2"/>
                </a:solidFill>
              </a:rPr>
              <a:t>Amir Farbin</a:t>
            </a:r>
            <a:endParaRPr sz="900">
              <a:solidFill>
                <a:schemeClr val="dk2"/>
              </a:solidFill>
            </a:endParaRPr>
          </a:p>
          <a:p>
            <a:pPr marL="0" lvl="0" indent="0" algn="l" rtl="0">
              <a:spcBef>
                <a:spcPts val="0"/>
              </a:spcBef>
              <a:spcAft>
                <a:spcPts val="0"/>
              </a:spcAft>
              <a:buNone/>
            </a:pPr>
            <a:r>
              <a:rPr lang="en" sz="900" u="sng">
                <a:solidFill>
                  <a:schemeClr val="hlink"/>
                </a:solidFill>
                <a:hlinkClick r:id="rId3"/>
              </a:rPr>
              <a:t>afarbin@uta.edu</a:t>
            </a:r>
            <a:endParaRPr sz="900">
              <a:solidFill>
                <a:schemeClr val="dk2"/>
              </a:solidFill>
            </a:endParaRPr>
          </a:p>
          <a:p>
            <a:pPr marL="0" lvl="0" indent="0" algn="l" rtl="0">
              <a:spcBef>
                <a:spcPts val="0"/>
              </a:spcBef>
              <a:spcAft>
                <a:spcPts val="0"/>
              </a:spcAft>
              <a:buNone/>
            </a:pPr>
            <a:r>
              <a:rPr lang="en" sz="900">
                <a:solidFill>
                  <a:schemeClr val="dk2"/>
                </a:solidFill>
              </a:rPr>
              <a:t>Haleh Hadavand</a:t>
            </a:r>
            <a:endParaRPr sz="900">
              <a:solidFill>
                <a:schemeClr val="dk2"/>
              </a:solidFill>
            </a:endParaRPr>
          </a:p>
          <a:p>
            <a:pPr marL="0" lvl="0" indent="0" algn="l" rtl="0">
              <a:spcBef>
                <a:spcPts val="0"/>
              </a:spcBef>
              <a:spcAft>
                <a:spcPts val="0"/>
              </a:spcAft>
              <a:buNone/>
            </a:pPr>
            <a:r>
              <a:rPr lang="en" sz="900" u="sng">
                <a:solidFill>
                  <a:schemeClr val="hlink"/>
                </a:solidFill>
                <a:hlinkClick r:id="rId4"/>
              </a:rPr>
              <a:t>hadavand@uta.edu</a:t>
            </a:r>
            <a:endParaRPr sz="900">
              <a:solidFill>
                <a:schemeClr val="dk2"/>
              </a:solidFill>
            </a:endParaRPr>
          </a:p>
          <a:p>
            <a:pPr marL="0" lvl="0" indent="0" algn="l" rtl="0">
              <a:spcBef>
                <a:spcPts val="0"/>
              </a:spcBef>
              <a:spcAft>
                <a:spcPts val="0"/>
              </a:spcAft>
              <a:buNone/>
            </a:pPr>
            <a:r>
              <a:rPr lang="en" sz="900">
                <a:solidFill>
                  <a:schemeClr val="dk2"/>
                </a:solidFill>
              </a:rPr>
              <a:t>Blake Burghgrave </a:t>
            </a:r>
            <a:endParaRPr sz="900">
              <a:solidFill>
                <a:schemeClr val="dk2"/>
              </a:solidFill>
            </a:endParaRPr>
          </a:p>
          <a:p>
            <a:pPr marL="0" lvl="0" indent="0" algn="l" rtl="0">
              <a:spcBef>
                <a:spcPts val="0"/>
              </a:spcBef>
              <a:spcAft>
                <a:spcPts val="0"/>
              </a:spcAft>
              <a:buNone/>
            </a:pPr>
            <a:r>
              <a:rPr lang="en" sz="900" u="sng">
                <a:solidFill>
                  <a:schemeClr val="hlink"/>
                </a:solidFill>
                <a:hlinkClick r:id="rId5"/>
              </a:rPr>
              <a:t>blake.burghgrave@uta.edu</a:t>
            </a:r>
            <a:endParaRPr sz="900">
              <a:solidFill>
                <a:schemeClr val="dk2"/>
              </a:solidFill>
            </a:endParaRPr>
          </a:p>
          <a:p>
            <a:pPr marL="0" lvl="0" indent="0" algn="l" rtl="0">
              <a:spcBef>
                <a:spcPts val="0"/>
              </a:spcBef>
              <a:spcAft>
                <a:spcPts val="0"/>
              </a:spcAft>
              <a:buNone/>
            </a:pPr>
            <a:r>
              <a:rPr lang="en" sz="900" i="1">
                <a:solidFill>
                  <a:schemeClr val="dk2"/>
                </a:solidFill>
              </a:rPr>
              <a:t>UTA</a:t>
            </a:r>
            <a:endParaRPr sz="900" i="1">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6"/>
          <p:cNvSpPr txBox="1">
            <a:spLocks noGrp="1"/>
          </p:cNvSpPr>
          <p:nvPr>
            <p:ph type="title"/>
          </p:nvPr>
        </p:nvSpPr>
        <p:spPr>
          <a:xfrm>
            <a:off x="256500" y="301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Towards a Foundation Model for Calorimetry (2/2)</a:t>
            </a:r>
            <a:endParaRPr/>
          </a:p>
        </p:txBody>
      </p:sp>
      <p:sp>
        <p:nvSpPr>
          <p:cNvPr id="177" name="Google Shape;177;p26"/>
          <p:cNvSpPr txBox="1">
            <a:spLocks noGrp="1"/>
          </p:cNvSpPr>
          <p:nvPr>
            <p:ph type="body" idx="1"/>
          </p:nvPr>
        </p:nvSpPr>
        <p:spPr>
          <a:xfrm>
            <a:off x="142500" y="927275"/>
            <a:ext cx="8748600" cy="4138800"/>
          </a:xfrm>
          <a:prstGeom prst="rect">
            <a:avLst/>
          </a:prstGeom>
        </p:spPr>
        <p:txBody>
          <a:bodyPr spcFirstLastPara="1" wrap="square" lIns="91425" tIns="91425" rIns="91425" bIns="91425" anchor="t" anchorCtr="0">
            <a:normAutofit fontScale="92500" lnSpcReduction="20000"/>
          </a:bodyPr>
          <a:lstStyle/>
          <a:p>
            <a:pPr marL="457200" lvl="0" indent="-293211" algn="l" rtl="0">
              <a:spcBef>
                <a:spcPts val="1200"/>
              </a:spcBef>
              <a:spcAft>
                <a:spcPts val="0"/>
              </a:spcAft>
              <a:buClr>
                <a:schemeClr val="dk1"/>
              </a:buClr>
              <a:buSzPct val="100000"/>
              <a:buChar char="●"/>
            </a:pPr>
            <a:r>
              <a:rPr lang="en" sz="1100" b="1">
                <a:solidFill>
                  <a:schemeClr val="dk1"/>
                </a:solidFill>
              </a:rPr>
              <a:t>Long-term vision</a:t>
            </a:r>
            <a:endParaRPr sz="1100" b="1">
              <a:solidFill>
                <a:schemeClr val="dk1"/>
              </a:solidFill>
            </a:endParaRPr>
          </a:p>
          <a:p>
            <a:pPr marL="914400" lvl="1" indent="-293211" algn="l" rtl="0">
              <a:spcBef>
                <a:spcPts val="0"/>
              </a:spcBef>
              <a:spcAft>
                <a:spcPts val="0"/>
              </a:spcAft>
              <a:buClr>
                <a:schemeClr val="dk1"/>
              </a:buClr>
              <a:buSzPct val="100000"/>
              <a:buChar char="○"/>
            </a:pPr>
            <a:r>
              <a:rPr lang="en" sz="1100">
                <a:solidFill>
                  <a:schemeClr val="dk1"/>
                </a:solidFill>
              </a:rPr>
              <a:t>A single calorimeter foundation model for </a:t>
            </a:r>
            <a:r>
              <a:rPr lang="en" sz="1100" b="1">
                <a:solidFill>
                  <a:schemeClr val="dk1"/>
                </a:solidFill>
              </a:rPr>
              <a:t>reconstruction, calibration, fast simulation, and inference</a:t>
            </a:r>
            <a:r>
              <a:rPr lang="en" sz="1100">
                <a:solidFill>
                  <a:schemeClr val="dk1"/>
                </a:solidFill>
              </a:rPr>
              <a:t>.</a:t>
            </a:r>
            <a:endParaRPr sz="1100">
              <a:solidFill>
                <a:schemeClr val="dk1"/>
              </a:solidFill>
            </a:endParaRPr>
          </a:p>
          <a:p>
            <a:pPr marL="914400" lvl="1" indent="-293211" algn="l" rtl="0">
              <a:spcBef>
                <a:spcPts val="0"/>
              </a:spcBef>
              <a:spcAft>
                <a:spcPts val="0"/>
              </a:spcAft>
              <a:buClr>
                <a:schemeClr val="dk1"/>
              </a:buClr>
              <a:buSzPct val="100000"/>
              <a:buChar char="○"/>
            </a:pPr>
            <a:r>
              <a:rPr lang="en" sz="1100">
                <a:solidFill>
                  <a:schemeClr val="dk1"/>
                </a:solidFill>
              </a:rPr>
              <a:t>Same backbone can eventually support:</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clustering and energy calibration</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e/gamma, tau, jets, …</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particle flow / MET</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anomaly detection</a:t>
            </a:r>
            <a:endParaRPr sz="1100">
              <a:solidFill>
                <a:schemeClr val="dk1"/>
              </a:solidFill>
            </a:endParaRPr>
          </a:p>
          <a:p>
            <a:pPr marL="1371600" lvl="2" indent="-293211" algn="l" rtl="0">
              <a:spcBef>
                <a:spcPts val="0"/>
              </a:spcBef>
              <a:spcAft>
                <a:spcPts val="0"/>
              </a:spcAft>
              <a:buClr>
                <a:schemeClr val="dk1"/>
              </a:buClr>
              <a:buSzPct val="100000"/>
              <a:buChar char="■"/>
            </a:pPr>
            <a:r>
              <a:rPr lang="en" sz="1100">
                <a:solidFill>
                  <a:schemeClr val="dk1"/>
                </a:solidFill>
              </a:rPr>
              <a:t>detector optimization and fast surrogate simulation</a:t>
            </a:r>
            <a:endParaRPr sz="1100">
              <a:solidFill>
                <a:schemeClr val="dk1"/>
              </a:solidFill>
            </a:endParaRPr>
          </a:p>
          <a:p>
            <a:pPr marL="914400" lvl="1" indent="-293211" algn="l" rtl="0">
              <a:spcBef>
                <a:spcPts val="0"/>
              </a:spcBef>
              <a:spcAft>
                <a:spcPts val="0"/>
              </a:spcAft>
              <a:buClr>
                <a:schemeClr val="dk1"/>
              </a:buClr>
              <a:buSzPct val="100000"/>
              <a:buChar char="○"/>
            </a:pPr>
            <a:r>
              <a:rPr lang="en" sz="1100">
                <a:solidFill>
                  <a:schemeClr val="dk1"/>
                </a:solidFill>
              </a:rPr>
              <a:t>Goal is a </a:t>
            </a:r>
            <a:r>
              <a:rPr lang="en" sz="1100" b="1">
                <a:solidFill>
                  <a:schemeClr val="dk1"/>
                </a:solidFill>
              </a:rPr>
              <a:t>shared framework</a:t>
            </a:r>
            <a:r>
              <a:rPr lang="en" sz="1100">
                <a:solidFill>
                  <a:schemeClr val="dk1"/>
                </a:solidFill>
              </a:rPr>
              <a:t> where different teams can add new calorimeter tasks as modular heads/adapters on top of the same pretrained backbone.</a:t>
            </a:r>
            <a:endParaRPr sz="1100">
              <a:solidFill>
                <a:schemeClr val="dk1"/>
              </a:solidFill>
            </a:endParaRPr>
          </a:p>
          <a:p>
            <a:pPr marL="457200" lvl="0" indent="-293211" algn="l" rtl="0">
              <a:spcBef>
                <a:spcPts val="0"/>
              </a:spcBef>
              <a:spcAft>
                <a:spcPts val="0"/>
              </a:spcAft>
              <a:buClr>
                <a:schemeClr val="dk1"/>
              </a:buClr>
              <a:buSzPct val="100000"/>
              <a:buChar char="●"/>
            </a:pPr>
            <a:r>
              <a:rPr lang="en" sz="1100" b="1">
                <a:solidFill>
                  <a:schemeClr val="dk1"/>
                </a:solidFill>
              </a:rPr>
              <a:t>Why start with taus?</a:t>
            </a:r>
            <a:endParaRPr sz="1100" b="1">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Physics-rich but localized:</a:t>
            </a:r>
            <a:r>
              <a:rPr lang="en" sz="1100">
                <a:solidFill>
                  <a:schemeClr val="dk1"/>
                </a:solidFill>
              </a:rPr>
              <a:t> taus contain narrow charged cores, π</a:t>
            </a:r>
            <a:r>
              <a:rPr lang="en" sz="1100" baseline="30000">
                <a:solidFill>
                  <a:schemeClr val="dk1"/>
                </a:solidFill>
              </a:rPr>
              <a:t>0</a:t>
            </a:r>
            <a:r>
              <a:rPr lang="en" sz="1100">
                <a:solidFill>
                  <a:schemeClr val="dk1"/>
                </a:solidFill>
              </a:rPr>
              <a:t>→ γγ EM subshowers, and strong pile-up/noise sensitivity.</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Exercises the full chain:</a:t>
            </a:r>
            <a:r>
              <a:rPr lang="en" sz="1100">
                <a:solidFill>
                  <a:schemeClr val="dk1"/>
                </a:solidFill>
              </a:rPr>
              <a:t> cell-level response → shower structure → object ID → analysis-level fake-rate inference.</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High-impact benchmark:</a:t>
            </a:r>
            <a:r>
              <a:rPr lang="en" sz="1100">
                <a:solidFill>
                  <a:schemeClr val="dk1"/>
                </a:solidFill>
              </a:rPr>
              <a:t> τ reco/ID and jet→τ fake modeling are already important analysis bottlenecks with clear quantitative metrics.</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Manageable first step:</a:t>
            </a:r>
            <a:r>
              <a:rPr lang="en" sz="1100">
                <a:solidFill>
                  <a:schemeClr val="dk1"/>
                </a:solidFill>
              </a:rPr>
              <a:t> seeded τ regions are much smaller and simpler than full-event calorimeter reconstruction, but still stress the core AI ideas.</a:t>
            </a:r>
            <a:endParaRPr sz="1100">
              <a:solidFill>
                <a:schemeClr val="dk1"/>
              </a:solidFill>
            </a:endParaRPr>
          </a:p>
          <a:p>
            <a:pPr marL="914400" lvl="1" indent="-293211" algn="l" rtl="0">
              <a:spcBef>
                <a:spcPts val="0"/>
              </a:spcBef>
              <a:spcAft>
                <a:spcPts val="0"/>
              </a:spcAft>
              <a:buClr>
                <a:schemeClr val="dk1"/>
              </a:buClr>
              <a:buSzPct val="100000"/>
              <a:buChar char="○"/>
            </a:pPr>
            <a:r>
              <a:rPr lang="en" sz="1100" b="1">
                <a:solidFill>
                  <a:schemeClr val="dk1"/>
                </a:solidFill>
              </a:rPr>
              <a:t>Strong connection to current ATLAS workflows:</a:t>
            </a:r>
            <a:r>
              <a:rPr lang="en" sz="1100">
                <a:solidFill>
                  <a:schemeClr val="dk1"/>
                </a:solidFill>
              </a:rPr>
              <a:t> existing τ ID / GNTau / UFF-style fake modeling provide a natural validation path and early adoption route.  </a:t>
            </a:r>
            <a:endParaRPr sz="1100">
              <a:solidFill>
                <a:schemeClr val="dk1"/>
              </a:solidFill>
            </a:endParaRPr>
          </a:p>
          <a:p>
            <a:pPr marL="457200" lvl="0" indent="-293211" algn="l" rtl="0">
              <a:spcBef>
                <a:spcPts val="0"/>
              </a:spcBef>
              <a:spcAft>
                <a:spcPts val="0"/>
              </a:spcAft>
              <a:buClr>
                <a:schemeClr val="dk1"/>
              </a:buClr>
              <a:buSzPct val="100000"/>
              <a:buChar char="●"/>
            </a:pPr>
            <a:r>
              <a:rPr lang="en" sz="1100" b="1">
                <a:solidFill>
                  <a:schemeClr val="dk1"/>
                </a:solidFill>
              </a:rPr>
              <a:t>Phase-I: </a:t>
            </a:r>
            <a:r>
              <a:rPr lang="en" sz="1100">
                <a:solidFill>
                  <a:schemeClr val="dk1"/>
                </a:solidFill>
              </a:rPr>
              <a:t>Demonstrate </a:t>
            </a:r>
            <a:r>
              <a:rPr lang="en" sz="1100" b="1">
                <a:solidFill>
                  <a:schemeClr val="dk1"/>
                </a:solidFill>
              </a:rPr>
              <a:t>quantitative AI advantage</a:t>
            </a:r>
            <a:r>
              <a:rPr lang="en" sz="1100">
                <a:solidFill>
                  <a:schemeClr val="dk1"/>
                </a:solidFill>
              </a:rPr>
              <a:t> on the τ benchmark first, then use the same framework as the foundation for broader calorimeter reconstruction, simulation, and inference.</a:t>
            </a:r>
            <a:endParaRPr sz="1100">
              <a:solidFill>
                <a:schemeClr val="dk1"/>
              </a:solidFill>
            </a:endParaRPr>
          </a:p>
          <a:p>
            <a:pPr marL="457200" lvl="0" indent="-293211" algn="l" rtl="0">
              <a:spcBef>
                <a:spcPts val="0"/>
              </a:spcBef>
              <a:spcAft>
                <a:spcPts val="0"/>
              </a:spcAft>
              <a:buClr>
                <a:schemeClr val="dk1"/>
              </a:buClr>
              <a:buSzPct val="100000"/>
              <a:buChar char="●"/>
            </a:pPr>
            <a:r>
              <a:rPr lang="en" sz="1100" b="1">
                <a:solidFill>
                  <a:schemeClr val="dk1"/>
                </a:solidFill>
              </a:rPr>
              <a:t>Phase-II:  </a:t>
            </a:r>
            <a:r>
              <a:rPr lang="en" sz="1100">
                <a:solidFill>
                  <a:schemeClr val="dk1"/>
                </a:solidFill>
              </a:rPr>
              <a:t>Cells → Model Base Inference in Reconstruction → Embeddings → Heads Tuned for Tasks / Analysis</a:t>
            </a:r>
            <a:endParaRPr sz="1100">
              <a:solidFill>
                <a:schemeClr val="dk1"/>
              </a:solidFill>
            </a:endParaRPr>
          </a:p>
          <a:p>
            <a:pPr marL="457200" lvl="0" indent="-293211" algn="l" rtl="0">
              <a:spcBef>
                <a:spcPts val="0"/>
              </a:spcBef>
              <a:spcAft>
                <a:spcPts val="0"/>
              </a:spcAft>
              <a:buClr>
                <a:schemeClr val="dk1"/>
              </a:buClr>
              <a:buSzPct val="100000"/>
              <a:buChar char="●"/>
            </a:pPr>
            <a:r>
              <a:rPr lang="en" sz="1100" b="1">
                <a:solidFill>
                  <a:schemeClr val="dk1"/>
                </a:solidFill>
              </a:rPr>
              <a:t>Questions</a:t>
            </a:r>
            <a:endParaRPr sz="1100">
              <a:solidFill>
                <a:schemeClr val="dk1"/>
              </a:solidFill>
            </a:endParaRPr>
          </a:p>
          <a:p>
            <a:pPr marL="914400" lvl="1" indent="-293211" algn="l" rtl="0">
              <a:spcBef>
                <a:spcPts val="0"/>
              </a:spcBef>
              <a:spcAft>
                <a:spcPts val="0"/>
              </a:spcAft>
              <a:buClr>
                <a:schemeClr val="dk1"/>
              </a:buClr>
              <a:buSzPct val="100000"/>
              <a:buChar char="○"/>
            </a:pPr>
            <a:r>
              <a:rPr lang="en" sz="1100">
                <a:solidFill>
                  <a:schemeClr val="dk1"/>
                </a:solidFill>
              </a:rPr>
              <a:t>How would this fit with the broader Foundation Model Efforts like TREASURE?</a:t>
            </a:r>
            <a:endParaRPr sz="1100">
              <a:solidFill>
                <a:schemeClr val="dk1"/>
              </a:solidFill>
            </a:endParaRPr>
          </a:p>
          <a:p>
            <a:pPr marL="914400" lvl="1" indent="-293211" algn="l" rtl="0">
              <a:spcBef>
                <a:spcPts val="0"/>
              </a:spcBef>
              <a:spcAft>
                <a:spcPts val="0"/>
              </a:spcAft>
              <a:buClr>
                <a:schemeClr val="dk1"/>
              </a:buClr>
              <a:buSzPct val="100000"/>
              <a:buChar char="○"/>
            </a:pPr>
            <a:r>
              <a:rPr lang="en" sz="1100">
                <a:solidFill>
                  <a:schemeClr val="dk1"/>
                </a:solidFill>
              </a:rPr>
              <a:t>Ideally the approach or even model is not ATLAS specific. Should we consider collaboration with CMS?</a:t>
            </a:r>
            <a:endParaRPr sz="1100">
              <a:solidFill>
                <a:schemeClr val="dk1"/>
              </a:solidFill>
            </a:endParaRPr>
          </a:p>
          <a:p>
            <a:pPr marL="914400" lvl="1" indent="-293211" algn="l" rtl="0">
              <a:spcBef>
                <a:spcPts val="0"/>
              </a:spcBef>
              <a:spcAft>
                <a:spcPts val="0"/>
              </a:spcAft>
              <a:buClr>
                <a:schemeClr val="dk1"/>
              </a:buClr>
              <a:buSzPct val="100000"/>
              <a:buChar char="○"/>
            </a:pPr>
            <a:r>
              <a:rPr lang="en" sz="1100">
                <a:solidFill>
                  <a:schemeClr val="dk1"/>
                </a:solidFill>
              </a:rPr>
              <a:t>Can we form a Lab/University team around this idea?</a:t>
            </a:r>
            <a:endParaRPr sz="1100">
              <a:solidFill>
                <a:schemeClr val="dk1"/>
              </a:solidFill>
            </a:endParaRPr>
          </a:p>
        </p:txBody>
      </p:sp>
      <p:sp>
        <p:nvSpPr>
          <p:cNvPr id="178" name="Google Shape;178;p26"/>
          <p:cNvSpPr txBox="1"/>
          <p:nvPr/>
        </p:nvSpPr>
        <p:spPr>
          <a:xfrm>
            <a:off x="7517400" y="10375"/>
            <a:ext cx="16266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2"/>
                </a:solidFill>
              </a:rPr>
              <a:t>Amir Farbin</a:t>
            </a:r>
            <a:endParaRPr sz="900">
              <a:solidFill>
                <a:schemeClr val="dk2"/>
              </a:solidFill>
            </a:endParaRPr>
          </a:p>
          <a:p>
            <a:pPr marL="0" lvl="0" indent="0" algn="l" rtl="0">
              <a:spcBef>
                <a:spcPts val="0"/>
              </a:spcBef>
              <a:spcAft>
                <a:spcPts val="0"/>
              </a:spcAft>
              <a:buNone/>
            </a:pPr>
            <a:r>
              <a:rPr lang="en" sz="900" u="sng">
                <a:solidFill>
                  <a:schemeClr val="hlink"/>
                </a:solidFill>
                <a:hlinkClick r:id="rId3"/>
              </a:rPr>
              <a:t>afarbin@uta.edu</a:t>
            </a:r>
            <a:endParaRPr sz="900">
              <a:solidFill>
                <a:schemeClr val="dk2"/>
              </a:solidFill>
            </a:endParaRPr>
          </a:p>
          <a:p>
            <a:pPr marL="0" lvl="0" indent="0" algn="l" rtl="0">
              <a:spcBef>
                <a:spcPts val="0"/>
              </a:spcBef>
              <a:spcAft>
                <a:spcPts val="0"/>
              </a:spcAft>
              <a:buNone/>
            </a:pPr>
            <a:r>
              <a:rPr lang="en" sz="900">
                <a:solidFill>
                  <a:schemeClr val="dk2"/>
                </a:solidFill>
              </a:rPr>
              <a:t>Haleh Hadavand</a:t>
            </a:r>
            <a:endParaRPr sz="900">
              <a:solidFill>
                <a:schemeClr val="dk2"/>
              </a:solidFill>
            </a:endParaRPr>
          </a:p>
          <a:p>
            <a:pPr marL="0" lvl="0" indent="0" algn="l" rtl="0">
              <a:spcBef>
                <a:spcPts val="0"/>
              </a:spcBef>
              <a:spcAft>
                <a:spcPts val="0"/>
              </a:spcAft>
              <a:buNone/>
            </a:pPr>
            <a:r>
              <a:rPr lang="en" sz="900" u="sng">
                <a:solidFill>
                  <a:schemeClr val="hlink"/>
                </a:solidFill>
                <a:hlinkClick r:id="rId4"/>
              </a:rPr>
              <a:t>hadavand@uta.edu</a:t>
            </a:r>
            <a:endParaRPr sz="900">
              <a:solidFill>
                <a:schemeClr val="dk2"/>
              </a:solidFill>
            </a:endParaRPr>
          </a:p>
          <a:p>
            <a:pPr marL="0" lvl="0" indent="0" algn="l" rtl="0">
              <a:spcBef>
                <a:spcPts val="0"/>
              </a:spcBef>
              <a:spcAft>
                <a:spcPts val="0"/>
              </a:spcAft>
              <a:buNone/>
            </a:pPr>
            <a:r>
              <a:rPr lang="en" sz="900">
                <a:solidFill>
                  <a:schemeClr val="dk2"/>
                </a:solidFill>
              </a:rPr>
              <a:t>Blake Burghgrave </a:t>
            </a:r>
            <a:endParaRPr sz="900">
              <a:solidFill>
                <a:schemeClr val="dk2"/>
              </a:solidFill>
            </a:endParaRPr>
          </a:p>
          <a:p>
            <a:pPr marL="0" lvl="0" indent="0" algn="l" rtl="0">
              <a:spcBef>
                <a:spcPts val="0"/>
              </a:spcBef>
              <a:spcAft>
                <a:spcPts val="0"/>
              </a:spcAft>
              <a:buNone/>
            </a:pPr>
            <a:r>
              <a:rPr lang="en" sz="900" u="sng">
                <a:solidFill>
                  <a:schemeClr val="hlink"/>
                </a:solidFill>
                <a:hlinkClick r:id="rId5"/>
              </a:rPr>
              <a:t>blake.burghgrave@uta.edu</a:t>
            </a:r>
            <a:endParaRPr sz="900">
              <a:solidFill>
                <a:schemeClr val="dk2"/>
              </a:solidFill>
            </a:endParaRPr>
          </a:p>
          <a:p>
            <a:pPr marL="0" lvl="0" indent="0" algn="l" rtl="0">
              <a:spcBef>
                <a:spcPts val="0"/>
              </a:spcBef>
              <a:spcAft>
                <a:spcPts val="0"/>
              </a:spcAft>
              <a:buNone/>
            </a:pPr>
            <a:r>
              <a:rPr lang="en" sz="900" i="1">
                <a:solidFill>
                  <a:schemeClr val="dk2"/>
                </a:solidFill>
              </a:rPr>
              <a:t>UTA</a:t>
            </a:r>
            <a:endParaRPr sz="900" i="1">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7"/>
          <p:cNvSpPr txBox="1">
            <a:spLocks noGrp="1"/>
          </p:cNvSpPr>
          <p:nvPr>
            <p:ph type="title"/>
          </p:nvPr>
        </p:nvSpPr>
        <p:spPr>
          <a:xfrm>
            <a:off x="77975" y="69850"/>
            <a:ext cx="89577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000" b="1"/>
              <a:t>A Low-Level Calorimeter Foundation Model to Enhance Current and Future Collider Experiments</a:t>
            </a:r>
            <a:endParaRPr sz="2000" b="1"/>
          </a:p>
        </p:txBody>
      </p:sp>
      <p:sp>
        <p:nvSpPr>
          <p:cNvPr id="184" name="Google Shape;184;p27"/>
          <p:cNvSpPr txBox="1">
            <a:spLocks noGrp="1"/>
          </p:cNvSpPr>
          <p:nvPr>
            <p:ph type="body" idx="1"/>
          </p:nvPr>
        </p:nvSpPr>
        <p:spPr>
          <a:xfrm>
            <a:off x="330750" y="950475"/>
            <a:ext cx="6960300" cy="2579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a:solidFill>
                  <a:schemeClr val="dk1"/>
                </a:solidFill>
              </a:rPr>
              <a:t>Electromagnetic calorimeters provide critical information for the reconstruction and selection of interesting events at high energy colliders, notably for the Higgs to diphoton discovery channel and looking towards di-Higgs observation. The upgraded ATLAS detector for the High Luminosity LHC will provide full-granularity, full-precision LAr calorimeter information off-detector at the 40 MHz bunch crossing rate, offering a new opportunity for low-level AI-enhanced analysis tools. </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a:solidFill>
                  <a:schemeClr val="dk1"/>
                </a:solidFill>
              </a:rPr>
              <a:t>An ATLAS LAr calorimeter foundation model would leverage the vast amounts of raw LHC data to enhance performance at a variety of tasks crucial to the ATLAS physics program, such as optimized “5D” electron and photon reconstruction and calibration (energy, position, time). The design of such an FM with hardware-aware principles will further enable latency/power-sensitive downstream tasks such as improved e/y FPGA triggers for Higgs and BSM/LLP signals, and potentially ultra-fast and efficient generative calorimeter simulations. </a:t>
            </a:r>
            <a:endParaRPr sz="1150" b="1"/>
          </a:p>
        </p:txBody>
      </p:sp>
      <p:pic>
        <p:nvPicPr>
          <p:cNvPr id="185" name="Google Shape;185;p27" title="Screenshot 2026-03-25 at 6.56.45 AM.png"/>
          <p:cNvPicPr preferRelativeResize="0"/>
          <p:nvPr/>
        </p:nvPicPr>
        <p:blipFill>
          <a:blip r:embed="rId3">
            <a:alphaModFix/>
          </a:blip>
          <a:stretch>
            <a:fillRect/>
          </a:stretch>
        </p:blipFill>
        <p:spPr>
          <a:xfrm>
            <a:off x="7401625" y="950475"/>
            <a:ext cx="1634050" cy="1864550"/>
          </a:xfrm>
          <a:prstGeom prst="rect">
            <a:avLst/>
          </a:prstGeom>
          <a:noFill/>
          <a:ln>
            <a:noFill/>
          </a:ln>
        </p:spPr>
      </p:pic>
      <p:sp>
        <p:nvSpPr>
          <p:cNvPr id="186" name="Google Shape;186;p27"/>
          <p:cNvSpPr txBox="1">
            <a:spLocks noGrp="1"/>
          </p:cNvSpPr>
          <p:nvPr>
            <p:ph type="body" idx="1"/>
          </p:nvPr>
        </p:nvSpPr>
        <p:spPr>
          <a:xfrm>
            <a:off x="272450" y="3218715"/>
            <a:ext cx="8463900" cy="3774000"/>
          </a:xfrm>
          <a:prstGeom prst="rect">
            <a:avLst/>
          </a:prstGeom>
        </p:spPr>
        <p:txBody>
          <a:bodyPr spcFirstLastPara="1" wrap="square" lIns="91425" tIns="91425" rIns="91425" bIns="91425" anchor="t" anchorCtr="0">
            <a:normAutofit/>
          </a:bodyPr>
          <a:lstStyle/>
          <a:p>
            <a:pPr marL="457200" lvl="0" indent="-307975" algn="l" rtl="0">
              <a:spcBef>
                <a:spcPts val="0"/>
              </a:spcBef>
              <a:spcAft>
                <a:spcPts val="0"/>
              </a:spcAft>
              <a:buClr>
                <a:schemeClr val="dk1"/>
              </a:buClr>
              <a:buSzPts val="1250"/>
              <a:buChar char="●"/>
            </a:pPr>
            <a:r>
              <a:rPr lang="en" sz="1250" b="1">
                <a:solidFill>
                  <a:schemeClr val="dk1"/>
                </a:solidFill>
              </a:rPr>
              <a:t>6-month deliverable</a:t>
            </a:r>
            <a:r>
              <a:rPr lang="en" sz="1250">
                <a:solidFill>
                  <a:schemeClr val="dk1"/>
                </a:solidFill>
              </a:rPr>
              <a:t>: demonstrate pre-trained backbone model on ATLAS Run 3 data to enhance performance at 3 downstream tasks: e/y reconstruction, HHyybb triggering, generative simulation</a:t>
            </a:r>
            <a:endParaRPr sz="1250">
              <a:solidFill>
                <a:schemeClr val="dk1"/>
              </a:solidFill>
            </a:endParaRPr>
          </a:p>
          <a:p>
            <a:pPr marL="457200" lvl="0" indent="-307975" algn="l" rtl="0">
              <a:spcBef>
                <a:spcPts val="0"/>
              </a:spcBef>
              <a:spcAft>
                <a:spcPts val="0"/>
              </a:spcAft>
              <a:buClr>
                <a:schemeClr val="dk1"/>
              </a:buClr>
              <a:buSzPts val="1250"/>
              <a:buChar char="●"/>
            </a:pPr>
            <a:r>
              <a:rPr lang="en" sz="1250" b="1">
                <a:solidFill>
                  <a:schemeClr val="dk1"/>
                </a:solidFill>
              </a:rPr>
              <a:t>Phase-2 vision</a:t>
            </a:r>
            <a:r>
              <a:rPr lang="en" sz="1250">
                <a:solidFill>
                  <a:schemeClr val="dk1"/>
                </a:solidFill>
              </a:rPr>
              <a:t>: integrate for ATLAS Run 4, FCC (ALLEGRO) design/optimization, potential connection to TREASURE? </a:t>
            </a:r>
            <a:endParaRPr sz="1250">
              <a:solidFill>
                <a:schemeClr val="dk1"/>
              </a:solidFill>
            </a:endParaRPr>
          </a:p>
          <a:p>
            <a:pPr marL="0" lvl="0" indent="0" algn="l" rtl="0">
              <a:spcBef>
                <a:spcPts val="0"/>
              </a:spcBef>
              <a:spcAft>
                <a:spcPts val="0"/>
              </a:spcAft>
              <a:buNone/>
            </a:pPr>
            <a:endParaRPr sz="1250">
              <a:solidFill>
                <a:schemeClr val="dk1"/>
              </a:solidFill>
            </a:endParaRPr>
          </a:p>
          <a:p>
            <a:pPr marL="457200" lvl="0" indent="-307975" algn="l" rtl="0">
              <a:spcBef>
                <a:spcPts val="0"/>
              </a:spcBef>
              <a:spcAft>
                <a:spcPts val="0"/>
              </a:spcAft>
              <a:buClr>
                <a:schemeClr val="dk1"/>
              </a:buClr>
              <a:buSzPts val="1250"/>
              <a:buChar char="●"/>
            </a:pPr>
            <a:r>
              <a:rPr lang="en" sz="1250" b="1">
                <a:solidFill>
                  <a:schemeClr val="dk1"/>
                </a:solidFill>
              </a:rPr>
              <a:t>Institutions</a:t>
            </a:r>
            <a:r>
              <a:rPr lang="en" sz="1250">
                <a:solidFill>
                  <a:schemeClr val="dk1"/>
                </a:solidFill>
              </a:rPr>
              <a:t>: Columbia (Parsons parsons@nevis.columbia.edu), UTAustin (Andeen), UCBerkeley/LBL (Haichen), SLAC (Gonski)</a:t>
            </a:r>
            <a:endParaRPr sz="1250">
              <a:solidFill>
                <a:schemeClr val="dk1"/>
              </a:solidFill>
            </a:endParaRPr>
          </a:p>
          <a:p>
            <a:pPr marL="457200" lvl="0" indent="-307975" algn="l" rtl="0">
              <a:spcBef>
                <a:spcPts val="0"/>
              </a:spcBef>
              <a:spcAft>
                <a:spcPts val="0"/>
              </a:spcAft>
              <a:buClr>
                <a:schemeClr val="dk1"/>
              </a:buClr>
              <a:buSzPts val="1250"/>
              <a:buChar char="●"/>
            </a:pPr>
            <a:r>
              <a:rPr lang="en" sz="1250" b="1">
                <a:solidFill>
                  <a:schemeClr val="dk1"/>
                </a:solidFill>
              </a:rPr>
              <a:t>Focus area options</a:t>
            </a:r>
            <a:r>
              <a:rPr lang="en" sz="1250">
                <a:solidFill>
                  <a:schemeClr val="dk1"/>
                </a:solidFill>
              </a:rPr>
              <a:t>: </a:t>
            </a:r>
            <a:r>
              <a:rPr lang="en" sz="1250">
                <a:solidFill>
                  <a:schemeClr val="accent2"/>
                </a:solidFill>
              </a:rPr>
              <a:t>14A. "Foundation Models of Particle Interactions and Cosmic Physics”</a:t>
            </a:r>
            <a:endParaRPr sz="125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120"/>
              <a:t>Self-Supervised Learning towards Improved HEP Foundation Models</a:t>
            </a:r>
            <a:endParaRPr sz="2020"/>
          </a:p>
        </p:txBody>
      </p:sp>
      <p:sp>
        <p:nvSpPr>
          <p:cNvPr id="192" name="Google Shape;192;p28"/>
          <p:cNvSpPr txBox="1">
            <a:spLocks noGrp="1"/>
          </p:cNvSpPr>
          <p:nvPr>
            <p:ph type="body" idx="1"/>
          </p:nvPr>
        </p:nvSpPr>
        <p:spPr>
          <a:xfrm>
            <a:off x="311700" y="1017725"/>
            <a:ext cx="8520600" cy="35511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a:t>Considering potential Phase 1 submission in 14A specifically focused on exploring self-supervised learning schemes with a focus on HEP data, but still working out details and very open to collaborating</a:t>
            </a:r>
            <a:endParaRPr/>
          </a:p>
          <a:p>
            <a:pPr marL="0" lvl="0" indent="0" algn="l" rtl="0">
              <a:spcBef>
                <a:spcPts val="1200"/>
              </a:spcBef>
              <a:spcAft>
                <a:spcPts val="0"/>
              </a:spcAft>
              <a:buClr>
                <a:schemeClr val="dk1"/>
              </a:buClr>
              <a:buSzPct val="61111"/>
              <a:buFont typeface="Arial"/>
              <a:buNone/>
            </a:pPr>
            <a:r>
              <a:rPr lang="en"/>
              <a:t>Description: We would propose to explore the use of self-supervised learning (SSL) techniques with a dedicated eye to HEP data. This could involve studies of different SSL methods, SSL for different data modalities (jets/events/calorimeter data/etc), or different applications (improved classification, improved generalization, improved data/MC, etc). A final proposal would obviously include only a small subset of these.</a:t>
            </a:r>
            <a:endParaRPr/>
          </a:p>
          <a:p>
            <a:pPr marL="0" lvl="0" indent="0" algn="l" rtl="0">
              <a:spcBef>
                <a:spcPts val="1200"/>
              </a:spcBef>
              <a:spcAft>
                <a:spcPts val="0"/>
              </a:spcAft>
              <a:buClr>
                <a:schemeClr val="dk1"/>
              </a:buClr>
              <a:buSzPct val="61111"/>
              <a:buFont typeface="Arial"/>
              <a:buNone/>
            </a:pPr>
            <a:r>
              <a:rPr lang="en"/>
              <a:t>Existing work in this regime: </a:t>
            </a:r>
            <a:r>
              <a:rPr lang="en" u="sng">
                <a:solidFill>
                  <a:schemeClr val="hlink"/>
                </a:solidFill>
                <a:hlinkClick r:id="rId3"/>
              </a:rPr>
              <a:t>https://arxiv.org/abs/2601.11719</a:t>
            </a:r>
            <a:r>
              <a:rPr lang="en"/>
              <a:t> (jBOT), </a:t>
            </a:r>
            <a:r>
              <a:rPr lang="en" u="sng">
                <a:solidFill>
                  <a:schemeClr val="hlink"/>
                </a:solidFill>
                <a:hlinkClick r:id="rId4"/>
              </a:rPr>
              <a:t>https://arxiv.org/abs/2410.13947</a:t>
            </a:r>
            <a:r>
              <a:rPr lang="en"/>
              <a:t> (MACK)</a:t>
            </a:r>
            <a:endParaRPr/>
          </a:p>
          <a:p>
            <a:pPr marL="0" lvl="0" indent="0" algn="l" rtl="0">
              <a:spcBef>
                <a:spcPts val="1200"/>
              </a:spcBef>
              <a:spcAft>
                <a:spcPts val="1200"/>
              </a:spcAft>
              <a:buNone/>
            </a:pPr>
            <a:r>
              <a:rPr lang="en"/>
              <a:t>Contact: Dylan Rankin (UPenn) [</a:t>
            </a:r>
            <a:r>
              <a:rPr lang="en" u="sng">
                <a:solidFill>
                  <a:schemeClr val="hlink"/>
                </a:solidFill>
                <a:hlinkClick r:id="rId5"/>
              </a:rPr>
              <a:t>dsrankin@sas.upenn.edu</a:t>
            </a:r>
            <a:r>
              <a:rPr lang="en"/>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9"/>
          <p:cNvSpPr txBox="1"/>
          <p:nvPr/>
        </p:nvSpPr>
        <p:spPr>
          <a:xfrm>
            <a:off x="309175" y="0"/>
            <a:ext cx="8628600" cy="181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000"/>
              </a:spcBef>
              <a:spcAft>
                <a:spcPts val="0"/>
              </a:spcAft>
              <a:buClr>
                <a:schemeClr val="dk1"/>
              </a:buClr>
              <a:buSzPts val="1100"/>
              <a:buFont typeface="Arial"/>
              <a:buNone/>
            </a:pPr>
            <a:r>
              <a:rPr lang="en" sz="2000" b="1">
                <a:solidFill>
                  <a:schemeClr val="dk1"/>
                </a:solidFill>
              </a:rPr>
              <a:t>Foundation Model Event Reconstruction in ATLAS and Future Colliders: A Unified Framework for 5D Calorimetry, Timing, and Tracking</a:t>
            </a:r>
            <a:endParaRPr sz="2000">
              <a:solidFill>
                <a:schemeClr val="dk1"/>
              </a:solidFill>
            </a:endParaRPr>
          </a:p>
          <a:p>
            <a:pPr marL="0" lvl="0" indent="0" algn="l" rtl="0">
              <a:lnSpc>
                <a:spcPct val="115000"/>
              </a:lnSpc>
              <a:spcBef>
                <a:spcPts val="2000"/>
              </a:spcBef>
              <a:spcAft>
                <a:spcPts val="600"/>
              </a:spcAft>
              <a:buNone/>
            </a:pPr>
            <a:endParaRPr sz="2000" b="1">
              <a:solidFill>
                <a:schemeClr val="dk1"/>
              </a:solidFill>
            </a:endParaRPr>
          </a:p>
        </p:txBody>
      </p:sp>
      <p:sp>
        <p:nvSpPr>
          <p:cNvPr id="198" name="Google Shape;198;p29"/>
          <p:cNvSpPr txBox="1"/>
          <p:nvPr/>
        </p:nvSpPr>
        <p:spPr>
          <a:xfrm>
            <a:off x="149900" y="852568"/>
            <a:ext cx="8844300" cy="2957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High-luminosity operation of the LHC will require a qualitatively new approach to event reconstruction capable of resolving the complex, overlapping particle interactions present in high pileup environments. In ATLAS Run 4, precise timing information from the High Granularity Timing Detector (HGTD), combined with calorimeter and tracking measurements, provides a unique opportunity to extend reconstruction into the time domain and enable a full “5D” description of events. </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We propose a foundation model framework for ATLAS reconstruction that combines LAr calorimeter timing, HGTD, and tracking to improve jet energy resolution, vertex time, pileup mitigation, and particle flow object reconstruction at HL-LHC.</a:t>
            </a:r>
            <a:endParaRPr sz="1100">
              <a:solidFill>
                <a:schemeClr val="dk1"/>
              </a:solidFill>
            </a:endParaRPr>
          </a:p>
          <a:p>
            <a:pPr marL="0" lvl="0" indent="0" algn="l" rtl="0">
              <a:lnSpc>
                <a:spcPct val="115000"/>
              </a:lnSpc>
              <a:spcBef>
                <a:spcPts val="1200"/>
              </a:spcBef>
              <a:spcAft>
                <a:spcPts val="1200"/>
              </a:spcAft>
              <a:buNone/>
            </a:pPr>
            <a:r>
              <a:rPr lang="en" sz="1100">
                <a:solidFill>
                  <a:schemeClr val="dk1"/>
                </a:solidFill>
              </a:rPr>
              <a:t>A key feature of this approach is that it provides a direct bridge to next-generation calorimetry concepts based on </a:t>
            </a:r>
            <a:r>
              <a:rPr lang="en" sz="1100" b="1">
                <a:solidFill>
                  <a:schemeClr val="dk1"/>
                </a:solidFill>
              </a:rPr>
              <a:t>digital, single-photon readout</a:t>
            </a:r>
            <a:r>
              <a:rPr lang="en" sz="1100">
                <a:solidFill>
                  <a:schemeClr val="dk1"/>
                </a:solidFill>
              </a:rPr>
              <a:t>, where the detector output is intrinsically discrete and can be naturally interpreted as a sequence of tokens. In this sense, ATLAS serves as a testbed for a broader paradigm in which detector design, data representation, and AI are co-optimized. This connection establishes continuity between Run 3/4 reconstruction challenges and the development of future 5D calorimeters for HL-LHC upgrades and future collider experiments.</a:t>
            </a:r>
            <a:endParaRPr sz="1100">
              <a:solidFill>
                <a:schemeClr val="dk2"/>
              </a:solidFill>
            </a:endParaRPr>
          </a:p>
        </p:txBody>
      </p:sp>
      <p:sp>
        <p:nvSpPr>
          <p:cNvPr id="199" name="Google Shape;199;p29"/>
          <p:cNvSpPr txBox="1"/>
          <p:nvPr/>
        </p:nvSpPr>
        <p:spPr>
          <a:xfrm>
            <a:off x="4083625" y="810025"/>
            <a:ext cx="50058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rPr>
              <a:t>Ariel Schwartzman (SLAC) [sch@slac.stanford.edu]</a:t>
            </a:r>
            <a:endParaRPr sz="1300" b="1">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0" y="0"/>
            <a:ext cx="9144000" cy="477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700" b="1">
                <a:solidFill>
                  <a:schemeClr val="dk1"/>
                </a:solidFill>
              </a:rPr>
              <a:t>Event-Level Reconstruction at HL-LHC: A Foundation Model Framework for Multi-Vertex Inference, Panoptic Tagging, and Timing</a:t>
            </a:r>
            <a:endParaRPr sz="1700" b="1">
              <a:solidFill>
                <a:schemeClr val="dk1"/>
              </a:solidFill>
            </a:endParaRPr>
          </a:p>
          <a:p>
            <a:pPr marL="0" lvl="0" indent="0" algn="l" rtl="0">
              <a:lnSpc>
                <a:spcPct val="115000"/>
              </a:lnSpc>
              <a:spcBef>
                <a:spcPts val="400"/>
              </a:spcBef>
              <a:spcAft>
                <a:spcPts val="0"/>
              </a:spcAft>
              <a:buNone/>
            </a:pP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The High-Luminosity LHC (HL-LHC) will operate in a regime where each recorded event contains hundreds of overlapping proton-proton interactions. In this environment, the traditional paradigm of event reconstruction—based on identifying a single primary vertex, processing jets independently, and combining sub-detector information through sequential algorithms—reaches its fundamental limits. Multiple hard-scatter interactions may coexist within the same event, correlations across jets become essential for correct flavor assignment, and precise timing information introduces an additional dimension that cannot be treated independently. These challenges indicate that HL-LHC reconstruction is no longer an object-level problem, but an inherently </a:t>
            </a:r>
            <a:r>
              <a:rPr lang="en" sz="1100" b="1">
                <a:solidFill>
                  <a:schemeClr val="dk1"/>
                </a:solidFill>
              </a:rPr>
              <a:t>event-level inference problem</a:t>
            </a:r>
            <a:r>
              <a:rPr lang="en" sz="1100">
                <a:solidFill>
                  <a:schemeClr val="dk1"/>
                </a:solidFill>
              </a:rPr>
              <a:t>. Scaling the existing paradigm for event reconstruction to large models will not address these fundamental limitations. We propose a new class of foundation model event-level inference that enables multi-vertex reconstruction, panoptic jet tagging, and optimal timing integration.</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This paradigm is motivated by several concrete limitations of current approaches. First, the assumption of a single primary vertex breaks down at high luminosity; recent studies show that multiple vertices may be relevant for a given physics process, requiring a shift toward </a:t>
            </a:r>
            <a:r>
              <a:rPr lang="en" sz="1100" b="1">
                <a:solidFill>
                  <a:schemeClr val="dk1"/>
                </a:solidFill>
              </a:rPr>
              <a:t>multi-vertex inference</a:t>
            </a:r>
            <a:r>
              <a:rPr lang="en" sz="1100">
                <a:solidFill>
                  <a:schemeClr val="dk1"/>
                </a:solidFill>
              </a:rPr>
              <a:t> rather than vertex selection. Second, jet tagging methods based on independent jet processing fail to capture correlations between nearby jets, particularly in dense environments with heavy flavor; this motivates a </a:t>
            </a:r>
            <a:r>
              <a:rPr lang="en" sz="1100" b="1">
                <a:solidFill>
                  <a:schemeClr val="dk1"/>
                </a:solidFill>
              </a:rPr>
              <a:t>panoptic tagging (PanopTag)</a:t>
            </a:r>
            <a:r>
              <a:rPr lang="en" sz="1100">
                <a:solidFill>
                  <a:schemeClr val="dk1"/>
                </a:solidFill>
              </a:rPr>
              <a:t> approach in which all jets in the event are classified simultaneously. Third, the integration of precision timing information—essential for resolving pileup and determining vertex time (t₀)—requires the coherent combination of calorimeter, tracking, and timing measurements within a unified framework.</a:t>
            </a:r>
            <a:endParaRPr sz="1100">
              <a:solidFill>
                <a:schemeClr val="dk1"/>
              </a:solidFill>
            </a:endParaRPr>
          </a:p>
          <a:p>
            <a:pPr marL="0" lvl="0" indent="0" algn="l" rtl="0">
              <a:lnSpc>
                <a:spcPct val="115000"/>
              </a:lnSpc>
              <a:spcBef>
                <a:spcPts val="1200"/>
              </a:spcBef>
              <a:spcAft>
                <a:spcPts val="1200"/>
              </a:spcAft>
              <a:buNone/>
            </a:pPr>
            <a:r>
              <a:rPr lang="en" sz="1100">
                <a:solidFill>
                  <a:schemeClr val="dk1"/>
                </a:solidFill>
              </a:rPr>
              <a:t>A common feature of these challenges is that they cannot be solved by scaling existing object-based algorithms. In particular, improving single-jet tagging will not recover the information lost by ignoring inter-jet correlations, and selecting a single “best” vertex will fail in events with multiple relevant interactions. These are not incremental limitations, but indicators of a </a:t>
            </a:r>
            <a:r>
              <a:rPr lang="en" sz="1100" b="1">
                <a:solidFill>
                  <a:schemeClr val="dk1"/>
                </a:solidFill>
              </a:rPr>
              <a:t>breakdown of the current reconstruction paradigm</a:t>
            </a:r>
            <a:r>
              <a:rPr lang="en" sz="1100">
                <a:solidFill>
                  <a:schemeClr val="dk1"/>
                </a:solidFill>
              </a:rPr>
              <a:t>.</a:t>
            </a:r>
            <a:endParaRPr sz="1100">
              <a:solidFill>
                <a:schemeClr val="dk1"/>
              </a:solidFill>
            </a:endParaRPr>
          </a:p>
        </p:txBody>
      </p:sp>
      <p:sp>
        <p:nvSpPr>
          <p:cNvPr id="205" name="Google Shape;205;p30"/>
          <p:cNvSpPr txBox="1"/>
          <p:nvPr/>
        </p:nvSpPr>
        <p:spPr>
          <a:xfrm>
            <a:off x="6725050" y="473650"/>
            <a:ext cx="1838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rgbClr val="FF0000"/>
                </a:solidFill>
              </a:rPr>
              <a:t>Ariel Schwartzman (SLAC)</a:t>
            </a:r>
            <a:endParaRPr sz="1000" b="1">
              <a:solidFill>
                <a:srgbClr val="FF0000"/>
              </a:solidFill>
            </a:endParaRPr>
          </a:p>
          <a:p>
            <a:pPr marL="0" lvl="0" indent="0" algn="l" rtl="0">
              <a:spcBef>
                <a:spcPts val="0"/>
              </a:spcBef>
              <a:spcAft>
                <a:spcPts val="0"/>
              </a:spcAft>
              <a:buNone/>
            </a:pPr>
            <a:r>
              <a:rPr lang="en" sz="1000" b="1">
                <a:solidFill>
                  <a:srgbClr val="FF0000"/>
                </a:solidFill>
              </a:rPr>
              <a:t>sch@slac.stanford.edu </a:t>
            </a:r>
            <a:endParaRPr sz="1000" b="1">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Improved datasets for ML research</a:t>
            </a:r>
            <a:endParaRPr/>
          </a:p>
        </p:txBody>
      </p:sp>
      <p:sp>
        <p:nvSpPr>
          <p:cNvPr id="211" name="Google Shape;211;p31"/>
          <p:cNvSpPr txBox="1">
            <a:spLocks noGrp="1"/>
          </p:cNvSpPr>
          <p:nvPr>
            <p:ph type="body" idx="1"/>
          </p:nvPr>
        </p:nvSpPr>
        <p:spPr>
          <a:xfrm>
            <a:off x="311700" y="1512050"/>
            <a:ext cx="8520600" cy="305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a:t>(This is in the context of a request from UMass to prepare a proposal for Genesis)</a:t>
            </a:r>
            <a:endParaRPr sz="1500"/>
          </a:p>
          <a:p>
            <a:pPr marL="0" lvl="0" indent="0" algn="l" rtl="0">
              <a:spcBef>
                <a:spcPts val="1200"/>
              </a:spcBef>
              <a:spcAft>
                <a:spcPts val="0"/>
              </a:spcAft>
              <a:buNone/>
            </a:pPr>
            <a:r>
              <a:rPr lang="en"/>
              <a:t>The idea is to leverage the work already happening within NGT, plus new efforts to create ML-friendly datasets from ACTS, to help produce a petabyte scale resource suitable for use with ML research (including foundational models). Since ACTS is is also used on ePIC, this effort would not be ATLAS-specific.</a:t>
            </a:r>
            <a:endParaRPr/>
          </a:p>
          <a:p>
            <a:pPr marL="0" lvl="0" indent="0" algn="l" rtl="0">
              <a:spcBef>
                <a:spcPts val="1200"/>
              </a:spcBef>
              <a:spcAft>
                <a:spcPts val="0"/>
              </a:spcAft>
              <a:buNone/>
            </a:pPr>
            <a:r>
              <a:rPr lang="en" b="1"/>
              <a:t>PI</a:t>
            </a:r>
            <a:r>
              <a:rPr lang="en"/>
              <a:t>: Stephane Willocq willocq@umass.edu </a:t>
            </a:r>
            <a:endParaRPr/>
          </a:p>
          <a:p>
            <a:pPr marL="0" lvl="0" indent="0" algn="l" rtl="0">
              <a:spcBef>
                <a:spcPts val="1200"/>
              </a:spcBef>
              <a:spcAft>
                <a:spcPts val="1200"/>
              </a:spcAft>
              <a:buNone/>
            </a:pPr>
            <a:r>
              <a:rPr lang="en" b="1"/>
              <a:t>Associated lab</a:t>
            </a:r>
            <a:r>
              <a:rPr lang="en"/>
              <a:t>: LBL</a:t>
            </a:r>
            <a:endParaRPr/>
          </a:p>
        </p:txBody>
      </p:sp>
      <p:sp>
        <p:nvSpPr>
          <p:cNvPr id="212" name="Google Shape;212;p31"/>
          <p:cNvSpPr txBox="1"/>
          <p:nvPr/>
        </p:nvSpPr>
        <p:spPr>
          <a:xfrm>
            <a:off x="311700" y="1017725"/>
            <a:ext cx="7753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Genesis FY26 Phase 1 | Topic 14/A (Foundation Models)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218" name="Google Shape;218;p32" title="Screenshot 2026-03-25 at 8.24.46 AM.png"/>
          <p:cNvPicPr preferRelativeResize="0"/>
          <p:nvPr/>
        </p:nvPicPr>
        <p:blipFill>
          <a:blip r:embed="rId3">
            <a:alphaModFix/>
          </a:blip>
          <a:stretch>
            <a:fillRect/>
          </a:stretch>
        </p:blipFill>
        <p:spPr>
          <a:xfrm>
            <a:off x="0" y="586412"/>
            <a:ext cx="9144003" cy="39245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622"/>
        </a:solidFill>
        <a:effectLst/>
      </p:bgPr>
    </p:bg>
    <p:spTree>
      <p:nvGrpSpPr>
        <p:cNvPr id="1" name="Shape 223"/>
        <p:cNvGrpSpPr/>
        <p:nvPr/>
      </p:nvGrpSpPr>
      <p:grpSpPr>
        <a:xfrm>
          <a:off x="0" y="0"/>
          <a:ext cx="0" cy="0"/>
          <a:chOff x="0" y="0"/>
          <a:chExt cx="0" cy="0"/>
        </a:xfrm>
      </p:grpSpPr>
      <p:sp>
        <p:nvSpPr>
          <p:cNvPr id="224" name="Google Shape;224;p33"/>
          <p:cNvSpPr/>
          <p:nvPr/>
        </p:nvSpPr>
        <p:spPr>
          <a:xfrm>
            <a:off x="0" y="0"/>
            <a:ext cx="9144000" cy="804600"/>
          </a:xfrm>
          <a:prstGeom prst="rect">
            <a:avLst/>
          </a:prstGeom>
          <a:solidFill>
            <a:srgbClr val="132035"/>
          </a:solidFill>
          <a:ln w="12700" cap="flat" cmpd="sng">
            <a:solidFill>
              <a:srgbClr val="13203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3"/>
          <p:cNvSpPr/>
          <p:nvPr/>
        </p:nvSpPr>
        <p:spPr>
          <a:xfrm>
            <a:off x="0" y="0"/>
            <a:ext cx="63900" cy="804600"/>
          </a:xfrm>
          <a:prstGeom prst="rect">
            <a:avLst/>
          </a:prstGeom>
          <a:solidFill>
            <a:srgbClr val="4FC3F7"/>
          </a:solidFill>
          <a:ln w="12700" cap="flat" cmpd="sng">
            <a:solidFill>
              <a:srgbClr val="4FC3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3"/>
          <p:cNvSpPr/>
          <p:nvPr/>
        </p:nvSpPr>
        <p:spPr>
          <a:xfrm>
            <a:off x="182880" y="0"/>
            <a:ext cx="2377500" cy="804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Arial Black"/>
              <a:buNone/>
            </a:pPr>
            <a:r>
              <a:rPr lang="en" sz="3800" b="1" i="0" u="none" strike="noStrike" cap="none">
                <a:solidFill>
                  <a:srgbClr val="FFFFFF"/>
                </a:solidFill>
                <a:latin typeface="Arial Black"/>
                <a:ea typeface="Arial Black"/>
                <a:cs typeface="Arial Black"/>
                <a:sym typeface="Arial Black"/>
              </a:rPr>
              <a:t>ELWOOD</a:t>
            </a:r>
            <a:endParaRPr sz="3800" b="0" i="0" u="none" strike="noStrike" cap="none">
              <a:solidFill>
                <a:schemeClr val="dk1"/>
              </a:solidFill>
              <a:latin typeface="Calibri"/>
              <a:ea typeface="Calibri"/>
              <a:cs typeface="Calibri"/>
              <a:sym typeface="Calibri"/>
            </a:endParaRPr>
          </a:p>
        </p:txBody>
      </p:sp>
      <p:sp>
        <p:nvSpPr>
          <p:cNvPr id="227" name="Google Shape;227;p33"/>
          <p:cNvSpPr/>
          <p:nvPr/>
        </p:nvSpPr>
        <p:spPr>
          <a:xfrm>
            <a:off x="2606040" y="0"/>
            <a:ext cx="4297800" cy="804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0CAF9"/>
              </a:buClr>
              <a:buSzPts val="1250"/>
              <a:buFont typeface="Arial"/>
              <a:buNone/>
            </a:pPr>
            <a:r>
              <a:rPr lang="en" sz="1250" b="0" i="1" u="none" strike="noStrike" cap="none">
                <a:solidFill>
                  <a:srgbClr val="90CAF9"/>
                </a:solidFill>
                <a:latin typeface="Arial"/>
                <a:ea typeface="Arial"/>
                <a:cs typeface="Arial"/>
                <a:sym typeface="Arial"/>
              </a:rPr>
              <a:t>Production-Scale Agentic Analysis Infrastructure  ·  DOE Experimental Portfolio</a:t>
            </a:r>
            <a:endParaRPr sz="1250" b="0" i="0" u="none" strike="noStrike" cap="none">
              <a:solidFill>
                <a:schemeClr val="dk1"/>
              </a:solidFill>
              <a:latin typeface="Calibri"/>
              <a:ea typeface="Calibri"/>
              <a:cs typeface="Calibri"/>
              <a:sym typeface="Calibri"/>
            </a:endParaRPr>
          </a:p>
        </p:txBody>
      </p:sp>
      <p:sp>
        <p:nvSpPr>
          <p:cNvPr id="228" name="Google Shape;228;p33"/>
          <p:cNvSpPr/>
          <p:nvPr/>
        </p:nvSpPr>
        <p:spPr>
          <a:xfrm>
            <a:off x="6949440" y="0"/>
            <a:ext cx="2148900" cy="804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BA7BC"/>
              </a:buClr>
              <a:buSzPts val="850"/>
              <a:buFont typeface="Arial"/>
              <a:buNone/>
            </a:pPr>
            <a:r>
              <a:rPr lang="en" sz="850" b="0" i="0" u="none" strike="noStrike" cap="none">
                <a:solidFill>
                  <a:srgbClr val="7BA7BC"/>
                </a:solidFill>
                <a:latin typeface="Arial"/>
                <a:ea typeface="Arial"/>
                <a:cs typeface="Arial"/>
                <a:sym typeface="Arial"/>
              </a:rPr>
              <a:t>DOE Genesis Phase 1  ·  Q2C Lighthouse</a:t>
            </a:r>
            <a:endParaRPr sz="850" b="0" i="0" u="none" strike="noStrike" cap="none">
              <a:solidFill>
                <a:schemeClr val="dk1"/>
              </a:solidFill>
              <a:latin typeface="Calibri"/>
              <a:ea typeface="Calibri"/>
              <a:cs typeface="Calibri"/>
              <a:sym typeface="Calibri"/>
            </a:endParaRPr>
          </a:p>
          <a:p>
            <a:pPr marL="0" marR="0" lvl="0" indent="0" algn="r" rtl="0">
              <a:spcBef>
                <a:spcPts val="0"/>
              </a:spcBef>
              <a:spcAft>
                <a:spcPts val="0"/>
              </a:spcAft>
              <a:buClr>
                <a:srgbClr val="7BA7BC"/>
              </a:buClr>
              <a:buSzPts val="850"/>
              <a:buFont typeface="Arial"/>
              <a:buNone/>
            </a:pPr>
            <a:r>
              <a:rPr lang="en" sz="850" b="0" i="0" u="none" strike="noStrike" cap="none">
                <a:solidFill>
                  <a:srgbClr val="7BA7BC"/>
                </a:solidFill>
                <a:latin typeface="Arial"/>
                <a:ea typeface="Arial"/>
                <a:cs typeface="Arial"/>
                <a:sym typeface="Arial"/>
              </a:rPr>
              <a:t>March 2026  ·  Rob Gardner &amp; Giordon Stark</a:t>
            </a:r>
            <a:br>
              <a:rPr lang="en" sz="850" b="0" i="0" u="none" strike="noStrike" cap="none">
                <a:solidFill>
                  <a:srgbClr val="7BA7BC"/>
                </a:solidFill>
                <a:latin typeface="Arial"/>
                <a:ea typeface="Arial"/>
                <a:cs typeface="Arial"/>
                <a:sym typeface="Arial"/>
              </a:rPr>
            </a:br>
            <a:r>
              <a:rPr lang="en" sz="850" b="0" i="0" u="none" strike="noStrike" cap="none">
                <a:solidFill>
                  <a:srgbClr val="7BA7BC"/>
                </a:solidFill>
                <a:latin typeface="Arial"/>
                <a:ea typeface="Arial"/>
                <a:cs typeface="Arial"/>
                <a:sym typeface="Arial"/>
              </a:rPr>
              <a:t>Ilija  Vukotic</a:t>
            </a:r>
            <a:endParaRPr sz="850" b="0" i="0" u="none" strike="noStrike" cap="none">
              <a:solidFill>
                <a:schemeClr val="dk1"/>
              </a:solidFill>
              <a:latin typeface="Calibri"/>
              <a:ea typeface="Calibri"/>
              <a:cs typeface="Calibri"/>
              <a:sym typeface="Calibri"/>
            </a:endParaRPr>
          </a:p>
        </p:txBody>
      </p:sp>
      <p:pic>
        <p:nvPicPr>
          <p:cNvPr id="229" name="Google Shape;229;p33" descr="Elwood architecture diagram"/>
          <p:cNvPicPr preferRelativeResize="0"/>
          <p:nvPr/>
        </p:nvPicPr>
        <p:blipFill rotWithShape="1">
          <a:blip r:embed="rId3">
            <a:alphaModFix/>
          </a:blip>
          <a:srcRect/>
          <a:stretch/>
        </p:blipFill>
        <p:spPr>
          <a:xfrm>
            <a:off x="164592" y="877824"/>
            <a:ext cx="4224528" cy="3227833"/>
          </a:xfrm>
          <a:prstGeom prst="rect">
            <a:avLst/>
          </a:prstGeom>
          <a:noFill/>
          <a:ln>
            <a:noFill/>
          </a:ln>
        </p:spPr>
      </p:pic>
      <p:sp>
        <p:nvSpPr>
          <p:cNvPr id="230" name="Google Shape;230;p33"/>
          <p:cNvSpPr/>
          <p:nvPr/>
        </p:nvSpPr>
        <p:spPr>
          <a:xfrm>
            <a:off x="164592" y="4142232"/>
            <a:ext cx="42246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46E7A"/>
              </a:buClr>
              <a:buSzPts val="800"/>
              <a:buFont typeface="Arial"/>
              <a:buNone/>
            </a:pPr>
            <a:r>
              <a:rPr lang="en" sz="800" b="0" i="1" u="none" strike="noStrike" cap="none">
                <a:solidFill>
                  <a:schemeClr val="lt1"/>
                </a:solidFill>
                <a:latin typeface="Arial"/>
                <a:ea typeface="Arial"/>
                <a:cs typeface="Arial"/>
                <a:sym typeface="Arial"/>
              </a:rPr>
              <a:t>Fig. 1 — Codec (Claude) and ARDE are universal; Codebook is swappable per experiment and facility.</a:t>
            </a:r>
            <a:endParaRPr sz="800" b="0" i="0" u="none" strike="noStrike" cap="none">
              <a:solidFill>
                <a:schemeClr val="lt1"/>
              </a:solidFill>
              <a:latin typeface="Calibri"/>
              <a:ea typeface="Calibri"/>
              <a:cs typeface="Calibri"/>
              <a:sym typeface="Calibri"/>
            </a:endParaRPr>
          </a:p>
        </p:txBody>
      </p:sp>
      <p:sp>
        <p:nvSpPr>
          <p:cNvPr id="231" name="Google Shape;231;p33"/>
          <p:cNvSpPr/>
          <p:nvPr/>
        </p:nvSpPr>
        <p:spPr>
          <a:xfrm>
            <a:off x="4572000" y="877824"/>
            <a:ext cx="4407300" cy="960000"/>
          </a:xfrm>
          <a:prstGeom prst="rect">
            <a:avLst/>
          </a:prstGeom>
          <a:solidFill>
            <a:srgbClr val="0D2E4A"/>
          </a:solidFill>
          <a:ln w="19050" cap="flat" cmpd="sng">
            <a:solidFill>
              <a:srgbClr val="1565C0"/>
            </a:solidFill>
            <a:prstDash val="solid"/>
            <a:round/>
            <a:headEnd type="none" w="sm" len="sm"/>
            <a:tailEnd type="none" w="sm" len="sm"/>
          </a:ln>
          <a:effectLst>
            <a:outerShdw blurRad="63500" dist="25400" dir="8100000" algn="bl" rotWithShape="0">
              <a:srgbClr val="000000">
                <a:alpha val="2509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3"/>
          <p:cNvSpPr/>
          <p:nvPr/>
        </p:nvSpPr>
        <p:spPr>
          <a:xfrm>
            <a:off x="4572000" y="877824"/>
            <a:ext cx="54900" cy="960000"/>
          </a:xfrm>
          <a:prstGeom prst="rect">
            <a:avLst/>
          </a:prstGeom>
          <a:solidFill>
            <a:srgbClr val="4FC3F7"/>
          </a:solidFill>
          <a:ln w="12700" cap="flat" cmpd="sng">
            <a:solidFill>
              <a:srgbClr val="4FC3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3"/>
          <p:cNvSpPr/>
          <p:nvPr/>
        </p:nvSpPr>
        <p:spPr>
          <a:xfrm>
            <a:off x="4709160" y="877824"/>
            <a:ext cx="42246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FC3F7"/>
              </a:buClr>
              <a:buSzPts val="1300"/>
              <a:buFont typeface="Arial"/>
              <a:buNone/>
            </a:pPr>
            <a:r>
              <a:rPr lang="en" sz="1300" b="1" i="0" u="none" strike="noStrike" cap="none">
                <a:solidFill>
                  <a:srgbClr val="4FC3F7"/>
                </a:solidFill>
                <a:latin typeface="Arial"/>
                <a:ea typeface="Arial"/>
                <a:cs typeface="Arial"/>
                <a:sym typeface="Arial"/>
              </a:rPr>
              <a:t>Infrastructure at Production Scale</a:t>
            </a:r>
            <a:endParaRPr sz="1300" b="0" i="0" u="none" strike="noStrike" cap="none">
              <a:solidFill>
                <a:schemeClr val="dk1"/>
              </a:solidFill>
              <a:latin typeface="Calibri"/>
              <a:ea typeface="Calibri"/>
              <a:cs typeface="Calibri"/>
              <a:sym typeface="Calibri"/>
            </a:endParaRPr>
          </a:p>
        </p:txBody>
      </p:sp>
      <p:sp>
        <p:nvSpPr>
          <p:cNvPr id="234" name="Google Shape;234;p33"/>
          <p:cNvSpPr/>
          <p:nvPr/>
        </p:nvSpPr>
        <p:spPr>
          <a:xfrm>
            <a:off x="4709160" y="1188720"/>
            <a:ext cx="4206300" cy="594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3F2FD"/>
              </a:buClr>
              <a:buSzPts val="1050"/>
              <a:buFont typeface="Arial"/>
              <a:buNone/>
            </a:pPr>
            <a:r>
              <a:rPr lang="en" sz="1050" b="1" i="0" u="none" strike="noStrike" cap="none">
                <a:solidFill>
                  <a:srgbClr val="E3F2FD"/>
                </a:solidFill>
                <a:latin typeface="Arial"/>
                <a:ea typeface="Arial"/>
                <a:cs typeface="Arial"/>
                <a:sym typeface="Arial"/>
              </a:rPr>
              <a:t>500+ active ATLAS physicists  ·  </a:t>
            </a:r>
            <a:r>
              <a:rPr lang="en" sz="1050" b="0" i="0" u="none" strike="noStrike" cap="none">
                <a:solidFill>
                  <a:srgbClr val="90CAF9"/>
                </a:solidFill>
                <a:latin typeface="Arial"/>
                <a:ea typeface="Arial"/>
                <a:cs typeface="Arial"/>
                <a:sym typeface="Arial"/>
              </a:rPr>
              <a:t>petabyte-scale Ceph storage  ·  HTCondor / ServiceY / Rucio</a:t>
            </a:r>
            <a:br>
              <a:rPr lang="en" sz="1050" b="0" i="0" u="none" strike="noStrike" cap="none">
                <a:solidFill>
                  <a:srgbClr val="90CAF9"/>
                </a:solidFill>
                <a:latin typeface="Arial"/>
                <a:ea typeface="Arial"/>
                <a:cs typeface="Arial"/>
                <a:sym typeface="Arial"/>
              </a:rPr>
            </a:br>
            <a:r>
              <a:rPr lang="en" sz="1050" b="1" i="0" u="none" strike="noStrike" cap="none">
                <a:solidFill>
                  <a:srgbClr val="EF9A9A"/>
                </a:solidFill>
                <a:latin typeface="Arial"/>
                <a:ea typeface="Arial"/>
                <a:cs typeface="Arial"/>
                <a:sym typeface="Arial"/>
              </a:rPr>
              <a:t>NOT</a:t>
            </a:r>
            <a:r>
              <a:rPr lang="en" sz="1050" b="0" i="0" u="none" strike="noStrike" cap="none">
                <a:solidFill>
                  <a:srgbClr val="90CAF9"/>
                </a:solidFill>
                <a:latin typeface="Arial"/>
                <a:ea typeface="Arial"/>
                <a:cs typeface="Arial"/>
                <a:sym typeface="Arial"/>
              </a:rPr>
              <a:t> a laptop demo — a </a:t>
            </a:r>
            <a:r>
              <a:rPr lang="en" sz="1050" b="1" i="1" u="none" strike="noStrike" cap="none">
                <a:solidFill>
                  <a:srgbClr val="E3F2FD"/>
                </a:solidFill>
                <a:latin typeface="Arial"/>
                <a:ea typeface="Arial"/>
                <a:cs typeface="Arial"/>
                <a:sym typeface="Arial"/>
              </a:rPr>
              <a:t>standing facility service</a:t>
            </a:r>
            <a:r>
              <a:rPr lang="en" sz="1050" b="0" i="0" u="none" strike="noStrike" cap="none">
                <a:solidFill>
                  <a:srgbClr val="90CAF9"/>
                </a:solidFill>
                <a:latin typeface="Arial"/>
                <a:ea typeface="Arial"/>
                <a:cs typeface="Arial"/>
                <a:sym typeface="Arial"/>
              </a:rPr>
              <a:t> with live user feedback</a:t>
            </a:r>
            <a:endParaRPr sz="1050" b="0" i="0" u="none" strike="noStrike" cap="none">
              <a:solidFill>
                <a:schemeClr val="dk1"/>
              </a:solidFill>
              <a:latin typeface="Calibri"/>
              <a:ea typeface="Calibri"/>
              <a:cs typeface="Calibri"/>
              <a:sym typeface="Calibri"/>
            </a:endParaRPr>
          </a:p>
        </p:txBody>
      </p:sp>
      <p:sp>
        <p:nvSpPr>
          <p:cNvPr id="235" name="Google Shape;235;p33"/>
          <p:cNvSpPr/>
          <p:nvPr/>
        </p:nvSpPr>
        <p:spPr>
          <a:xfrm>
            <a:off x="4572000" y="1920240"/>
            <a:ext cx="4407300" cy="960000"/>
          </a:xfrm>
          <a:prstGeom prst="rect">
            <a:avLst/>
          </a:prstGeom>
          <a:solidFill>
            <a:srgbClr val="1A1400"/>
          </a:solidFill>
          <a:ln w="19050" cap="flat" cmpd="sng">
            <a:solidFill>
              <a:srgbClr val="E65100"/>
            </a:solidFill>
            <a:prstDash val="solid"/>
            <a:round/>
            <a:headEnd type="none" w="sm" len="sm"/>
            <a:tailEnd type="none" w="sm" len="sm"/>
          </a:ln>
          <a:effectLst>
            <a:outerShdw blurRad="63500" dist="25400" dir="8100000" algn="bl" rotWithShape="0">
              <a:srgbClr val="000000">
                <a:alpha val="2509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3"/>
          <p:cNvSpPr/>
          <p:nvPr/>
        </p:nvSpPr>
        <p:spPr>
          <a:xfrm>
            <a:off x="4572000" y="1920240"/>
            <a:ext cx="54900" cy="960000"/>
          </a:xfrm>
          <a:prstGeom prst="rect">
            <a:avLst/>
          </a:prstGeom>
          <a:solidFill>
            <a:srgbClr val="FFB74D"/>
          </a:solidFill>
          <a:ln w="12700" cap="flat" cmpd="sng">
            <a:solidFill>
              <a:srgbClr val="FFB7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3"/>
          <p:cNvSpPr/>
          <p:nvPr/>
        </p:nvSpPr>
        <p:spPr>
          <a:xfrm>
            <a:off x="4709160" y="1920240"/>
            <a:ext cx="42246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B74D"/>
              </a:buClr>
              <a:buSzPts val="1300"/>
              <a:buFont typeface="Arial"/>
              <a:buNone/>
            </a:pPr>
            <a:r>
              <a:rPr lang="en" sz="1300" b="1" i="0" u="none" strike="noStrike" cap="none">
                <a:solidFill>
                  <a:srgbClr val="FFB74D"/>
                </a:solidFill>
                <a:latin typeface="Arial"/>
                <a:ea typeface="Arial"/>
                <a:cs typeface="Arial"/>
                <a:sym typeface="Arial"/>
              </a:rPr>
              <a:t>Codec / Codebook Architecture</a:t>
            </a:r>
            <a:endParaRPr sz="1300" b="0" i="0" u="none" strike="noStrike" cap="none">
              <a:solidFill>
                <a:schemeClr val="dk1"/>
              </a:solidFill>
              <a:latin typeface="Calibri"/>
              <a:ea typeface="Calibri"/>
              <a:cs typeface="Calibri"/>
              <a:sym typeface="Calibri"/>
            </a:endParaRPr>
          </a:p>
        </p:txBody>
      </p:sp>
      <p:sp>
        <p:nvSpPr>
          <p:cNvPr id="238" name="Google Shape;238;p33"/>
          <p:cNvSpPr/>
          <p:nvPr/>
        </p:nvSpPr>
        <p:spPr>
          <a:xfrm>
            <a:off x="4709160" y="2231136"/>
            <a:ext cx="4206300" cy="594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EB3B"/>
              </a:buClr>
              <a:buSzPts val="1050"/>
              <a:buFont typeface="Arial"/>
              <a:buNone/>
            </a:pPr>
            <a:r>
              <a:rPr lang="en" sz="1050" b="1" i="0" u="none" strike="noStrike" cap="none">
                <a:solidFill>
                  <a:srgbClr val="FFEB3B"/>
                </a:solidFill>
                <a:latin typeface="Arial"/>
                <a:ea typeface="Arial"/>
                <a:cs typeface="Arial"/>
                <a:sym typeface="Arial"/>
              </a:rPr>
              <a:t>Codec</a:t>
            </a:r>
            <a:r>
              <a:rPr lang="en" sz="1050" b="0" i="0" u="none" strike="noStrike" cap="none">
                <a:solidFill>
                  <a:srgbClr val="FFE082"/>
                </a:solidFill>
                <a:latin typeface="Arial"/>
                <a:ea typeface="Arial"/>
                <a:cs typeface="Arial"/>
                <a:sym typeface="Arial"/>
              </a:rPr>
              <a:t>  = universal reasoning engine — experiment-agnostic, facility-agnostic</a:t>
            </a:r>
            <a:br>
              <a:rPr lang="en" sz="1050" b="0" i="0" u="none" strike="noStrike" cap="none">
                <a:solidFill>
                  <a:srgbClr val="FFE082"/>
                </a:solidFill>
                <a:latin typeface="Arial"/>
                <a:ea typeface="Arial"/>
                <a:cs typeface="Arial"/>
                <a:sym typeface="Arial"/>
              </a:rPr>
            </a:br>
            <a:r>
              <a:rPr lang="en" sz="1050" b="1" i="0" u="none" strike="noStrike" cap="none">
                <a:solidFill>
                  <a:srgbClr val="FFEB3B"/>
                </a:solidFill>
                <a:latin typeface="Arial"/>
                <a:ea typeface="Arial"/>
                <a:cs typeface="Arial"/>
                <a:sym typeface="Arial"/>
              </a:rPr>
              <a:t>Codebook</a:t>
            </a:r>
            <a:r>
              <a:rPr lang="en" sz="1050" b="0" i="0" u="none" strike="noStrike" cap="none">
                <a:solidFill>
                  <a:srgbClr val="FFE082"/>
                </a:solidFill>
                <a:latin typeface="Arial"/>
                <a:ea typeface="Arial"/>
                <a:cs typeface="Arial"/>
                <a:sym typeface="Arial"/>
              </a:rPr>
              <a:t> = swappable tool + knowledge layer  ·  </a:t>
            </a:r>
            <a:r>
              <a:rPr lang="en" sz="1050" b="0" i="1" u="none" strike="noStrike" cap="none">
                <a:solidFill>
                  <a:srgbClr val="FFCC80"/>
                </a:solidFill>
                <a:latin typeface="Arial"/>
                <a:ea typeface="Arial"/>
                <a:cs typeface="Arial"/>
                <a:sym typeface="Arial"/>
              </a:rPr>
              <a:t>ATLAS today → EIC / FCC tomorrow</a:t>
            </a:r>
            <a:endParaRPr sz="1050" b="0" i="0" u="none" strike="noStrike" cap="none">
              <a:solidFill>
                <a:schemeClr val="dk1"/>
              </a:solidFill>
              <a:latin typeface="Calibri"/>
              <a:ea typeface="Calibri"/>
              <a:cs typeface="Calibri"/>
              <a:sym typeface="Calibri"/>
            </a:endParaRPr>
          </a:p>
        </p:txBody>
      </p:sp>
      <p:sp>
        <p:nvSpPr>
          <p:cNvPr id="239" name="Google Shape;239;p33"/>
          <p:cNvSpPr/>
          <p:nvPr/>
        </p:nvSpPr>
        <p:spPr>
          <a:xfrm>
            <a:off x="4572000" y="2962656"/>
            <a:ext cx="4407300" cy="868800"/>
          </a:xfrm>
          <a:prstGeom prst="rect">
            <a:avLst/>
          </a:prstGeom>
          <a:solidFill>
            <a:srgbClr val="071A0F"/>
          </a:solidFill>
          <a:ln w="19050" cap="flat" cmpd="sng">
            <a:solidFill>
              <a:srgbClr val="2E7D32"/>
            </a:solidFill>
            <a:prstDash val="solid"/>
            <a:round/>
            <a:headEnd type="none" w="sm" len="sm"/>
            <a:tailEnd type="none" w="sm" len="sm"/>
          </a:ln>
          <a:effectLst>
            <a:outerShdw blurRad="63500" dist="25400" dir="8100000" algn="bl" rotWithShape="0">
              <a:srgbClr val="000000">
                <a:alpha val="2509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3"/>
          <p:cNvSpPr/>
          <p:nvPr/>
        </p:nvSpPr>
        <p:spPr>
          <a:xfrm>
            <a:off x="4572000" y="2962656"/>
            <a:ext cx="54900" cy="868800"/>
          </a:xfrm>
          <a:prstGeom prst="rect">
            <a:avLst/>
          </a:prstGeom>
          <a:solidFill>
            <a:srgbClr val="66BB6A"/>
          </a:solidFill>
          <a:ln w="12700" cap="flat" cmpd="sng">
            <a:solidFill>
              <a:srgbClr val="66BB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3"/>
          <p:cNvSpPr/>
          <p:nvPr/>
        </p:nvSpPr>
        <p:spPr>
          <a:xfrm>
            <a:off x="4709160" y="3038856"/>
            <a:ext cx="4224600" cy="310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6BB6A"/>
              </a:buClr>
              <a:buSzPts val="1250"/>
              <a:buFont typeface="Arial"/>
              <a:buNone/>
            </a:pPr>
            <a:r>
              <a:rPr lang="en" sz="1250" b="1" i="0" u="none" strike="noStrike" cap="none">
                <a:solidFill>
                  <a:srgbClr val="66BB6A"/>
                </a:solidFill>
                <a:latin typeface="Arial"/>
                <a:ea typeface="Arial"/>
                <a:cs typeface="Arial"/>
                <a:sym typeface="Arial"/>
              </a:rPr>
              <a:t>ARDE — AI-Ready Domain Expertise  (LBNL-led, coordinated)</a:t>
            </a:r>
            <a:endParaRPr sz="1250" b="0" i="0" u="none" strike="noStrike" cap="none">
              <a:solidFill>
                <a:schemeClr val="dk1"/>
              </a:solidFill>
              <a:latin typeface="Calibri"/>
              <a:ea typeface="Calibri"/>
              <a:cs typeface="Calibri"/>
              <a:sym typeface="Calibri"/>
            </a:endParaRPr>
          </a:p>
        </p:txBody>
      </p:sp>
      <p:sp>
        <p:nvSpPr>
          <p:cNvPr id="242" name="Google Shape;242;p33"/>
          <p:cNvSpPr/>
          <p:nvPr/>
        </p:nvSpPr>
        <p:spPr>
          <a:xfrm>
            <a:off x="4709150" y="3448536"/>
            <a:ext cx="4206300" cy="41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5D6A7"/>
              </a:buClr>
              <a:buSzPts val="1050"/>
              <a:buFont typeface="Arial"/>
              <a:buNone/>
            </a:pPr>
            <a:r>
              <a:rPr lang="en" sz="1050" b="0" i="0" u="none" strike="noStrike" cap="none">
                <a:solidFill>
                  <a:srgbClr val="A5D6A7"/>
                </a:solidFill>
                <a:latin typeface="Arial"/>
                <a:ea typeface="Arial"/>
                <a:cs typeface="Arial"/>
                <a:sym typeface="Arial"/>
              </a:rPr>
              <a:t>Procedural knowledge · decision logic · analysis patterns</a:t>
            </a:r>
            <a:r>
              <a:rPr lang="en" sz="1050" b="0" i="0" u="none" strike="noStrike" cap="none">
                <a:solidFill>
                  <a:srgbClr val="81C784"/>
                </a:solidFill>
                <a:latin typeface="Arial"/>
                <a:ea typeface="Arial"/>
                <a:cs typeface="Arial"/>
                <a:sym typeface="Arial"/>
              </a:rPr>
              <a:t>  feeds into the Codebook  ·  </a:t>
            </a:r>
            <a:r>
              <a:rPr lang="en" sz="1050" b="0" i="1" u="none" strike="noStrike" cap="none">
                <a:solidFill>
                  <a:srgbClr val="C8E6C9"/>
                </a:solidFill>
                <a:latin typeface="Arial"/>
                <a:ea typeface="Arial"/>
                <a:cs typeface="Arial"/>
                <a:sym typeface="Arial"/>
              </a:rPr>
              <a:t>live user corpus → continuous improvement</a:t>
            </a:r>
            <a:endParaRPr sz="1050" b="0" i="0" u="none" strike="noStrike" cap="none">
              <a:solidFill>
                <a:schemeClr val="dk1"/>
              </a:solidFill>
              <a:latin typeface="Calibri"/>
              <a:ea typeface="Calibri"/>
              <a:cs typeface="Calibri"/>
              <a:sym typeface="Calibri"/>
            </a:endParaRPr>
          </a:p>
        </p:txBody>
      </p:sp>
      <p:sp>
        <p:nvSpPr>
          <p:cNvPr id="243" name="Google Shape;243;p33"/>
          <p:cNvSpPr/>
          <p:nvPr/>
        </p:nvSpPr>
        <p:spPr>
          <a:xfrm>
            <a:off x="4572000" y="3913632"/>
            <a:ext cx="4407300" cy="1069800"/>
          </a:xfrm>
          <a:prstGeom prst="rect">
            <a:avLst/>
          </a:prstGeom>
          <a:solidFill>
            <a:srgbClr val="110B20"/>
          </a:solidFill>
          <a:ln w="19050" cap="flat" cmpd="sng">
            <a:solidFill>
              <a:srgbClr val="7B1FA2"/>
            </a:solidFill>
            <a:prstDash val="solid"/>
            <a:round/>
            <a:headEnd type="none" w="sm" len="sm"/>
            <a:tailEnd type="none" w="sm" len="sm"/>
          </a:ln>
          <a:effectLst>
            <a:outerShdw blurRad="63500" dist="25400" dir="8100000" algn="bl" rotWithShape="0">
              <a:srgbClr val="000000">
                <a:alpha val="2509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3"/>
          <p:cNvSpPr/>
          <p:nvPr/>
        </p:nvSpPr>
        <p:spPr>
          <a:xfrm>
            <a:off x="4572000" y="3913632"/>
            <a:ext cx="54900" cy="1069800"/>
          </a:xfrm>
          <a:prstGeom prst="rect">
            <a:avLst/>
          </a:prstGeom>
          <a:solidFill>
            <a:srgbClr val="CE93D8"/>
          </a:solidFill>
          <a:ln w="12700" cap="flat" cmpd="sng">
            <a:solidFill>
              <a:srgbClr val="CE93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3"/>
          <p:cNvSpPr/>
          <p:nvPr/>
        </p:nvSpPr>
        <p:spPr>
          <a:xfrm>
            <a:off x="4709160" y="3913632"/>
            <a:ext cx="42246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E93D8"/>
              </a:buClr>
              <a:buSzPts val="1250"/>
              <a:buFont typeface="Arial"/>
              <a:buNone/>
            </a:pPr>
            <a:r>
              <a:rPr lang="en" sz="1250" b="1" i="0" u="none" strike="noStrike" cap="none">
                <a:solidFill>
                  <a:srgbClr val="CE93D8"/>
                </a:solidFill>
                <a:latin typeface="Arial"/>
                <a:ea typeface="Arial"/>
                <a:cs typeface="Arial"/>
                <a:sym typeface="Arial"/>
              </a:rPr>
              <a:t>Physics Use Cases</a:t>
            </a:r>
            <a:endParaRPr sz="1250" b="0" i="0" u="none" strike="noStrike" cap="none">
              <a:solidFill>
                <a:schemeClr val="dk1"/>
              </a:solidFill>
              <a:latin typeface="Calibri"/>
              <a:ea typeface="Calibri"/>
              <a:cs typeface="Calibri"/>
              <a:sym typeface="Calibri"/>
            </a:endParaRPr>
          </a:p>
        </p:txBody>
      </p:sp>
      <p:sp>
        <p:nvSpPr>
          <p:cNvPr id="246" name="Google Shape;246;p33"/>
          <p:cNvSpPr/>
          <p:nvPr/>
        </p:nvSpPr>
        <p:spPr>
          <a:xfrm>
            <a:off x="4709160" y="4242816"/>
            <a:ext cx="1026300" cy="649200"/>
          </a:xfrm>
          <a:prstGeom prst="rect">
            <a:avLst/>
          </a:prstGeom>
          <a:solidFill>
            <a:srgbClr val="1C2B3A"/>
          </a:solidFill>
          <a:ln w="15225" cap="flat" cmpd="sng">
            <a:solidFill>
              <a:srgbClr val="4FC3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3"/>
          <p:cNvSpPr/>
          <p:nvPr/>
        </p:nvSpPr>
        <p:spPr>
          <a:xfrm>
            <a:off x="4709160" y="4242816"/>
            <a:ext cx="1026300" cy="50400"/>
          </a:xfrm>
          <a:prstGeom prst="rect">
            <a:avLst/>
          </a:prstGeom>
          <a:solidFill>
            <a:srgbClr val="4FC3F7"/>
          </a:solidFill>
          <a:ln w="12700" cap="flat" cmpd="sng">
            <a:solidFill>
              <a:srgbClr val="4FC3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3"/>
          <p:cNvSpPr/>
          <p:nvPr/>
        </p:nvSpPr>
        <p:spPr>
          <a:xfrm>
            <a:off x="4745736" y="4297680"/>
            <a:ext cx="9534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FC3F7"/>
              </a:buClr>
              <a:buSzPts val="950"/>
              <a:buFont typeface="Arial"/>
              <a:buNone/>
            </a:pPr>
            <a:r>
              <a:rPr lang="en" sz="950" b="1" i="0" u="none" strike="noStrike" cap="none">
                <a:solidFill>
                  <a:srgbClr val="4FC3F7"/>
                </a:solidFill>
                <a:latin typeface="Arial"/>
                <a:ea typeface="Arial"/>
                <a:cs typeface="Arial"/>
                <a:sym typeface="Arial"/>
              </a:rPr>
              <a:t>pMSSM Scan</a:t>
            </a:r>
            <a:endParaRPr sz="950" b="0" i="0" u="none" strike="noStrike" cap="none">
              <a:solidFill>
                <a:schemeClr val="dk1"/>
              </a:solidFill>
              <a:latin typeface="Calibri"/>
              <a:ea typeface="Calibri"/>
              <a:cs typeface="Calibri"/>
              <a:sym typeface="Calibri"/>
            </a:endParaRPr>
          </a:p>
        </p:txBody>
      </p:sp>
      <p:sp>
        <p:nvSpPr>
          <p:cNvPr id="249" name="Google Shape;249;p33"/>
          <p:cNvSpPr/>
          <p:nvPr/>
        </p:nvSpPr>
        <p:spPr>
          <a:xfrm>
            <a:off x="4745736" y="4553712"/>
            <a:ext cx="953400" cy="310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B0BEC5"/>
              </a:buClr>
              <a:buSzPts val="800"/>
              <a:buFont typeface="Arial"/>
              <a:buNone/>
            </a:pPr>
            <a:r>
              <a:rPr lang="en" sz="800" b="0" i="0" u="none" strike="noStrike" cap="none">
                <a:solidFill>
                  <a:srgbClr val="B0BEC5"/>
                </a:solidFill>
                <a:latin typeface="Arial"/>
                <a:ea typeface="Arial"/>
                <a:cs typeface="Arial"/>
                <a:sym typeface="Arial"/>
              </a:rPr>
              <a:t>BSM landscape</a:t>
            </a:r>
            <a:endParaRPr sz="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B0BEC5"/>
              </a:buClr>
              <a:buSzPts val="800"/>
              <a:buFont typeface="Arial"/>
              <a:buNone/>
            </a:pPr>
            <a:r>
              <a:rPr lang="en" sz="800" b="0" i="0" u="none" strike="noStrike" cap="none">
                <a:solidFill>
                  <a:srgbClr val="B0BEC5"/>
                </a:solidFill>
                <a:latin typeface="Arial"/>
                <a:ea typeface="Arial"/>
                <a:cs typeface="Arial"/>
                <a:sym typeface="Arial"/>
              </a:rPr>
              <a:t>agentic survey</a:t>
            </a:r>
            <a:endParaRPr sz="800" b="0" i="0" u="none" strike="noStrike" cap="none">
              <a:solidFill>
                <a:schemeClr val="dk1"/>
              </a:solidFill>
              <a:latin typeface="Calibri"/>
              <a:ea typeface="Calibri"/>
              <a:cs typeface="Calibri"/>
              <a:sym typeface="Calibri"/>
            </a:endParaRPr>
          </a:p>
        </p:txBody>
      </p:sp>
      <p:sp>
        <p:nvSpPr>
          <p:cNvPr id="250" name="Google Shape;250;p33"/>
          <p:cNvSpPr/>
          <p:nvPr/>
        </p:nvSpPr>
        <p:spPr>
          <a:xfrm>
            <a:off x="5790438" y="4242816"/>
            <a:ext cx="1026300" cy="649200"/>
          </a:xfrm>
          <a:prstGeom prst="rect">
            <a:avLst/>
          </a:prstGeom>
          <a:solidFill>
            <a:srgbClr val="1A2030"/>
          </a:solidFill>
          <a:ln w="15225" cap="flat" cmpd="sng">
            <a:solidFill>
              <a:srgbClr val="80DE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3"/>
          <p:cNvSpPr/>
          <p:nvPr/>
        </p:nvSpPr>
        <p:spPr>
          <a:xfrm>
            <a:off x="5790438" y="4242816"/>
            <a:ext cx="1026300" cy="50400"/>
          </a:xfrm>
          <a:prstGeom prst="rect">
            <a:avLst/>
          </a:prstGeom>
          <a:solidFill>
            <a:srgbClr val="80DEEA"/>
          </a:solidFill>
          <a:ln w="12700" cap="flat" cmpd="sng">
            <a:solidFill>
              <a:srgbClr val="80DE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3"/>
          <p:cNvSpPr/>
          <p:nvPr/>
        </p:nvSpPr>
        <p:spPr>
          <a:xfrm>
            <a:off x="5827014" y="4297680"/>
            <a:ext cx="9534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80DEEA"/>
              </a:buClr>
              <a:buSzPts val="950"/>
              <a:buFont typeface="Arial"/>
              <a:buNone/>
            </a:pPr>
            <a:r>
              <a:rPr lang="en" sz="950" b="1" i="0" u="none" strike="noStrike" cap="none">
                <a:solidFill>
                  <a:srgbClr val="80DEEA"/>
                </a:solidFill>
                <a:latin typeface="Arial"/>
                <a:ea typeface="Arial"/>
                <a:cs typeface="Arial"/>
                <a:sym typeface="Arial"/>
              </a:rPr>
              <a:t>Higgs+X H→γγ</a:t>
            </a:r>
            <a:endParaRPr sz="950" b="0" i="0" u="none" strike="noStrike" cap="none">
              <a:solidFill>
                <a:schemeClr val="dk1"/>
              </a:solidFill>
              <a:latin typeface="Calibri"/>
              <a:ea typeface="Calibri"/>
              <a:cs typeface="Calibri"/>
              <a:sym typeface="Calibri"/>
            </a:endParaRPr>
          </a:p>
        </p:txBody>
      </p:sp>
      <p:sp>
        <p:nvSpPr>
          <p:cNvPr id="253" name="Google Shape;253;p33"/>
          <p:cNvSpPr/>
          <p:nvPr/>
        </p:nvSpPr>
        <p:spPr>
          <a:xfrm>
            <a:off x="5827014" y="4553712"/>
            <a:ext cx="953400" cy="310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B0BEC5"/>
              </a:buClr>
              <a:buSzPts val="800"/>
              <a:buFont typeface="Arial"/>
              <a:buNone/>
            </a:pPr>
            <a:r>
              <a:rPr lang="en" sz="800" b="0" i="0" u="none" strike="noStrike" cap="none">
                <a:solidFill>
                  <a:srgbClr val="B0BEC5"/>
                </a:solidFill>
                <a:latin typeface="Arial"/>
                <a:ea typeface="Arial"/>
                <a:cs typeface="Arial"/>
                <a:sym typeface="Arial"/>
              </a:rPr>
              <a:t>100s signal</a:t>
            </a:r>
            <a:endParaRPr sz="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B0BEC5"/>
              </a:buClr>
              <a:buSzPts val="800"/>
              <a:buFont typeface="Arial"/>
              <a:buNone/>
            </a:pPr>
            <a:r>
              <a:rPr lang="en" sz="800" b="0" i="0" u="none" strike="noStrike" cap="none">
                <a:solidFill>
                  <a:srgbClr val="B0BEC5"/>
                </a:solidFill>
                <a:latin typeface="Arial"/>
                <a:ea typeface="Arial"/>
                <a:cs typeface="Arial"/>
                <a:sym typeface="Arial"/>
              </a:rPr>
              <a:t>regions, Run 3</a:t>
            </a:r>
            <a:endParaRPr sz="800" b="0" i="0" u="none" strike="noStrike" cap="none">
              <a:solidFill>
                <a:schemeClr val="dk1"/>
              </a:solidFill>
              <a:latin typeface="Calibri"/>
              <a:ea typeface="Calibri"/>
              <a:cs typeface="Calibri"/>
              <a:sym typeface="Calibri"/>
            </a:endParaRPr>
          </a:p>
        </p:txBody>
      </p:sp>
      <p:sp>
        <p:nvSpPr>
          <p:cNvPr id="254" name="Google Shape;254;p33"/>
          <p:cNvSpPr/>
          <p:nvPr/>
        </p:nvSpPr>
        <p:spPr>
          <a:xfrm>
            <a:off x="6871716" y="4242816"/>
            <a:ext cx="1026300" cy="649200"/>
          </a:xfrm>
          <a:prstGeom prst="rect">
            <a:avLst/>
          </a:prstGeom>
          <a:solidFill>
            <a:srgbClr val="2A1810"/>
          </a:solidFill>
          <a:ln w="15225" cap="flat" cmpd="sng">
            <a:solidFill>
              <a:srgbClr val="FFAB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3"/>
          <p:cNvSpPr/>
          <p:nvPr/>
        </p:nvSpPr>
        <p:spPr>
          <a:xfrm>
            <a:off x="6871716" y="4242816"/>
            <a:ext cx="1026300" cy="50400"/>
          </a:xfrm>
          <a:prstGeom prst="rect">
            <a:avLst/>
          </a:prstGeom>
          <a:solidFill>
            <a:srgbClr val="FFAB40"/>
          </a:solidFill>
          <a:ln w="12700" cap="flat" cmpd="sng">
            <a:solidFill>
              <a:srgbClr val="FFAB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3"/>
          <p:cNvSpPr/>
          <p:nvPr/>
        </p:nvSpPr>
        <p:spPr>
          <a:xfrm>
            <a:off x="6908292" y="4297680"/>
            <a:ext cx="9534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AB40"/>
              </a:buClr>
              <a:buSzPts val="950"/>
              <a:buFont typeface="Arial"/>
              <a:buNone/>
            </a:pPr>
            <a:r>
              <a:rPr lang="en" sz="950" b="1" i="0" u="none" strike="noStrike" cap="none">
                <a:solidFill>
                  <a:srgbClr val="FFAB40"/>
                </a:solidFill>
                <a:latin typeface="Arial"/>
                <a:ea typeface="Arial"/>
                <a:cs typeface="Arial"/>
                <a:sym typeface="Arial"/>
              </a:rPr>
              <a:t>★ Top+X  ttbar</a:t>
            </a:r>
            <a:endParaRPr sz="950" b="0" i="0" u="none" strike="noStrike" cap="none">
              <a:solidFill>
                <a:schemeClr val="dk1"/>
              </a:solidFill>
              <a:latin typeface="Calibri"/>
              <a:ea typeface="Calibri"/>
              <a:cs typeface="Calibri"/>
              <a:sym typeface="Calibri"/>
            </a:endParaRPr>
          </a:p>
        </p:txBody>
      </p:sp>
      <p:sp>
        <p:nvSpPr>
          <p:cNvPr id="257" name="Google Shape;257;p33"/>
          <p:cNvSpPr/>
          <p:nvPr/>
        </p:nvSpPr>
        <p:spPr>
          <a:xfrm>
            <a:off x="6908292" y="4553712"/>
            <a:ext cx="953400" cy="310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B0BEC5"/>
              </a:buClr>
              <a:buSzPts val="800"/>
              <a:buFont typeface="Arial"/>
              <a:buNone/>
            </a:pPr>
            <a:r>
              <a:rPr lang="en" sz="800" b="0" i="0" u="none" strike="noStrike" cap="none">
                <a:solidFill>
                  <a:srgbClr val="B0BEC5"/>
                </a:solidFill>
                <a:latin typeface="Arial"/>
                <a:ea typeface="Arial"/>
                <a:cs typeface="Arial"/>
                <a:sym typeface="Arial"/>
              </a:rPr>
              <a:t>Chicago / Liantao</a:t>
            </a:r>
            <a:endParaRPr sz="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B0BEC5"/>
              </a:buClr>
              <a:buSzPts val="800"/>
              <a:buFont typeface="Arial"/>
              <a:buNone/>
            </a:pPr>
            <a:r>
              <a:rPr lang="en" sz="800" b="0" i="0" u="none" strike="noStrike" cap="none">
                <a:solidFill>
                  <a:srgbClr val="B0BEC5"/>
                </a:solidFill>
                <a:latin typeface="Arial"/>
                <a:ea typeface="Arial"/>
                <a:cs typeface="Arial"/>
                <a:sym typeface="Arial"/>
              </a:rPr>
              <a:t>exotic top decays</a:t>
            </a:r>
            <a:endParaRPr sz="800" b="0" i="0" u="none" strike="noStrike" cap="none">
              <a:solidFill>
                <a:schemeClr val="dk1"/>
              </a:solidFill>
              <a:latin typeface="Calibri"/>
              <a:ea typeface="Calibri"/>
              <a:cs typeface="Calibri"/>
              <a:sym typeface="Calibri"/>
            </a:endParaRPr>
          </a:p>
        </p:txBody>
      </p:sp>
      <p:sp>
        <p:nvSpPr>
          <p:cNvPr id="258" name="Google Shape;258;p33"/>
          <p:cNvSpPr/>
          <p:nvPr/>
        </p:nvSpPr>
        <p:spPr>
          <a:xfrm>
            <a:off x="7952994" y="4242816"/>
            <a:ext cx="1026300" cy="649200"/>
          </a:xfrm>
          <a:prstGeom prst="rect">
            <a:avLst/>
          </a:prstGeom>
          <a:solidFill>
            <a:srgbClr val="0D1F15"/>
          </a:solidFill>
          <a:ln w="15225" cap="flat" cmpd="sng">
            <a:solidFill>
              <a:srgbClr val="69F0A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3"/>
          <p:cNvSpPr/>
          <p:nvPr/>
        </p:nvSpPr>
        <p:spPr>
          <a:xfrm>
            <a:off x="7952994" y="4242816"/>
            <a:ext cx="1026300" cy="50400"/>
          </a:xfrm>
          <a:prstGeom prst="rect">
            <a:avLst/>
          </a:prstGeom>
          <a:solidFill>
            <a:srgbClr val="69F0AE"/>
          </a:solidFill>
          <a:ln w="12700" cap="flat" cmpd="sng">
            <a:solidFill>
              <a:srgbClr val="69F0A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3"/>
          <p:cNvSpPr/>
          <p:nvPr/>
        </p:nvSpPr>
        <p:spPr>
          <a:xfrm>
            <a:off x="7989570" y="4297680"/>
            <a:ext cx="9534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9F0AE"/>
              </a:buClr>
              <a:buSzPts val="950"/>
              <a:buFont typeface="Arial"/>
              <a:buNone/>
            </a:pPr>
            <a:r>
              <a:rPr lang="en" sz="950" b="1" i="0" u="none" strike="noStrike" cap="none">
                <a:solidFill>
                  <a:srgbClr val="69F0AE"/>
                </a:solidFill>
                <a:latin typeface="Arial"/>
                <a:ea typeface="Arial"/>
                <a:cs typeface="Arial"/>
                <a:sym typeface="Arial"/>
              </a:rPr>
              <a:t>DESI BAO DR1</a:t>
            </a:r>
            <a:endParaRPr sz="950" b="0" i="0" u="none" strike="noStrike" cap="none">
              <a:solidFill>
                <a:schemeClr val="dk1"/>
              </a:solidFill>
              <a:latin typeface="Calibri"/>
              <a:ea typeface="Calibri"/>
              <a:cs typeface="Calibri"/>
              <a:sym typeface="Calibri"/>
            </a:endParaRPr>
          </a:p>
        </p:txBody>
      </p:sp>
      <p:sp>
        <p:nvSpPr>
          <p:cNvPr id="261" name="Google Shape;261;p33"/>
          <p:cNvSpPr/>
          <p:nvPr/>
        </p:nvSpPr>
        <p:spPr>
          <a:xfrm>
            <a:off x="7989570" y="4553712"/>
            <a:ext cx="953400" cy="310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B0BEC5"/>
              </a:buClr>
              <a:buSzPts val="800"/>
              <a:buFont typeface="Arial"/>
              <a:buNone/>
            </a:pPr>
            <a:r>
              <a:rPr lang="en" sz="800" b="0" i="0" u="none" strike="noStrike" cap="none">
                <a:solidFill>
                  <a:srgbClr val="B0BEC5"/>
                </a:solidFill>
                <a:latin typeface="Arial"/>
                <a:ea typeface="Arial"/>
                <a:cs typeface="Arial"/>
                <a:sym typeface="Arial"/>
              </a:rPr>
              <a:t>Codebook portability:</a:t>
            </a:r>
            <a:endParaRPr sz="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B0BEC5"/>
              </a:buClr>
              <a:buSzPts val="800"/>
              <a:buFont typeface="Arial"/>
              <a:buNone/>
            </a:pPr>
            <a:r>
              <a:rPr lang="en" sz="800" b="0" i="0" u="none" strike="noStrike" cap="none">
                <a:solidFill>
                  <a:srgbClr val="B0BEC5"/>
                </a:solidFill>
                <a:latin typeface="Arial"/>
                <a:ea typeface="Arial"/>
                <a:cs typeface="Arial"/>
                <a:sym typeface="Arial"/>
              </a:rPr>
              <a:t>survey cosmology</a:t>
            </a:r>
            <a:endParaRPr sz="800" b="0" i="0" u="none" strike="noStrike" cap="none">
              <a:solidFill>
                <a:schemeClr val="dk1"/>
              </a:solidFill>
              <a:latin typeface="Calibri"/>
              <a:ea typeface="Calibri"/>
              <a:cs typeface="Calibri"/>
              <a:sym typeface="Calibri"/>
            </a:endParaRPr>
          </a:p>
        </p:txBody>
      </p:sp>
      <p:sp>
        <p:nvSpPr>
          <p:cNvPr id="262" name="Google Shape;262;p33"/>
          <p:cNvSpPr/>
          <p:nvPr/>
        </p:nvSpPr>
        <p:spPr>
          <a:xfrm>
            <a:off x="164592" y="4846320"/>
            <a:ext cx="422460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7474F"/>
              </a:buClr>
              <a:buSzPts val="800"/>
              <a:buFont typeface="Arial"/>
              <a:buNone/>
            </a:pPr>
            <a:r>
              <a:rPr lang="en" sz="800" b="0" i="1" u="none" strike="noStrike" cap="none">
                <a:solidFill>
                  <a:schemeClr val="lt1"/>
                </a:solidFill>
                <a:latin typeface="Arial"/>
                <a:ea typeface="Arial"/>
                <a:cs typeface="Arial"/>
                <a:sym typeface="Arial"/>
              </a:rPr>
              <a:t>Rob Gardner (UChicago)  ·  Giordon Stark (UCSC)  ·  Coordinated with Haichen Wang (UCB/LBNL)</a:t>
            </a:r>
            <a:endParaRPr sz="800" b="0" i="0" u="none" strike="noStrike" cap="none">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Agentic Analysis  (Watts)</a:t>
            </a:r>
            <a:endParaRPr/>
          </a:p>
        </p:txBody>
      </p:sp>
      <p:sp>
        <p:nvSpPr>
          <p:cNvPr id="268" name="Google Shape;268;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Agentic Analysis to start from an Analysis Specification and implement an analysis</a:t>
            </a:r>
            <a:endParaRPr/>
          </a:p>
          <a:p>
            <a:pPr marL="457200" lvl="0" indent="-342900" algn="l" rtl="0">
              <a:spcBef>
                <a:spcPts val="0"/>
              </a:spcBef>
              <a:spcAft>
                <a:spcPts val="0"/>
              </a:spcAft>
              <a:buSzPts val="1800"/>
              <a:buChar char="●"/>
            </a:pPr>
            <a:r>
              <a:rPr lang="en"/>
              <a:t>Physicist interacts with the specification to drive the analysis forwards</a:t>
            </a:r>
            <a:endParaRPr/>
          </a:p>
          <a:p>
            <a:pPr marL="914400" lvl="1" indent="-317500" algn="l" rtl="0">
              <a:spcBef>
                <a:spcPts val="0"/>
              </a:spcBef>
              <a:spcAft>
                <a:spcPts val="0"/>
              </a:spcAft>
              <a:buSzPts val="1400"/>
              <a:buChar char="○"/>
            </a:pPr>
            <a:r>
              <a:rPr lang="en"/>
              <a:t>Collaborative effort - physicist with the ideas, agents with the implementation</a:t>
            </a:r>
            <a:endParaRPr/>
          </a:p>
          <a:p>
            <a:pPr marL="457200" lvl="0" indent="-342900" algn="l" rtl="0">
              <a:spcBef>
                <a:spcPts val="0"/>
              </a:spcBef>
              <a:spcAft>
                <a:spcPts val="0"/>
              </a:spcAft>
              <a:buSzPts val="1800"/>
              <a:buChar char="●"/>
            </a:pPr>
            <a:r>
              <a:rPr lang="en"/>
              <a:t>Use ATLAS data and infrastructure as well as OpenData</a:t>
            </a:r>
            <a:endParaRPr/>
          </a:p>
          <a:p>
            <a:pPr marL="457200" lvl="0" indent="-342900" algn="l" rtl="0">
              <a:spcBef>
                <a:spcPts val="0"/>
              </a:spcBef>
              <a:spcAft>
                <a:spcPts val="0"/>
              </a:spcAft>
              <a:buSzPts val="1800"/>
              <a:buChar char="●"/>
            </a:pPr>
            <a:r>
              <a:rPr lang="en"/>
              <a:t>Do our best to use existing tools (e.g. claude code, codex, copilot), rather than rolling our own</a:t>
            </a:r>
            <a:endParaRPr/>
          </a:p>
          <a:p>
            <a:pPr marL="914400" lvl="1" indent="-317500" algn="l" rtl="0">
              <a:spcBef>
                <a:spcPts val="0"/>
              </a:spcBef>
              <a:spcAft>
                <a:spcPts val="0"/>
              </a:spcAft>
              <a:buSzPts val="1400"/>
              <a:buChar char="○"/>
            </a:pPr>
            <a:r>
              <a:rPr lang="en"/>
              <a:t>Of course, where necessary</a:t>
            </a:r>
            <a:endParaRPr/>
          </a:p>
          <a:p>
            <a:pPr marL="457200" lvl="0" indent="-342900" algn="l" rtl="0">
              <a:spcBef>
                <a:spcPts val="0"/>
              </a:spcBef>
              <a:spcAft>
                <a:spcPts val="0"/>
              </a:spcAft>
              <a:buSzPts val="1800"/>
              <a:buChar char="●"/>
            </a:pPr>
            <a:r>
              <a:rPr lang="en"/>
              <a:t>Work to expose experiment metadata to the agents to enable the analysis</a:t>
            </a:r>
            <a:endParaRPr/>
          </a:p>
          <a:p>
            <a:pPr marL="457200" lvl="0" indent="-342900" algn="l" rtl="0">
              <a:spcBef>
                <a:spcPts val="0"/>
              </a:spcBef>
              <a:spcAft>
                <a:spcPts val="0"/>
              </a:spcAft>
              <a:buSzPts val="1800"/>
              <a:buChar char="●"/>
            </a:pPr>
            <a:r>
              <a:rPr lang="en"/>
              <a:t>Obvious collaboration possibilities with Haichen</a:t>
            </a:r>
            <a:endParaRPr/>
          </a:p>
          <a:p>
            <a:pPr marL="0" lvl="0" indent="0" algn="l" rtl="0">
              <a:spcBef>
                <a:spcPts val="1200"/>
              </a:spcBef>
              <a:spcAft>
                <a:spcPts val="1200"/>
              </a:spcAft>
              <a:buNone/>
            </a:pPr>
            <a:r>
              <a:rPr lang="en"/>
              <a:t>Gordon Watts, gwatts@uw.edu, University of Washington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b="1"/>
              <a:t>AI Agents for End-to-End Analysis</a:t>
            </a:r>
            <a:endParaRPr sz="2400" b="1"/>
          </a:p>
        </p:txBody>
      </p:sp>
      <p:sp>
        <p:nvSpPr>
          <p:cNvPr id="274" name="Google Shape;274;p35"/>
          <p:cNvSpPr txBox="1">
            <a:spLocks noGrp="1"/>
          </p:cNvSpPr>
          <p:nvPr>
            <p:ph type="body" idx="1"/>
          </p:nvPr>
        </p:nvSpPr>
        <p:spPr>
          <a:xfrm>
            <a:off x="311700" y="1551850"/>
            <a:ext cx="8520600" cy="301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Simplifying and accelerating data analysis using AI agents</a:t>
            </a:r>
            <a:endParaRPr/>
          </a:p>
          <a:p>
            <a:pPr marL="0" lvl="0" indent="0" algn="l" rtl="0">
              <a:spcBef>
                <a:spcPts val="1200"/>
              </a:spcBef>
              <a:spcAft>
                <a:spcPts val="0"/>
              </a:spcAft>
              <a:buNone/>
            </a:pPr>
            <a:r>
              <a:rPr lang="en"/>
              <a:t>Gustaaf Brooijmans, gusbroo@nevis.columbia.edu, Columbia</a:t>
            </a:r>
            <a:endParaRPr/>
          </a:p>
          <a:p>
            <a:pPr marL="0" lvl="0" indent="0" algn="l" rtl="0">
              <a:spcBef>
                <a:spcPts val="1200"/>
              </a:spcBef>
              <a:spcAft>
                <a:spcPts val="1200"/>
              </a:spcAft>
              <a:buNone/>
            </a:pPr>
            <a:r>
              <a:rPr lang="en"/>
              <a:t>Agentic AI, analysis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6"/>
          <p:cNvSpPr txBox="1">
            <a:spLocks noGrp="1"/>
          </p:cNvSpPr>
          <p:nvPr>
            <p:ph type="title"/>
          </p:nvPr>
        </p:nvSpPr>
        <p:spPr>
          <a:xfrm>
            <a:off x="311700" y="130450"/>
            <a:ext cx="8520600" cy="950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Detector Operation (1/2) </a:t>
            </a:r>
            <a:endParaRPr/>
          </a:p>
          <a:p>
            <a:pPr marL="0" lvl="0" indent="0" algn="l" rtl="0">
              <a:spcBef>
                <a:spcPts val="0"/>
              </a:spcBef>
              <a:spcAft>
                <a:spcPts val="0"/>
              </a:spcAft>
              <a:buNone/>
            </a:pPr>
            <a:r>
              <a:rPr lang="en" sz="1389"/>
              <a:t>(Catrin Bernius: </a:t>
            </a:r>
            <a:r>
              <a:rPr lang="en" sz="1389" u="sng">
                <a:solidFill>
                  <a:schemeClr val="hlink"/>
                </a:solidFill>
                <a:hlinkClick r:id="rId3"/>
              </a:rPr>
              <a:t>Catrin.Bernius@cern.ch</a:t>
            </a:r>
            <a:r>
              <a:rPr lang="en" sz="1389"/>
              <a:t> / Peter Onyisi </a:t>
            </a:r>
            <a:r>
              <a:rPr lang="en" sz="1389" u="sng">
                <a:solidFill>
                  <a:schemeClr val="hlink"/>
                </a:solidFill>
                <a:hlinkClick r:id="rId4"/>
              </a:rPr>
              <a:t>ponyisi@utexas.edu</a:t>
            </a:r>
            <a:r>
              <a:rPr lang="en" sz="1389"/>
              <a:t> / Verena Martinez Outschoorn </a:t>
            </a:r>
            <a:r>
              <a:rPr lang="en" sz="1389" u="sng">
                <a:solidFill>
                  <a:schemeClr val="hlink"/>
                </a:solidFill>
                <a:hlinkClick r:id="rId5"/>
              </a:rPr>
              <a:t>vimartin@umass.edu</a:t>
            </a:r>
            <a:r>
              <a:rPr lang="en" sz="1389"/>
              <a:t>)</a:t>
            </a:r>
            <a:endParaRPr sz="1389"/>
          </a:p>
        </p:txBody>
      </p:sp>
      <p:sp>
        <p:nvSpPr>
          <p:cNvPr id="280" name="Google Shape;280;p36"/>
          <p:cNvSpPr txBox="1">
            <a:spLocks noGrp="1"/>
          </p:cNvSpPr>
          <p:nvPr>
            <p:ph type="body" idx="1"/>
          </p:nvPr>
        </p:nvSpPr>
        <p:spPr>
          <a:xfrm>
            <a:off x="141825" y="1047291"/>
            <a:ext cx="8587800" cy="4036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35"/>
              <a:buNone/>
            </a:pPr>
            <a:r>
              <a:rPr lang="en" sz="1430"/>
              <a:t>Various opportunities related to detector operation, inspired and presented at the ATLAS SCOPE workshop: </a:t>
            </a:r>
            <a:r>
              <a:rPr lang="en" sz="1430" u="sng">
                <a:solidFill>
                  <a:schemeClr val="hlink"/>
                </a:solidFill>
                <a:hlinkClick r:id="rId6"/>
              </a:rPr>
              <a:t>https://indico.cern.ch/event/1649694</a:t>
            </a:r>
            <a:r>
              <a:rPr lang="en" sz="1430"/>
              <a:t>  </a:t>
            </a:r>
            <a:endParaRPr sz="1430"/>
          </a:p>
          <a:p>
            <a:pPr marL="548640" lvl="1" indent="-297815" algn="l" rtl="0">
              <a:lnSpc>
                <a:spcPct val="115000"/>
              </a:lnSpc>
              <a:spcBef>
                <a:spcPts val="1200"/>
              </a:spcBef>
              <a:spcAft>
                <a:spcPts val="0"/>
              </a:spcAft>
              <a:buSzPts val="1090"/>
              <a:buAutoNum type="alphaLcPeriod"/>
            </a:pPr>
            <a:r>
              <a:rPr lang="en" sz="1090" b="1"/>
              <a:t>Data quality</a:t>
            </a:r>
            <a:r>
              <a:rPr lang="en" sz="1090"/>
              <a:t> (possible collaborators: Louisiana Tech, UT Austin, UTA, LBL/UC Berkeley, Stony Brook)</a:t>
            </a:r>
            <a:endParaRPr sz="1090"/>
          </a:p>
          <a:p>
            <a:pPr marL="822960" lvl="2" indent="-297815" algn="l" rtl="0">
              <a:lnSpc>
                <a:spcPct val="115000"/>
              </a:lnSpc>
              <a:spcBef>
                <a:spcPts val="0"/>
              </a:spcBef>
              <a:spcAft>
                <a:spcPts val="0"/>
              </a:spcAft>
              <a:buSzPts val="1090"/>
              <a:buAutoNum type="romanLcPeriod"/>
            </a:pPr>
            <a:r>
              <a:rPr lang="en" sz="1090" b="1"/>
              <a:t>Improve online references</a:t>
            </a:r>
            <a:r>
              <a:rPr lang="en" sz="1090"/>
              <a:t>: predict plots based on luminosity, collision mode, etc. Discover when new features appear, request feedback on whether they are OK, quickly incorporate into predictions. Try to replace TWikis of outdated reference plots, vague whiteboard instructions.</a:t>
            </a:r>
            <a:endParaRPr sz="1090"/>
          </a:p>
          <a:p>
            <a:pPr marL="822960" lvl="2" indent="-297815" algn="l" rtl="0">
              <a:lnSpc>
                <a:spcPct val="115000"/>
              </a:lnSpc>
              <a:spcBef>
                <a:spcPts val="0"/>
              </a:spcBef>
              <a:spcAft>
                <a:spcPts val="0"/>
              </a:spcAft>
              <a:buSzPts val="1090"/>
              <a:buAutoNum type="romanLcPeriod"/>
            </a:pPr>
            <a:r>
              <a:rPr lang="en" sz="1090" b="1"/>
              <a:t>Automated defect determination</a:t>
            </a:r>
            <a:r>
              <a:rPr lang="en" sz="1090"/>
              <a:t>. Learn which histograms are truly relevant to marking data bad, use them to propose defects automatically. Learn as detector and DQ assessment evolve.</a:t>
            </a:r>
            <a:endParaRPr sz="1090"/>
          </a:p>
          <a:p>
            <a:pPr marL="822960" lvl="2" indent="-297815" algn="l" rtl="0">
              <a:lnSpc>
                <a:spcPct val="115000"/>
              </a:lnSpc>
              <a:spcBef>
                <a:spcPts val="0"/>
              </a:spcBef>
              <a:spcAft>
                <a:spcPts val="0"/>
              </a:spcAft>
              <a:buSzPts val="1090"/>
              <a:buAutoNum type="romanLcPeriod"/>
            </a:pPr>
            <a:r>
              <a:rPr lang="en" sz="1090" b="1"/>
              <a:t>Summary Agent</a:t>
            </a:r>
            <a:r>
              <a:rPr lang="en" sz="1090"/>
              <a:t>: collect logbook information, histograms, databases into a single dashboard </a:t>
            </a:r>
            <a:endParaRPr sz="1090"/>
          </a:p>
          <a:p>
            <a:pPr marL="548640" lvl="1" indent="-297815" algn="l" rtl="0">
              <a:lnSpc>
                <a:spcPct val="115000"/>
              </a:lnSpc>
              <a:spcBef>
                <a:spcPts val="0"/>
              </a:spcBef>
              <a:spcAft>
                <a:spcPts val="0"/>
              </a:spcAft>
              <a:buSzPts val="1090"/>
              <a:buAutoNum type="alphaLcPeriod"/>
            </a:pPr>
            <a:r>
              <a:rPr lang="en" sz="1090" b="1"/>
              <a:t>AI Ready Data on Demand </a:t>
            </a:r>
            <a:r>
              <a:rPr lang="en" sz="1090"/>
              <a:t>(possible collaborators: UMass, UTA, SLAC, Oregon, …)</a:t>
            </a:r>
            <a:endParaRPr sz="1090" b="1"/>
          </a:p>
          <a:p>
            <a:pPr marL="822960" lvl="2" indent="-297815" algn="l" rtl="0">
              <a:lnSpc>
                <a:spcPct val="115000"/>
              </a:lnSpc>
              <a:spcBef>
                <a:spcPts val="0"/>
              </a:spcBef>
              <a:spcAft>
                <a:spcPts val="0"/>
              </a:spcAft>
              <a:buSzPts val="1090"/>
              <a:buAutoNum type="romanLcPeriod"/>
            </a:pPr>
            <a:r>
              <a:rPr lang="en" sz="1090" u="sng"/>
              <a:t>General idea</a:t>
            </a:r>
            <a:r>
              <a:rPr lang="en" sz="1090"/>
              <a:t>: Define and design an</a:t>
            </a:r>
            <a:r>
              <a:rPr lang="en" sz="1090" b="1"/>
              <a:t> architecture with a central interface/API layer</a:t>
            </a:r>
            <a:r>
              <a:rPr lang="en" sz="1090"/>
              <a:t> and that:</a:t>
            </a:r>
            <a:endParaRPr sz="1090"/>
          </a:p>
          <a:p>
            <a:pPr marL="1280160" lvl="0" indent="-296273" algn="l" rtl="0">
              <a:lnSpc>
                <a:spcPct val="115000"/>
              </a:lnSpc>
              <a:spcBef>
                <a:spcPts val="0"/>
              </a:spcBef>
              <a:spcAft>
                <a:spcPts val="0"/>
              </a:spcAft>
              <a:buSzPts val="1066"/>
              <a:buChar char="●"/>
            </a:pPr>
            <a:r>
              <a:rPr lang="en" sz="1066"/>
              <a:t>Connects multiple data sources (DCS, DAQ, DQ, COOL/CREST, RunQuery, etc.)</a:t>
            </a:r>
            <a:endParaRPr sz="1066"/>
          </a:p>
          <a:p>
            <a:pPr marL="1280160" lvl="0" indent="-296273" algn="l" rtl="0">
              <a:lnSpc>
                <a:spcPct val="115000"/>
              </a:lnSpc>
              <a:spcBef>
                <a:spcPts val="0"/>
              </a:spcBef>
              <a:spcAft>
                <a:spcPts val="0"/>
              </a:spcAft>
              <a:buSzPts val="1066"/>
              <a:buChar char="●"/>
            </a:pPr>
            <a:r>
              <a:rPr lang="en" sz="1066"/>
              <a:t>Hides complexity from users</a:t>
            </a:r>
            <a:endParaRPr sz="1066"/>
          </a:p>
          <a:p>
            <a:pPr marL="1280160" lvl="0" indent="-296273" algn="l" rtl="0">
              <a:lnSpc>
                <a:spcPct val="115000"/>
              </a:lnSpc>
              <a:spcBef>
                <a:spcPts val="0"/>
              </a:spcBef>
              <a:spcAft>
                <a:spcPts val="0"/>
              </a:spcAft>
              <a:buSzPts val="1066"/>
              <a:buChar char="●"/>
            </a:pPr>
            <a:r>
              <a:rPr lang="en" sz="1066"/>
              <a:t>Supports many-to-many relationships (apps ↔ data sources) and with that provides ready-to-use data</a:t>
            </a:r>
            <a:endParaRPr sz="1066"/>
          </a:p>
          <a:p>
            <a:pPr marL="822960" lvl="2" indent="-297815" algn="l" rtl="0">
              <a:lnSpc>
                <a:spcPct val="115000"/>
              </a:lnSpc>
              <a:spcBef>
                <a:spcPts val="0"/>
              </a:spcBef>
              <a:spcAft>
                <a:spcPts val="0"/>
              </a:spcAft>
              <a:buSzPts val="1090"/>
              <a:buAutoNum type="romanLcPeriod"/>
            </a:pPr>
            <a:r>
              <a:rPr lang="en" sz="1090"/>
              <a:t>A concrete example is the </a:t>
            </a:r>
            <a:r>
              <a:rPr lang="en" sz="1090" b="1"/>
              <a:t>ATLAS MDT operation platform (AMOP)</a:t>
            </a:r>
            <a:r>
              <a:rPr lang="en" sz="1090"/>
              <a:t> which aims to go beyond simple visualization by integrating DCS data, DAQ information, and data quality metrics into a centralized interface. The goal is to help detector experts diagnose problems more quickly and eventually use AI/ML models to detect anomalies such as high-voltage sparking or failing hardware.</a:t>
            </a:r>
            <a:endParaRPr sz="109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7"/>
          <p:cNvSpPr txBox="1">
            <a:spLocks noGrp="1"/>
          </p:cNvSpPr>
          <p:nvPr>
            <p:ph type="title"/>
          </p:nvPr>
        </p:nvSpPr>
        <p:spPr>
          <a:xfrm>
            <a:off x="311700" y="1231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Detector Operation (2/2) </a:t>
            </a:r>
            <a:endParaRPr/>
          </a:p>
          <a:p>
            <a:pPr marL="0" lvl="0" indent="0" algn="l" rtl="0">
              <a:spcBef>
                <a:spcPts val="0"/>
              </a:spcBef>
              <a:spcAft>
                <a:spcPts val="0"/>
              </a:spcAft>
              <a:buClr>
                <a:schemeClr val="dk1"/>
              </a:buClr>
              <a:buSzPct val="79200"/>
              <a:buFont typeface="Arial"/>
              <a:buNone/>
            </a:pPr>
            <a:r>
              <a:rPr lang="en" sz="1389"/>
              <a:t>(Catrin Bernius: </a:t>
            </a:r>
            <a:r>
              <a:rPr lang="en" sz="1389" u="sng">
                <a:solidFill>
                  <a:schemeClr val="accent5"/>
                </a:solidFill>
                <a:hlinkClick r:id="rId3">
                  <a:extLst>
                    <a:ext uri="{A12FA001-AC4F-418D-AE19-62706E023703}">
                      <ahyp:hlinkClr xmlns:ahyp="http://schemas.microsoft.com/office/drawing/2018/hyperlinkcolor" val="tx"/>
                    </a:ext>
                  </a:extLst>
                </a:hlinkClick>
              </a:rPr>
              <a:t>Catrin.Bernius@cern.ch</a:t>
            </a:r>
            <a:r>
              <a:rPr lang="en" sz="1389"/>
              <a:t> / Peter Onyisi </a:t>
            </a:r>
            <a:r>
              <a:rPr lang="en" sz="1389" u="sng">
                <a:solidFill>
                  <a:schemeClr val="accent5"/>
                </a:solidFill>
                <a:hlinkClick r:id="rId4">
                  <a:extLst>
                    <a:ext uri="{A12FA001-AC4F-418D-AE19-62706E023703}">
                      <ahyp:hlinkClr xmlns:ahyp="http://schemas.microsoft.com/office/drawing/2018/hyperlinkcolor" val="tx"/>
                    </a:ext>
                  </a:extLst>
                </a:hlinkClick>
              </a:rPr>
              <a:t>ponyisi@utexas.edu</a:t>
            </a:r>
            <a:r>
              <a:rPr lang="en" sz="1389"/>
              <a:t> / Verena Martinez Outschoorn </a:t>
            </a:r>
            <a:r>
              <a:rPr lang="en" sz="1389" u="sng">
                <a:solidFill>
                  <a:schemeClr val="accent5"/>
                </a:solidFill>
                <a:hlinkClick r:id="rId5">
                  <a:extLst>
                    <a:ext uri="{A12FA001-AC4F-418D-AE19-62706E023703}">
                      <ahyp:hlinkClr xmlns:ahyp="http://schemas.microsoft.com/office/drawing/2018/hyperlinkcolor" val="tx"/>
                    </a:ext>
                  </a:extLst>
                </a:hlinkClick>
              </a:rPr>
              <a:t>vimartin@umass.edu</a:t>
            </a:r>
            <a:r>
              <a:rPr lang="en" sz="1389"/>
              <a:t>)</a:t>
            </a:r>
            <a:endParaRPr/>
          </a:p>
        </p:txBody>
      </p:sp>
      <p:sp>
        <p:nvSpPr>
          <p:cNvPr id="286" name="Google Shape;286;p37"/>
          <p:cNvSpPr txBox="1">
            <a:spLocks noGrp="1"/>
          </p:cNvSpPr>
          <p:nvPr>
            <p:ph type="body" idx="1"/>
          </p:nvPr>
        </p:nvSpPr>
        <p:spPr>
          <a:xfrm>
            <a:off x="173125" y="1057002"/>
            <a:ext cx="8807400" cy="41895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t>Various opportunities related to detector operation, inspired and presented at the ATLAS SCOPE workshop: </a:t>
            </a:r>
            <a:r>
              <a:rPr lang="en" sz="1100" u="sng">
                <a:solidFill>
                  <a:schemeClr val="accent5"/>
                </a:solidFill>
                <a:hlinkClick r:id="rId6">
                  <a:extLst>
                    <a:ext uri="{A12FA001-AC4F-418D-AE19-62706E023703}">
                      <ahyp:hlinkClr xmlns:ahyp="http://schemas.microsoft.com/office/drawing/2018/hyperlinkcolor" val="tx"/>
                    </a:ext>
                  </a:extLst>
                </a:hlinkClick>
              </a:rPr>
              <a:t>https://indico.cern.ch/event/1649694</a:t>
            </a:r>
            <a:r>
              <a:rPr lang="en" sz="1100"/>
              <a:t>  </a:t>
            </a:r>
            <a:endParaRPr sz="1100"/>
          </a:p>
          <a:p>
            <a:pPr marL="914400" lvl="1" indent="-234950" algn="l" rtl="0">
              <a:lnSpc>
                <a:spcPct val="115000"/>
              </a:lnSpc>
              <a:spcBef>
                <a:spcPts val="0"/>
              </a:spcBef>
              <a:spcAft>
                <a:spcPts val="0"/>
              </a:spcAft>
              <a:buClr>
                <a:schemeClr val="lt1"/>
              </a:buClr>
              <a:buSzPts val="100"/>
              <a:buAutoNum type="alphaLcPeriod"/>
            </a:pPr>
            <a:r>
              <a:rPr lang="en" sz="100">
                <a:solidFill>
                  <a:schemeClr val="lt1"/>
                </a:solidFill>
              </a:rPr>
              <a:t>Data quality (possible collaborators: Louisiana Tech, UT Austin, UTA, LBL/UC Berkeley, Stony Brook)</a:t>
            </a:r>
            <a:endParaRPr sz="100">
              <a:solidFill>
                <a:schemeClr val="lt1"/>
              </a:solidFill>
            </a:endParaRPr>
          </a:p>
          <a:p>
            <a:pPr marL="914400" lvl="1" indent="-234950" algn="l" rtl="0">
              <a:lnSpc>
                <a:spcPct val="115000"/>
              </a:lnSpc>
              <a:spcBef>
                <a:spcPts val="0"/>
              </a:spcBef>
              <a:spcAft>
                <a:spcPts val="0"/>
              </a:spcAft>
              <a:buClr>
                <a:schemeClr val="lt1"/>
              </a:buClr>
              <a:buSzPts val="100"/>
              <a:buAutoNum type="alphaLcPeriod"/>
            </a:pPr>
            <a:r>
              <a:rPr lang="en" sz="100">
                <a:solidFill>
                  <a:schemeClr val="lt1"/>
                </a:solidFill>
              </a:rPr>
              <a:t>AI Ready Data on Demand (possible collaborators: UMass, …)</a:t>
            </a:r>
            <a:endParaRPr sz="100">
              <a:solidFill>
                <a:schemeClr val="lt1"/>
              </a:solidFill>
            </a:endParaRPr>
          </a:p>
          <a:p>
            <a:pPr marL="548640" lvl="1" indent="-304800" algn="l" rtl="0">
              <a:lnSpc>
                <a:spcPct val="115000"/>
              </a:lnSpc>
              <a:spcBef>
                <a:spcPts val="0"/>
              </a:spcBef>
              <a:spcAft>
                <a:spcPts val="0"/>
              </a:spcAft>
              <a:buSzPts val="1200"/>
              <a:buAutoNum type="alphaLcPeriod"/>
            </a:pPr>
            <a:r>
              <a:rPr lang="en" sz="1200" b="1"/>
              <a:t>Real-time anomaly-detection on time-series for Operation Monitoring (possible collaborators: Argonne, SLAC, UTA, …)</a:t>
            </a:r>
            <a:endParaRPr sz="1200"/>
          </a:p>
          <a:p>
            <a:pPr marL="822960" lvl="2" indent="-304800" algn="l" rtl="0">
              <a:lnSpc>
                <a:spcPct val="115000"/>
              </a:lnSpc>
              <a:spcBef>
                <a:spcPts val="0"/>
              </a:spcBef>
              <a:spcAft>
                <a:spcPts val="0"/>
              </a:spcAft>
              <a:buSzPts val="1200"/>
              <a:buAutoNum type="romanLcPeriod"/>
            </a:pPr>
            <a:r>
              <a:rPr lang="en" sz="1200" b="1"/>
              <a:t>Use anomaly detection in operational data</a:t>
            </a:r>
            <a:r>
              <a:rPr lang="en" sz="1200"/>
              <a:t> to identify detector issues early and potentially predict failures. This could be done through combination of various sources of information (which are somewhat correlated): HLT farm monitoring: Detecting anomalies in data collection manager (DCM) rates, Level-1 and HLT trigger rate monitoring;</a:t>
            </a:r>
            <a:endParaRPr sz="1200"/>
          </a:p>
          <a:p>
            <a:pPr marL="548640" lvl="1" indent="-304800" algn="l" rtl="0">
              <a:lnSpc>
                <a:spcPct val="115000"/>
              </a:lnSpc>
              <a:spcBef>
                <a:spcPts val="0"/>
              </a:spcBef>
              <a:spcAft>
                <a:spcPts val="0"/>
              </a:spcAft>
              <a:buSzPts val="1200"/>
              <a:buAutoNum type="alphaLcPeriod"/>
            </a:pPr>
            <a:r>
              <a:rPr lang="en" sz="1200" b="1"/>
              <a:t>AI-Driven Operational Support System with RAG and Agentic Pipelines</a:t>
            </a:r>
            <a:r>
              <a:rPr lang="en" sz="1200"/>
              <a:t> </a:t>
            </a:r>
            <a:r>
              <a:rPr lang="en" sz="1200" b="1"/>
              <a:t>(possible collaborators: Argonne, UCI, …)</a:t>
            </a:r>
            <a:endParaRPr sz="1200" b="1"/>
          </a:p>
          <a:p>
            <a:pPr marL="822960" lvl="2" indent="-304800" algn="l" rtl="0">
              <a:lnSpc>
                <a:spcPct val="115000"/>
              </a:lnSpc>
              <a:spcBef>
                <a:spcPts val="0"/>
              </a:spcBef>
              <a:spcAft>
                <a:spcPts val="0"/>
              </a:spcAft>
              <a:buSzPts val="1200"/>
              <a:buAutoNum type="romanLcPeriod"/>
            </a:pPr>
            <a:r>
              <a:rPr lang="en" sz="1200" b="1"/>
              <a:t>Design, implement and evaluate AI-based systems (LLMs and agents) to support shifters and experts in the day-to-day operation</a:t>
            </a:r>
            <a:r>
              <a:rPr lang="en" sz="1200"/>
              <a:t>. Some options include:</a:t>
            </a:r>
            <a:endParaRPr sz="1200"/>
          </a:p>
          <a:p>
            <a:pPr marL="1097280" lvl="0" indent="-304800" algn="l" rtl="0">
              <a:lnSpc>
                <a:spcPct val="115000"/>
              </a:lnSpc>
              <a:spcBef>
                <a:spcPts val="0"/>
              </a:spcBef>
              <a:spcAft>
                <a:spcPts val="0"/>
              </a:spcAft>
              <a:buSzPts val="1200"/>
              <a:buChar char="●"/>
            </a:pPr>
            <a:r>
              <a:rPr lang="en" sz="1200"/>
              <a:t>Assist shifters and experts by answering questions from documentation in the experiment (twiki, jira, elog ELISA, DAQ message feed/shifter assistant) with a RAG-based chatbot to reduce the response time in case of issues. </a:t>
            </a:r>
            <a:endParaRPr sz="1200"/>
          </a:p>
          <a:p>
            <a:pPr marL="1097280" lvl="0" indent="-304800" algn="l" rtl="0">
              <a:lnSpc>
                <a:spcPct val="115000"/>
              </a:lnSpc>
              <a:spcBef>
                <a:spcPts val="0"/>
              </a:spcBef>
              <a:spcAft>
                <a:spcPts val="0"/>
              </a:spcAft>
              <a:buSzPts val="1200"/>
              <a:buChar char="●"/>
            </a:pPr>
            <a:r>
              <a:rPr lang="en" sz="1200"/>
              <a:t>Provide a quick summary of daily activities and happenings in the form of a daily summary from shift logs of the day (not just the 3 summaries by the shift leader but by a larger selection of elog entries, also by other systems. This can also assist the shift crew / experts to get an overview of the daily activities faster in case of issues.</a:t>
            </a:r>
            <a:endParaRPr sz="1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57558"/>
              <a:buFont typeface="Arial"/>
              <a:buNone/>
            </a:pPr>
            <a:r>
              <a:rPr lang="en" sz="1911"/>
              <a:t>Self-Driving Trigger Systems: Deploying Autonomous Real-Time Data Acquisition and Online Foundation Model Inference for DOE High-Energy Physics Facilities (Miller)</a:t>
            </a:r>
            <a:endParaRPr sz="1911"/>
          </a:p>
          <a:p>
            <a:pPr marL="0" lvl="0" indent="0" algn="l" rtl="0">
              <a:spcBef>
                <a:spcPts val="0"/>
              </a:spcBef>
              <a:spcAft>
                <a:spcPts val="0"/>
              </a:spcAft>
              <a:buClr>
                <a:schemeClr val="dk1"/>
              </a:buClr>
              <a:buSzPct val="39286"/>
              <a:buFont typeface="Arial"/>
              <a:buNone/>
            </a:pPr>
            <a:endParaRPr/>
          </a:p>
          <a:p>
            <a:pPr marL="0" lvl="0" indent="0" algn="l" rtl="0">
              <a:spcBef>
                <a:spcPts val="0"/>
              </a:spcBef>
              <a:spcAft>
                <a:spcPts val="0"/>
              </a:spcAft>
              <a:buNone/>
            </a:pPr>
            <a:endParaRPr/>
          </a:p>
        </p:txBody>
      </p:sp>
      <p:sp>
        <p:nvSpPr>
          <p:cNvPr id="292" name="Google Shape;292;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lnSpc>
                <a:spcPct val="95000"/>
              </a:lnSpc>
              <a:spcBef>
                <a:spcPts val="0"/>
              </a:spcBef>
              <a:spcAft>
                <a:spcPts val="0"/>
              </a:spcAft>
              <a:buNone/>
            </a:pPr>
            <a:r>
              <a:rPr lang="en" sz="1500"/>
              <a:t>Plan to demonstrate autonomous trigger menu optimization and physics gains</a:t>
            </a:r>
            <a:endParaRPr sz="1500"/>
          </a:p>
          <a:p>
            <a:pPr marL="0" lvl="0" indent="0" algn="l" rtl="0">
              <a:lnSpc>
                <a:spcPct val="95000"/>
              </a:lnSpc>
              <a:spcBef>
                <a:spcPts val="1200"/>
              </a:spcBef>
              <a:spcAft>
                <a:spcPts val="0"/>
              </a:spcAft>
              <a:buNone/>
            </a:pPr>
            <a:r>
              <a:rPr lang="en" sz="1500"/>
              <a:t>Builds on existing work across L0/L1/HLT</a:t>
            </a:r>
            <a:endParaRPr sz="1500"/>
          </a:p>
          <a:p>
            <a:pPr marL="0" lvl="0" indent="0" algn="l" rtl="0">
              <a:lnSpc>
                <a:spcPct val="95000"/>
              </a:lnSpc>
              <a:spcBef>
                <a:spcPts val="1200"/>
              </a:spcBef>
              <a:spcAft>
                <a:spcPts val="0"/>
              </a:spcAft>
              <a:buNone/>
            </a:pPr>
            <a:r>
              <a:rPr lang="en" sz="1500"/>
              <a:t>“Go/No Go” demonstration of cross-experiment generalizability and impact</a:t>
            </a:r>
            <a:endParaRPr sz="1500"/>
          </a:p>
          <a:p>
            <a:pPr marL="0" lvl="0" indent="0" algn="l" rtl="0">
              <a:lnSpc>
                <a:spcPct val="95000"/>
              </a:lnSpc>
              <a:spcBef>
                <a:spcPts val="1200"/>
              </a:spcBef>
              <a:spcAft>
                <a:spcPts val="0"/>
              </a:spcAft>
              <a:buNone/>
            </a:pPr>
            <a:r>
              <a:rPr lang="en" sz="1500"/>
              <a:t>Builds on our existing collaboration to deliver a real-time DAQ system that can demonstrate intelligent feedback and control to the ATLAS/CMS trigger combined with a foundation model guiding a reinforcement learning agent or PID loop for optimization, and trigger level analysis. </a:t>
            </a:r>
            <a:endParaRPr sz="1500"/>
          </a:p>
          <a:p>
            <a:pPr marL="0" lvl="0" indent="0" algn="l" rtl="0">
              <a:lnSpc>
                <a:spcPct val="95000"/>
              </a:lnSpc>
              <a:spcBef>
                <a:spcPts val="1200"/>
              </a:spcBef>
              <a:spcAft>
                <a:spcPts val="0"/>
              </a:spcAft>
              <a:buNone/>
            </a:pPr>
            <a:r>
              <a:rPr lang="en" sz="1500"/>
              <a:t>The system would monitor both physics coverage and resource usage, and we’d aim to demonstrate the ability to transfer the model between different experiments (ie ATLAS and CMS) with minimal retraining.</a:t>
            </a:r>
            <a:endParaRPr sz="1500"/>
          </a:p>
          <a:p>
            <a:pPr marL="0" lvl="0" indent="0" algn="l" rtl="0">
              <a:lnSpc>
                <a:spcPct val="95000"/>
              </a:lnSpc>
              <a:spcBef>
                <a:spcPts val="1200"/>
              </a:spcBef>
              <a:spcAft>
                <a:spcPts val="0"/>
              </a:spcAft>
              <a:buNone/>
            </a:pPr>
            <a:endParaRPr sz="1500"/>
          </a:p>
          <a:p>
            <a:pPr marL="0" lvl="0" indent="0" algn="l" rtl="0">
              <a:spcBef>
                <a:spcPts val="1200"/>
              </a:spcBef>
              <a:spcAft>
                <a:spcPts val="0"/>
              </a:spcAft>
              <a:buClr>
                <a:schemeClr val="dk1"/>
              </a:buClr>
              <a:buSzPts val="1100"/>
              <a:buFont typeface="Arial"/>
              <a:buNone/>
            </a:pPr>
            <a:r>
              <a:rPr lang="en"/>
              <a:t>David W. Miller, David.W.Miller@uchicago.edu, University of Chicago</a:t>
            </a:r>
            <a:endParaRPr/>
          </a:p>
          <a:p>
            <a:pPr marL="0" lvl="0" indent="0" algn="l" rtl="0">
              <a:lnSpc>
                <a:spcPct val="95000"/>
              </a:lnSpc>
              <a:spcBef>
                <a:spcPts val="1200"/>
              </a:spcBef>
              <a:spcAft>
                <a:spcPts val="1200"/>
              </a:spcAft>
              <a:buNone/>
            </a:pPr>
            <a:endParaRPr sz="15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9"/>
          <p:cNvSpPr txBox="1">
            <a:spLocks noGrp="1"/>
          </p:cNvSpPr>
          <p:nvPr>
            <p:ph type="title"/>
          </p:nvPr>
        </p:nvSpPr>
        <p:spPr>
          <a:xfrm>
            <a:off x="311700" y="168200"/>
            <a:ext cx="8520600" cy="750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200" b="1"/>
              <a:t>AI agentic workflows for firmware and hardware integration in LS3 and future operations</a:t>
            </a:r>
            <a:endParaRPr sz="2600"/>
          </a:p>
        </p:txBody>
      </p:sp>
      <p:sp>
        <p:nvSpPr>
          <p:cNvPr id="298" name="Google Shape;298;p39"/>
          <p:cNvSpPr txBox="1">
            <a:spLocks noGrp="1"/>
          </p:cNvSpPr>
          <p:nvPr>
            <p:ph type="body" idx="1"/>
          </p:nvPr>
        </p:nvSpPr>
        <p:spPr>
          <a:xfrm>
            <a:off x="44850" y="958088"/>
            <a:ext cx="9054300" cy="3297000"/>
          </a:xfrm>
          <a:prstGeom prst="rect">
            <a:avLst/>
          </a:prstGeom>
        </p:spPr>
        <p:txBody>
          <a:bodyPr spcFirstLastPara="1" wrap="square" lIns="91425" tIns="91425" rIns="91425" bIns="91425" anchor="t" anchorCtr="0">
            <a:normAutofit fontScale="62500" lnSpcReduction="20000"/>
          </a:bodyPr>
          <a:lstStyle/>
          <a:p>
            <a:pPr marL="457200" lvl="0" indent="-307975" algn="l" rtl="0">
              <a:spcBef>
                <a:spcPts val="0"/>
              </a:spcBef>
              <a:spcAft>
                <a:spcPts val="0"/>
              </a:spcAft>
              <a:buClr>
                <a:schemeClr val="dk1"/>
              </a:buClr>
              <a:buSzPct val="100000"/>
              <a:buChar char="●"/>
            </a:pPr>
            <a:r>
              <a:rPr lang="en" sz="2000">
                <a:solidFill>
                  <a:schemeClr val="dk1"/>
                </a:solidFill>
              </a:rPr>
              <a:t>Leverage AI assisted toolkits for firmware and hardware integration in LS3 and future operations</a:t>
            </a:r>
            <a:endParaRPr sz="2000">
              <a:solidFill>
                <a:schemeClr val="dk1"/>
              </a:solidFill>
            </a:endParaRPr>
          </a:p>
          <a:p>
            <a:pPr marL="914400" lvl="1" indent="-307975" algn="l" rtl="0">
              <a:spcBef>
                <a:spcPts val="0"/>
              </a:spcBef>
              <a:spcAft>
                <a:spcPts val="0"/>
              </a:spcAft>
              <a:buClr>
                <a:schemeClr val="dk1"/>
              </a:buClr>
              <a:buSzPct val="100000"/>
              <a:buChar char="○"/>
            </a:pPr>
            <a:r>
              <a:rPr lang="en" sz="2000">
                <a:solidFill>
                  <a:schemeClr val="dk1"/>
                </a:solidFill>
              </a:rPr>
              <a:t>Significant firmware development with frequent updates needed for the integration and commissioning of the Run 4 ATLAS and CMS detectors</a:t>
            </a:r>
            <a:endParaRPr sz="2000">
              <a:solidFill>
                <a:schemeClr val="dk1"/>
              </a:solidFill>
            </a:endParaRPr>
          </a:p>
          <a:p>
            <a:pPr marL="914400" lvl="1" indent="-307975" algn="l" rtl="0">
              <a:spcBef>
                <a:spcPts val="0"/>
              </a:spcBef>
              <a:spcAft>
                <a:spcPts val="0"/>
              </a:spcAft>
              <a:buClr>
                <a:schemeClr val="dk1"/>
              </a:buClr>
              <a:buSzPct val="100000"/>
              <a:buChar char="○"/>
            </a:pPr>
            <a:r>
              <a:rPr lang="en" sz="2000">
                <a:solidFill>
                  <a:schemeClr val="dk1"/>
                </a:solidFill>
              </a:rPr>
              <a:t>Agents have been found to provide verifiably correct RTL, debugging, and algorithm-firmware codesign optimization (26XX.XXXXX)</a:t>
            </a:r>
            <a:endParaRPr sz="2000">
              <a:solidFill>
                <a:schemeClr val="dk1"/>
              </a:solidFill>
            </a:endParaRPr>
          </a:p>
          <a:p>
            <a:pPr marL="914400" lvl="1" indent="-307975" algn="l" rtl="0">
              <a:spcBef>
                <a:spcPts val="0"/>
              </a:spcBef>
              <a:spcAft>
                <a:spcPts val="0"/>
              </a:spcAft>
              <a:buClr>
                <a:schemeClr val="dk1"/>
              </a:buClr>
              <a:buSzPct val="100000"/>
              <a:buChar char="○"/>
            </a:pPr>
            <a:r>
              <a:rPr lang="en" sz="2000">
                <a:solidFill>
                  <a:schemeClr val="dk1"/>
                </a:solidFill>
              </a:rPr>
              <a:t>Further development of the existing agentic-based firmware code generator at SLAC to enable postdocs and students to rapidly develop, debug, and deploy firmware for FPGAs</a:t>
            </a:r>
            <a:endParaRPr sz="2000">
              <a:solidFill>
                <a:schemeClr val="dk1"/>
              </a:solidFill>
            </a:endParaRPr>
          </a:p>
          <a:p>
            <a:pPr marL="0" lvl="0" indent="0" algn="l" rtl="0">
              <a:spcBef>
                <a:spcPts val="0"/>
              </a:spcBef>
              <a:spcAft>
                <a:spcPts val="0"/>
              </a:spcAft>
              <a:buNone/>
            </a:pPr>
            <a:endParaRPr sz="2000">
              <a:solidFill>
                <a:schemeClr val="dk1"/>
              </a:solidFill>
            </a:endParaRPr>
          </a:p>
          <a:p>
            <a:pPr marL="457200" lvl="0" indent="-307975" algn="l" rtl="0">
              <a:spcBef>
                <a:spcPts val="0"/>
              </a:spcBef>
              <a:spcAft>
                <a:spcPts val="0"/>
              </a:spcAft>
              <a:buClr>
                <a:schemeClr val="dk1"/>
              </a:buClr>
              <a:buSzPct val="100000"/>
              <a:buChar char="●"/>
            </a:pPr>
            <a:r>
              <a:rPr lang="en" sz="2000" b="1">
                <a:solidFill>
                  <a:schemeClr val="dk1"/>
                </a:solidFill>
              </a:rPr>
              <a:t>6-month deliverable</a:t>
            </a:r>
            <a:r>
              <a:rPr lang="en" sz="2000">
                <a:solidFill>
                  <a:schemeClr val="dk1"/>
                </a:solidFill>
              </a:rPr>
              <a:t>: develop firmware for triggering on cosmic muon events inside the collision hall during LS3 integration/commissioning (many sub-detector frontend electronics operate in triggerless mode and no scintillators, making cosmic muon triggering particularly challenging)</a:t>
            </a:r>
            <a:endParaRPr sz="2000">
              <a:solidFill>
                <a:schemeClr val="dk1"/>
              </a:solidFill>
            </a:endParaRPr>
          </a:p>
          <a:p>
            <a:pPr marL="457200" lvl="0" indent="-307975" algn="l" rtl="0">
              <a:spcBef>
                <a:spcPts val="0"/>
              </a:spcBef>
              <a:spcAft>
                <a:spcPts val="0"/>
              </a:spcAft>
              <a:buClr>
                <a:schemeClr val="dk1"/>
              </a:buClr>
              <a:buSzPct val="100000"/>
              <a:buChar char="●"/>
            </a:pPr>
            <a:r>
              <a:rPr lang="en" sz="2000" b="1">
                <a:solidFill>
                  <a:schemeClr val="dk1"/>
                </a:solidFill>
              </a:rPr>
              <a:t>Phase-2 vision</a:t>
            </a:r>
            <a:r>
              <a:rPr lang="en" sz="2000">
                <a:solidFill>
                  <a:schemeClr val="dk1"/>
                </a:solidFill>
              </a:rPr>
              <a:t>: accelerate firmware development cycle for rapid trigger updates in HL-LHC and towards detector design/testing for FCC and beyond energy frontier </a:t>
            </a:r>
            <a:endParaRPr sz="2000">
              <a:solidFill>
                <a:schemeClr val="dk1"/>
              </a:solidFill>
            </a:endParaRPr>
          </a:p>
          <a:p>
            <a:pPr marL="0" lvl="0" indent="0" algn="l" rtl="0">
              <a:spcBef>
                <a:spcPts val="0"/>
              </a:spcBef>
              <a:spcAft>
                <a:spcPts val="0"/>
              </a:spcAft>
              <a:buNone/>
            </a:pPr>
            <a:endParaRPr sz="2000">
              <a:solidFill>
                <a:schemeClr val="dk1"/>
              </a:solidFill>
            </a:endParaRPr>
          </a:p>
          <a:p>
            <a:pPr marL="457200" lvl="0" indent="-307975" algn="l" rtl="0">
              <a:spcBef>
                <a:spcPts val="0"/>
              </a:spcBef>
              <a:spcAft>
                <a:spcPts val="0"/>
              </a:spcAft>
              <a:buClr>
                <a:schemeClr val="dk1"/>
              </a:buClr>
              <a:buSzPct val="100000"/>
              <a:buChar char="●"/>
            </a:pPr>
            <a:r>
              <a:rPr lang="en" sz="2000" b="1">
                <a:solidFill>
                  <a:schemeClr val="dk1"/>
                </a:solidFill>
              </a:rPr>
              <a:t>Institutions</a:t>
            </a:r>
            <a:r>
              <a:rPr lang="en" sz="2000">
                <a:solidFill>
                  <a:schemeClr val="dk1"/>
                </a:solidFill>
              </a:rPr>
              <a:t>: SLAC (Catrin, Julia, Qibin, Rainer), UMass (Verena), Michigan (Junjie junjie@umich.edu), …</a:t>
            </a:r>
            <a:endParaRPr sz="2000">
              <a:solidFill>
                <a:schemeClr val="dk1"/>
              </a:solidFill>
            </a:endParaRPr>
          </a:p>
          <a:p>
            <a:pPr marL="457200" lvl="0" indent="-307975" algn="l" rtl="0">
              <a:spcBef>
                <a:spcPts val="0"/>
              </a:spcBef>
              <a:spcAft>
                <a:spcPts val="0"/>
              </a:spcAft>
              <a:buClr>
                <a:schemeClr val="dk1"/>
              </a:buClr>
              <a:buSzPct val="100000"/>
              <a:buChar char="●"/>
            </a:pPr>
            <a:r>
              <a:rPr lang="en" sz="2000" b="1">
                <a:solidFill>
                  <a:schemeClr val="dk1"/>
                </a:solidFill>
              </a:rPr>
              <a:t>Focus area options</a:t>
            </a:r>
            <a:r>
              <a:rPr lang="en" sz="2000">
                <a:solidFill>
                  <a:schemeClr val="dk1"/>
                </a:solidFill>
              </a:rPr>
              <a:t>: </a:t>
            </a:r>
            <a:r>
              <a:rPr lang="en" sz="2000">
                <a:solidFill>
                  <a:schemeClr val="accent2"/>
                </a:solidFill>
              </a:rPr>
              <a:t>9C. "AI-Driven Architecture Design", 14C. "Expedited Discovery from High Complexity and Petabyte-Scale Datasets”</a:t>
            </a:r>
            <a:endParaRPr/>
          </a:p>
        </p:txBody>
      </p:sp>
      <p:pic>
        <p:nvPicPr>
          <p:cNvPr id="299" name="Google Shape;299;p39" title="Screenshot 2026-03-25 at 6.41.49 AM.png"/>
          <p:cNvPicPr preferRelativeResize="0"/>
          <p:nvPr/>
        </p:nvPicPr>
        <p:blipFill>
          <a:blip r:embed="rId3">
            <a:alphaModFix/>
          </a:blip>
          <a:stretch>
            <a:fillRect/>
          </a:stretch>
        </p:blipFill>
        <p:spPr>
          <a:xfrm>
            <a:off x="2043738" y="4255050"/>
            <a:ext cx="4602777" cy="815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Incorporating AI in ATLAS Data Quality Assessment</a:t>
            </a:r>
            <a:endParaRPr/>
          </a:p>
        </p:txBody>
      </p:sp>
      <p:sp>
        <p:nvSpPr>
          <p:cNvPr id="305" name="Google Shape;305;p40"/>
          <p:cNvSpPr txBox="1">
            <a:spLocks noGrp="1"/>
          </p:cNvSpPr>
          <p:nvPr>
            <p:ph type="body" idx="1"/>
          </p:nvPr>
        </p:nvSpPr>
        <p:spPr>
          <a:xfrm>
            <a:off x="311700" y="1512050"/>
            <a:ext cx="8520600" cy="305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Quality Monitoring in ATLAS currently depends on dozens of shifters examining hundreds of plots per run recorded. We will develop AI-based tools that incorporate high level processing of distributions across sub-detectors sand reconstructed physics objects with reinforcement learning to differentiate true data anomalies from expected variations. </a:t>
            </a:r>
            <a:endParaRPr/>
          </a:p>
          <a:p>
            <a:pPr marL="0" lvl="0" indent="0" algn="l" rtl="0">
              <a:spcBef>
                <a:spcPts val="1200"/>
              </a:spcBef>
              <a:spcAft>
                <a:spcPts val="0"/>
              </a:spcAft>
              <a:buNone/>
            </a:pPr>
            <a:r>
              <a:rPr lang="en"/>
              <a:t>Lee Sawyer, sawyer@latech.edu, Louisiana Tech</a:t>
            </a:r>
            <a:endParaRPr/>
          </a:p>
          <a:p>
            <a:pPr marL="0" lvl="0" indent="0" algn="l" rtl="0">
              <a:spcBef>
                <a:spcPts val="1200"/>
              </a:spcBef>
              <a:spcAft>
                <a:spcPts val="1200"/>
              </a:spcAft>
              <a:buNone/>
            </a:pPr>
            <a:r>
              <a:rPr lang="en"/>
              <a:t>data quality, data monitoring, reinforcement learning</a:t>
            </a:r>
            <a:endParaRPr/>
          </a:p>
        </p:txBody>
      </p:sp>
      <p:sp>
        <p:nvSpPr>
          <p:cNvPr id="306" name="Google Shape;306;p40"/>
          <p:cNvSpPr txBox="1"/>
          <p:nvPr/>
        </p:nvSpPr>
        <p:spPr>
          <a:xfrm>
            <a:off x="311700" y="1017725"/>
            <a:ext cx="7753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Genesis FY26 Phase 1 | Topic 14/C (Expedited Discovery)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620"/>
              <a:t>14-C: ML-Based Lossless Data Compression for Energy Frontier and Neutrino Experiments</a:t>
            </a:r>
            <a:endParaRPr sz="1620"/>
          </a:p>
        </p:txBody>
      </p:sp>
      <p:sp>
        <p:nvSpPr>
          <p:cNvPr id="312" name="Google Shape;312;p41"/>
          <p:cNvSpPr txBox="1">
            <a:spLocks noGrp="1"/>
          </p:cNvSpPr>
          <p:nvPr>
            <p:ph type="body" idx="1"/>
          </p:nvPr>
        </p:nvSpPr>
        <p:spPr>
          <a:xfrm>
            <a:off x="311700" y="930475"/>
            <a:ext cx="8520600" cy="39156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Clr>
                <a:schemeClr val="dk1"/>
              </a:buClr>
              <a:buSzPct val="61111"/>
              <a:buFont typeface="Arial"/>
              <a:buNone/>
            </a:pPr>
            <a:r>
              <a:rPr lang="en"/>
              <a:t>AI-driven lossless data compression for particle physics—</a:t>
            </a:r>
            <a:r>
              <a:rPr lang="en" b="1"/>
              <a:t>reducing storage costs for exabyte-scale datasets across the DOE large-experiment portfolio</a:t>
            </a:r>
            <a:r>
              <a:rPr lang="en"/>
              <a:t> and enabling </a:t>
            </a:r>
            <a:r>
              <a:rPr lang="en" b="1"/>
              <a:t>greater rates for near-real-time analysis streams at ATLAS (TLA) and CMS (L1 scouting)</a:t>
            </a:r>
            <a:r>
              <a:rPr lang="en"/>
              <a:t>.</a:t>
            </a:r>
            <a:endParaRPr/>
          </a:p>
          <a:p>
            <a:pPr marL="0" lvl="0" indent="0" algn="l" rtl="0">
              <a:spcBef>
                <a:spcPts val="0"/>
              </a:spcBef>
              <a:spcAft>
                <a:spcPts val="0"/>
              </a:spcAft>
              <a:buClr>
                <a:schemeClr val="dk1"/>
              </a:buClr>
              <a:buSzPct val="61111"/>
              <a:buFont typeface="Arial"/>
              <a:buNone/>
            </a:pPr>
            <a:endParaRPr/>
          </a:p>
          <a:p>
            <a:pPr marL="0" lvl="0" indent="0" algn="l" rtl="0">
              <a:spcBef>
                <a:spcPts val="0"/>
              </a:spcBef>
              <a:spcAft>
                <a:spcPts val="0"/>
              </a:spcAft>
              <a:buClr>
                <a:schemeClr val="dk1"/>
              </a:buClr>
              <a:buSzPct val="61111"/>
              <a:buFont typeface="Arial"/>
              <a:buNone/>
            </a:pPr>
            <a:r>
              <a:rPr lang="en" b="1"/>
              <a:t>Proposal</a:t>
            </a:r>
            <a:r>
              <a:rPr lang="en"/>
              <a:t> Systematic evaluation and further development of ML-based guaranteed-lossless compression on HEP data formats across ATLAS, CMS, and DUNE prototype data. Characterize compression performance/throughput, understand optimal representation and optimization considerations, theoretical limit, and robustness on a variety of data formats from L1 Scouting outputs to raw data to analysis ntuples/Open Data. Aligns with TREASURE.</a:t>
            </a:r>
            <a:endParaRPr/>
          </a:p>
          <a:p>
            <a:pPr marL="0" lvl="0" indent="0" algn="l" rtl="0">
              <a:spcBef>
                <a:spcPts val="0"/>
              </a:spcBef>
              <a:spcAft>
                <a:spcPts val="0"/>
              </a:spcAft>
              <a:buClr>
                <a:schemeClr val="dk1"/>
              </a:buClr>
              <a:buSzPct val="61111"/>
              <a:buFont typeface="Arial"/>
              <a:buNone/>
            </a:pPr>
            <a:endParaRPr/>
          </a:p>
          <a:p>
            <a:pPr marL="0" lvl="0" indent="0" algn="l" rtl="0">
              <a:spcBef>
                <a:spcPts val="0"/>
              </a:spcBef>
              <a:spcAft>
                <a:spcPts val="0"/>
              </a:spcAft>
              <a:buClr>
                <a:schemeClr val="dk1"/>
              </a:buClr>
              <a:buSzPct val="61111"/>
              <a:buFont typeface="Arial"/>
              <a:buNone/>
            </a:pPr>
            <a:r>
              <a:rPr lang="en" b="1"/>
              <a:t>Team (ATLAS, CMS, DUNE, Information theory)</a:t>
            </a:r>
            <a:endParaRPr b="1"/>
          </a:p>
          <a:p>
            <a:pPr marL="0" lvl="0" indent="0" algn="l" rtl="0">
              <a:spcBef>
                <a:spcPts val="0"/>
              </a:spcBef>
              <a:spcAft>
                <a:spcPts val="0"/>
              </a:spcAft>
              <a:buClr>
                <a:schemeClr val="dk1"/>
              </a:buClr>
              <a:buSzPct val="61111"/>
              <a:buFont typeface="Arial"/>
              <a:buNone/>
            </a:pPr>
            <a:r>
              <a:rPr lang="en" i="1"/>
              <a:t>OSU</a:t>
            </a:r>
            <a:r>
              <a:rPr lang="en"/>
              <a:t>: Boveia (PI, ATLAS TLA), Vallari (DUNE) + postdocs + students + OSU ECE/CSE collaborators (compression, HPC)</a:t>
            </a:r>
            <a:endParaRPr/>
          </a:p>
          <a:p>
            <a:pPr marL="0" lvl="0" indent="0" algn="l" rtl="0">
              <a:spcBef>
                <a:spcPts val="0"/>
              </a:spcBef>
              <a:spcAft>
                <a:spcPts val="0"/>
              </a:spcAft>
              <a:buClr>
                <a:schemeClr val="dk1"/>
              </a:buClr>
              <a:buSzPct val="61111"/>
              <a:buFont typeface="Arial"/>
              <a:buNone/>
            </a:pPr>
            <a:r>
              <a:rPr lang="en" i="1"/>
              <a:t>Fermilab</a:t>
            </a:r>
            <a:r>
              <a:rPr lang="en"/>
              <a:t>: Ngadiuba (CMS L1 Scouting)</a:t>
            </a:r>
            <a:endParaRPr/>
          </a:p>
          <a:p>
            <a:pPr marL="0" lvl="0" indent="0" algn="l" rtl="0">
              <a:spcBef>
                <a:spcPts val="0"/>
              </a:spcBef>
              <a:spcAft>
                <a:spcPts val="0"/>
              </a:spcAft>
              <a:buClr>
                <a:schemeClr val="dk1"/>
              </a:buClr>
              <a:buSzPct val="61111"/>
              <a:buFont typeface="Arial"/>
              <a:buNone/>
            </a:pPr>
            <a:r>
              <a:rPr lang="en" i="1"/>
              <a:t>BNL</a:t>
            </a:r>
            <a:r>
              <a:rPr lang="en"/>
              <a:t>: Cavaliere et al (ATLAS, TREASURE — discussed)</a:t>
            </a:r>
            <a:endParaRPr/>
          </a:p>
          <a:p>
            <a:pPr marL="0" lvl="0" indent="0" algn="l" rtl="0">
              <a:spcBef>
                <a:spcPts val="0"/>
              </a:spcBef>
              <a:spcAft>
                <a:spcPts val="0"/>
              </a:spcAft>
              <a:buClr>
                <a:schemeClr val="dk1"/>
              </a:buClr>
              <a:buSzPct val="61111"/>
              <a:buFont typeface="Arial"/>
              <a:buNone/>
            </a:pPr>
            <a:r>
              <a:rPr lang="en" i="1"/>
              <a:t>Manchester</a:t>
            </a:r>
            <a:r>
              <a:rPr lang="en"/>
              <a:t>: Doglioni (HSF + EU AI, ATLAS TLA) + software engineer + compression students </a:t>
            </a:r>
            <a:endParaRPr/>
          </a:p>
          <a:p>
            <a:pPr marL="0" lvl="0" indent="0" algn="l" rtl="0">
              <a:spcBef>
                <a:spcPts val="0"/>
              </a:spcBef>
              <a:spcAft>
                <a:spcPts val="0"/>
              </a:spcAft>
              <a:buClr>
                <a:schemeClr val="dk1"/>
              </a:buClr>
              <a:buSzPct val="61111"/>
              <a:buFont typeface="Arial"/>
              <a:buNone/>
            </a:pPr>
            <a:r>
              <a:rPr lang="en"/>
              <a:t>Other collaborators in progress—open to more!</a:t>
            </a:r>
            <a:endParaRPr/>
          </a:p>
          <a:p>
            <a:pPr marL="0" lvl="0" indent="0" algn="l" rtl="0">
              <a:spcBef>
                <a:spcPts val="0"/>
              </a:spcBef>
              <a:spcAft>
                <a:spcPts val="0"/>
              </a:spcAft>
              <a:buClr>
                <a:schemeClr val="dk1"/>
              </a:buClr>
              <a:buSzPct val="61111"/>
              <a:buFont typeface="Arial"/>
              <a:buNone/>
            </a:pPr>
            <a:endParaRPr/>
          </a:p>
          <a:p>
            <a:pPr marL="0" lvl="0" indent="0" algn="l" rtl="0">
              <a:spcBef>
                <a:spcPts val="0"/>
              </a:spcBef>
              <a:spcAft>
                <a:spcPts val="0"/>
              </a:spcAft>
              <a:buClr>
                <a:schemeClr val="dk1"/>
              </a:buClr>
              <a:buSzPct val="61111"/>
              <a:buFont typeface="Arial"/>
              <a:buNone/>
            </a:pPr>
            <a:r>
              <a:rPr lang="en" b="1"/>
              <a:t>Resources</a:t>
            </a:r>
            <a:r>
              <a:rPr lang="en"/>
              <a:t> OSU HPC (e.g. ~&gt;10M GPU-hr) + potential additional resources available to BNL.</a:t>
            </a:r>
            <a:br>
              <a:rPr lang="en"/>
            </a:br>
            <a:r>
              <a:rPr lang="en"/>
              <a:t>Working compression codebase with a lossless encoder  (arXiv:2511.11337 submitted to MLST) benchmarked against 13+ algorithms.</a:t>
            </a:r>
            <a:br>
              <a:rPr lang="en"/>
            </a:br>
            <a:r>
              <a:rPr lang="en"/>
              <a:t>Additional existing collaboration network e.g. collaboration with ROOT/NextGen on integration.</a:t>
            </a:r>
            <a:endParaRPr/>
          </a:p>
          <a:p>
            <a:pPr marL="0" lvl="0" indent="0" algn="l" rtl="0">
              <a:spcBef>
                <a:spcPts val="0"/>
              </a:spcBef>
              <a:spcAft>
                <a:spcPts val="0"/>
              </a:spcAft>
              <a:buClr>
                <a:schemeClr val="dk1"/>
              </a:buClr>
              <a:buSzPct val="61111"/>
              <a:buFont typeface="Arial"/>
              <a:buNone/>
            </a:pPr>
            <a:endParaRPr/>
          </a:p>
          <a:p>
            <a:pPr marL="0" lvl="0" indent="0" algn="l" rtl="0">
              <a:spcBef>
                <a:spcPts val="0"/>
              </a:spcBef>
              <a:spcAft>
                <a:spcPts val="0"/>
              </a:spcAft>
              <a:buNone/>
            </a:pPr>
            <a:r>
              <a:rPr lang="en"/>
              <a:t>Phase II: develop production-ready implementations and benchmark for deployment in experiment data pipelines, real-time compression in the trigger, AI-accelerated analysis for TLA and scouting. </a:t>
            </a:r>
            <a:r>
              <a:rPr lang="en" i="1"/>
              <a:t>Aligns with TREASURE foundation model Phase II.</a:t>
            </a:r>
            <a:endParaRPr i="1"/>
          </a:p>
          <a:p>
            <a:pPr marL="0" lvl="0" indent="0" algn="l" rtl="0">
              <a:spcBef>
                <a:spcPts val="0"/>
              </a:spcBef>
              <a:spcAft>
                <a:spcPts val="0"/>
              </a:spcAft>
              <a:buClr>
                <a:schemeClr val="dk1"/>
              </a:buClr>
              <a:buSzPct val="61111"/>
              <a:buFont typeface="Arial"/>
              <a:buNone/>
            </a:pPr>
            <a:endParaRPr/>
          </a:p>
          <a:p>
            <a:pPr marL="0" lvl="0" indent="0" algn="l" rtl="0">
              <a:spcBef>
                <a:spcPts val="0"/>
              </a:spcBef>
              <a:spcAft>
                <a:spcPts val="0"/>
              </a:spcAft>
              <a:buNone/>
            </a:pPr>
            <a:r>
              <a:rPr lang="en" b="1"/>
              <a:t>Contact</a:t>
            </a:r>
            <a:r>
              <a:rPr lang="en"/>
              <a:t> Antonio Boveia, </a:t>
            </a:r>
            <a:r>
              <a:rPr lang="en" u="sng">
                <a:solidFill>
                  <a:schemeClr val="hlink"/>
                </a:solidFill>
                <a:hlinkClick r:id="rId3"/>
              </a:rPr>
              <a:t>boveia.1@osu.edu</a:t>
            </a:r>
            <a:endParaRPr/>
          </a:p>
          <a:p>
            <a:pPr marL="0" lvl="0" indent="0" algn="l" rtl="0">
              <a:spcBef>
                <a:spcPts val="0"/>
              </a:spcBef>
              <a:spcAft>
                <a:spcPts val="1200"/>
              </a:spcAft>
              <a:buNone/>
            </a:pPr>
            <a:r>
              <a:rPr lang="en"/>
              <a:t>lossless data compression, trigger-level analysis, data scouting, storage cost reduction, real-time analysis, online compression, cross-experiment methods, HL-LHC computing,compression benchmarking, information theory, AI-ready data formats, TREASURE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2"/>
          <p:cNvSpPr txBox="1">
            <a:spLocks noGrp="1"/>
          </p:cNvSpPr>
          <p:nvPr>
            <p:ph type="title" idx="4294967295"/>
          </p:nvPr>
        </p:nvSpPr>
        <p:spPr>
          <a:xfrm>
            <a:off x="452438" y="179368"/>
            <a:ext cx="8239200" cy="538200"/>
          </a:xfrm>
          <a:prstGeom prst="rect">
            <a:avLst/>
          </a:prstGeom>
          <a:noFill/>
          <a:ln>
            <a:noFill/>
          </a:ln>
        </p:spPr>
        <p:txBody>
          <a:bodyPr spcFirstLastPara="1" wrap="square" lIns="19050" tIns="19050" rIns="19050" bIns="19050" anchor="t" anchorCtr="0">
            <a:normAutofit/>
          </a:bodyPr>
          <a:lstStyle/>
          <a:p>
            <a:pPr marL="0" lvl="0" indent="0" algn="ctr" rtl="0">
              <a:lnSpc>
                <a:spcPct val="100000"/>
              </a:lnSpc>
              <a:spcBef>
                <a:spcPts val="0"/>
              </a:spcBef>
              <a:spcAft>
                <a:spcPts val="0"/>
              </a:spcAft>
              <a:buClr>
                <a:srgbClr val="EF7001"/>
              </a:buClr>
              <a:buSzPts val="2700"/>
              <a:buFont typeface="Jacques Francois Shadow"/>
              <a:buNone/>
            </a:pPr>
            <a:r>
              <a:rPr lang="en" sz="2500" b="0">
                <a:solidFill>
                  <a:srgbClr val="EF7001"/>
                </a:solidFill>
                <a:latin typeface="Jacques Francois Shadow"/>
                <a:ea typeface="Jacques Francois Shadow"/>
                <a:cs typeface="Jacques Francois Shadow"/>
                <a:sym typeface="Jacques Francois Shadow"/>
              </a:rPr>
              <a:t>ASSET: AI-Steered SMEFT Event Tomography</a:t>
            </a:r>
            <a:endParaRPr sz="2500"/>
          </a:p>
        </p:txBody>
      </p:sp>
      <p:sp>
        <p:nvSpPr>
          <p:cNvPr id="318" name="Google Shape;318;p42"/>
          <p:cNvSpPr txBox="1">
            <a:spLocks noGrp="1"/>
          </p:cNvSpPr>
          <p:nvPr>
            <p:ph type="body" idx="4294967295"/>
          </p:nvPr>
        </p:nvSpPr>
        <p:spPr>
          <a:xfrm>
            <a:off x="0" y="720850"/>
            <a:ext cx="4505100" cy="2289000"/>
          </a:xfrm>
          <a:prstGeom prst="rect">
            <a:avLst/>
          </a:prstGeom>
          <a:noFill/>
          <a:ln>
            <a:noFill/>
          </a:ln>
        </p:spPr>
        <p:txBody>
          <a:bodyPr spcFirstLastPara="1" wrap="square" lIns="19050" tIns="19050" rIns="19050" bIns="19050" anchor="t" anchorCtr="0">
            <a:normAutofit fontScale="92500" lnSpcReduction="10000"/>
          </a:bodyPr>
          <a:lstStyle/>
          <a:p>
            <a:pPr marL="165100" lvl="0" indent="-159385" algn="l" rtl="0">
              <a:lnSpc>
                <a:spcPct val="100000"/>
              </a:lnSpc>
              <a:spcBef>
                <a:spcPts val="0"/>
              </a:spcBef>
              <a:spcAft>
                <a:spcPts val="0"/>
              </a:spcAft>
              <a:buClr>
                <a:srgbClr val="000000"/>
              </a:buClr>
              <a:buSzPct val="100000"/>
              <a:buFont typeface="Helvetica Neue"/>
              <a:buChar char="•"/>
            </a:pPr>
            <a:r>
              <a:rPr lang="en" sz="1200"/>
              <a:t>We propose a novel, unified AI approach to the confluence of multi-boson production, spin-density matrix (QIS) determination, and SMEFT interpretation for data-driven discovery</a:t>
            </a:r>
            <a:endParaRPr sz="1200"/>
          </a:p>
          <a:p>
            <a:pPr marL="165100" lvl="0" indent="-159385" algn="l" rtl="0">
              <a:lnSpc>
                <a:spcPct val="100000"/>
              </a:lnSpc>
              <a:spcBef>
                <a:spcPts val="500"/>
              </a:spcBef>
              <a:spcAft>
                <a:spcPts val="0"/>
              </a:spcAft>
              <a:buClr>
                <a:srgbClr val="000000"/>
              </a:buClr>
              <a:buSzPct val="100000"/>
              <a:buFont typeface="Helvetica Neue"/>
              <a:buChar char="•"/>
            </a:pPr>
            <a:r>
              <a:rPr lang="en" sz="1200"/>
              <a:t>Powerful AI methods such as </a:t>
            </a:r>
            <a:r>
              <a:rPr lang="en" sz="1200" i="1"/>
              <a:t>neural simulation-based inference</a:t>
            </a:r>
            <a:r>
              <a:rPr lang="en" sz="1200"/>
              <a:t> with </a:t>
            </a:r>
            <a:r>
              <a:rPr lang="en" sz="1200" i="1"/>
              <a:t>agentic optimization</a:t>
            </a:r>
            <a:r>
              <a:rPr lang="en" sz="1200"/>
              <a:t> can extract subtle kinematic features from complex event topologies and perform inference in high-dimensional spaces in an automated and efficient manner</a:t>
            </a:r>
            <a:endParaRPr sz="1200"/>
          </a:p>
          <a:p>
            <a:pPr marL="165100" lvl="0" indent="-159385" algn="l" rtl="0">
              <a:lnSpc>
                <a:spcPct val="100000"/>
              </a:lnSpc>
              <a:spcBef>
                <a:spcPts val="500"/>
              </a:spcBef>
              <a:spcAft>
                <a:spcPts val="0"/>
              </a:spcAft>
              <a:buClr>
                <a:srgbClr val="000000"/>
              </a:buClr>
              <a:buSzPct val="100000"/>
              <a:buFont typeface="Helvetica Neue"/>
              <a:buChar char="•"/>
            </a:pPr>
            <a:r>
              <a:rPr lang="en" sz="1200" i="1"/>
              <a:t>University Collaborators</a:t>
            </a:r>
            <a:r>
              <a:rPr lang="en" sz="1200"/>
              <a:t>: </a:t>
            </a:r>
            <a:r>
              <a:rPr lang="en" sz="1200" b="1"/>
              <a:t>Saptaparna Bhattacharya</a:t>
            </a:r>
            <a:r>
              <a:rPr lang="en" sz="1200"/>
              <a:t> (SMU), Aishik Ghosh (Georgia Tech), </a:t>
            </a:r>
            <a:r>
              <a:rPr lang="en" sz="1200" b="1"/>
              <a:t>Mark Neubauer</a:t>
            </a:r>
            <a:r>
              <a:rPr lang="en" sz="1200"/>
              <a:t> (UIUC), Philip Chang (UF), Elliot Lipeles (Penn)</a:t>
            </a:r>
            <a:endParaRPr sz="1200"/>
          </a:p>
          <a:p>
            <a:pPr marL="914400" lvl="1" indent="-299085" algn="l" rtl="0">
              <a:lnSpc>
                <a:spcPct val="100000"/>
              </a:lnSpc>
              <a:spcBef>
                <a:spcPts val="500"/>
              </a:spcBef>
              <a:spcAft>
                <a:spcPts val="0"/>
              </a:spcAft>
              <a:buSzPct val="100000"/>
              <a:buChar char="○"/>
            </a:pPr>
            <a:r>
              <a:rPr lang="en" sz="1200" u="sng">
                <a:solidFill>
                  <a:schemeClr val="hlink"/>
                </a:solidFill>
                <a:hlinkClick r:id="rId3"/>
              </a:rPr>
              <a:t>saptaparnab@smu.edu</a:t>
            </a:r>
            <a:r>
              <a:rPr lang="en" sz="1200"/>
              <a:t>, </a:t>
            </a:r>
            <a:r>
              <a:rPr lang="en" sz="1200" u="sng">
                <a:solidFill>
                  <a:schemeClr val="hlink"/>
                </a:solidFill>
                <a:hlinkClick r:id="rId4"/>
              </a:rPr>
              <a:t>msn@illinois.edu</a:t>
            </a:r>
            <a:r>
              <a:rPr lang="en" sz="1200"/>
              <a:t> </a:t>
            </a:r>
            <a:endParaRPr sz="1200"/>
          </a:p>
          <a:p>
            <a:pPr marL="165100" lvl="0" indent="-159385" algn="l" rtl="0">
              <a:lnSpc>
                <a:spcPct val="100000"/>
              </a:lnSpc>
              <a:spcBef>
                <a:spcPts val="500"/>
              </a:spcBef>
              <a:spcAft>
                <a:spcPts val="0"/>
              </a:spcAft>
              <a:buClr>
                <a:srgbClr val="000000"/>
              </a:buClr>
              <a:buSzPct val="100000"/>
              <a:buFont typeface="Helvetica Neue"/>
              <a:buChar char="•"/>
            </a:pPr>
            <a:r>
              <a:rPr lang="en" sz="1200" i="1"/>
              <a:t>National lab partners</a:t>
            </a:r>
            <a:r>
              <a:rPr lang="en" sz="1200"/>
              <a:t>: ANL (Tim Hobbs, Walter Hopkins) and BNL (Sally Dawson, Robert Szafron)</a:t>
            </a:r>
            <a:endParaRPr sz="1200"/>
          </a:p>
        </p:txBody>
      </p:sp>
      <p:sp>
        <p:nvSpPr>
          <p:cNvPr id="319" name="Google Shape;319;p42"/>
          <p:cNvSpPr/>
          <p:nvPr/>
        </p:nvSpPr>
        <p:spPr>
          <a:xfrm>
            <a:off x="5430095" y="2516516"/>
            <a:ext cx="2604600" cy="2613600"/>
          </a:xfrm>
          <a:prstGeom prst="ellipse">
            <a:avLst/>
          </a:prstGeom>
          <a:solidFill>
            <a:srgbClr val="FFE6D1">
              <a:alpha val="79610"/>
            </a:srgbClr>
          </a:soli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20" name="Google Shape;320;p42"/>
          <p:cNvSpPr/>
          <p:nvPr/>
        </p:nvSpPr>
        <p:spPr>
          <a:xfrm>
            <a:off x="4505212" y="620252"/>
            <a:ext cx="2605200" cy="2605200"/>
          </a:xfrm>
          <a:prstGeom prst="ellipse">
            <a:avLst/>
          </a:prstGeom>
          <a:solidFill>
            <a:srgbClr val="D0CEFF">
              <a:alpha val="59609"/>
            </a:srgbClr>
          </a:soli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21" name="Google Shape;321;p42"/>
          <p:cNvSpPr/>
          <p:nvPr/>
        </p:nvSpPr>
        <p:spPr>
          <a:xfrm>
            <a:off x="6473618" y="620252"/>
            <a:ext cx="2605200" cy="2605200"/>
          </a:xfrm>
          <a:prstGeom prst="ellipse">
            <a:avLst/>
          </a:prstGeom>
          <a:solidFill>
            <a:srgbClr val="ECFFD1">
              <a:alpha val="59609"/>
            </a:srgbClr>
          </a:soli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22" name="Google Shape;322;p42"/>
          <p:cNvSpPr txBox="1"/>
          <p:nvPr/>
        </p:nvSpPr>
        <p:spPr>
          <a:xfrm>
            <a:off x="5159618" y="1157684"/>
            <a:ext cx="1296300" cy="315600"/>
          </a:xfrm>
          <a:prstGeom prst="rect">
            <a:avLst/>
          </a:prstGeom>
          <a:solidFill>
            <a:srgbClr val="D9CEFF"/>
          </a:solidFill>
          <a:ln>
            <a:noFill/>
          </a:ln>
          <a:effectLst>
            <a:outerShdw blurRad="190500" dist="8455" dir="5400000" rotWithShape="0">
              <a:srgbClr val="000000"/>
            </a:outerShdw>
          </a:effectLst>
        </p:spPr>
        <p:txBody>
          <a:bodyPr spcFirstLastPara="1" wrap="square" lIns="19050" tIns="19050" rIns="19050" bIns="19050" anchor="ctr" anchorCtr="0">
            <a:spAutoFit/>
          </a:bodyPr>
          <a:lstStyle/>
          <a:p>
            <a:pPr marL="0" marR="0" lvl="0" indent="0" algn="ctr" rtl="0">
              <a:lnSpc>
                <a:spcPct val="100000"/>
              </a:lnSpc>
              <a:spcBef>
                <a:spcPts val="0"/>
              </a:spcBef>
              <a:spcAft>
                <a:spcPts val="0"/>
              </a:spcAft>
              <a:buClr>
                <a:srgbClr val="000000"/>
              </a:buClr>
              <a:buSzPts val="1800"/>
              <a:buFont typeface="Helvetica Neue"/>
              <a:buNone/>
            </a:pPr>
            <a:r>
              <a:rPr lang="en" sz="1800" b="0" i="0" u="none" strike="noStrike" cap="none">
                <a:solidFill>
                  <a:srgbClr val="000000"/>
                </a:solidFill>
                <a:latin typeface="Helvetica Neue"/>
                <a:ea typeface="Helvetica Neue"/>
                <a:cs typeface="Helvetica Neue"/>
                <a:sym typeface="Helvetica Neue"/>
              </a:rPr>
              <a:t>Multibosons</a:t>
            </a:r>
            <a:endParaRPr sz="500"/>
          </a:p>
        </p:txBody>
      </p:sp>
      <p:pic>
        <p:nvPicPr>
          <p:cNvPr id="323" name="Google Shape;323;p42" descr="CMS-PAS-SMP-24-013_Figure_001.pdf"/>
          <p:cNvPicPr preferRelativeResize="0"/>
          <p:nvPr/>
        </p:nvPicPr>
        <p:blipFill rotWithShape="1">
          <a:blip r:embed="rId5">
            <a:alphaModFix/>
          </a:blip>
          <a:srcRect/>
          <a:stretch/>
        </p:blipFill>
        <p:spPr>
          <a:xfrm>
            <a:off x="72463" y="3042829"/>
            <a:ext cx="5087167" cy="2100669"/>
          </a:xfrm>
          <a:prstGeom prst="rect">
            <a:avLst/>
          </a:prstGeom>
          <a:noFill/>
          <a:ln>
            <a:noFill/>
          </a:ln>
        </p:spPr>
      </p:pic>
      <p:sp>
        <p:nvSpPr>
          <p:cNvPr id="324" name="Google Shape;324;p42"/>
          <p:cNvSpPr txBox="1"/>
          <p:nvPr/>
        </p:nvSpPr>
        <p:spPr>
          <a:xfrm>
            <a:off x="6861388" y="1157684"/>
            <a:ext cx="2003400" cy="315600"/>
          </a:xfrm>
          <a:prstGeom prst="rect">
            <a:avLst/>
          </a:prstGeom>
          <a:solidFill>
            <a:srgbClr val="D2FFD5"/>
          </a:solidFill>
          <a:ln>
            <a:noFill/>
          </a:ln>
          <a:effectLst>
            <a:outerShdw blurRad="190500" dist="8455" dir="5400000" rotWithShape="0">
              <a:srgbClr val="000000"/>
            </a:outerShdw>
          </a:effectLst>
        </p:spPr>
        <p:txBody>
          <a:bodyPr spcFirstLastPara="1" wrap="square" lIns="19050" tIns="19050" rIns="19050" bIns="19050" anchor="ctr" anchorCtr="0">
            <a:spAutoFit/>
          </a:bodyPr>
          <a:lstStyle/>
          <a:p>
            <a:pPr marL="0" marR="0" lvl="0" indent="0" algn="ctr" rtl="0">
              <a:lnSpc>
                <a:spcPct val="100000"/>
              </a:lnSpc>
              <a:spcBef>
                <a:spcPts val="0"/>
              </a:spcBef>
              <a:spcAft>
                <a:spcPts val="0"/>
              </a:spcAft>
              <a:buClr>
                <a:srgbClr val="000000"/>
              </a:buClr>
              <a:buSzPts val="1800"/>
              <a:buFont typeface="Helvetica Neue"/>
              <a:buNone/>
            </a:pPr>
            <a:r>
              <a:rPr lang="en" sz="1800" b="0" i="0" u="none" strike="noStrike" cap="none">
                <a:solidFill>
                  <a:srgbClr val="000000"/>
                </a:solidFill>
                <a:latin typeface="Helvetica Neue"/>
                <a:ea typeface="Helvetica Neue"/>
                <a:cs typeface="Helvetica Neue"/>
                <a:sym typeface="Helvetica Neue"/>
              </a:rPr>
              <a:t>Spin density matrix</a:t>
            </a:r>
            <a:endParaRPr sz="500"/>
          </a:p>
        </p:txBody>
      </p:sp>
      <p:sp>
        <p:nvSpPr>
          <p:cNvPr id="325" name="Google Shape;325;p42"/>
          <p:cNvSpPr txBox="1"/>
          <p:nvPr/>
        </p:nvSpPr>
        <p:spPr>
          <a:xfrm>
            <a:off x="5677170" y="3400296"/>
            <a:ext cx="2139000" cy="869700"/>
          </a:xfrm>
          <a:prstGeom prst="rect">
            <a:avLst/>
          </a:prstGeom>
          <a:solidFill>
            <a:srgbClr val="FFD4B6"/>
          </a:solidFill>
          <a:ln>
            <a:noFill/>
          </a:ln>
          <a:effectLst>
            <a:outerShdw blurRad="190500" dist="8455" dir="5400000" rotWithShape="0">
              <a:srgbClr val="000000"/>
            </a:outerShdw>
          </a:effectLst>
        </p:spPr>
        <p:txBody>
          <a:bodyPr spcFirstLastPara="1" wrap="square" lIns="19050" tIns="19050" rIns="19050" bIns="19050" anchor="ctr" anchorCtr="0">
            <a:spAutoFit/>
          </a:bodyPr>
          <a:lstStyle/>
          <a:p>
            <a:pPr marL="0" marR="0" lvl="0" indent="0" algn="ctr" rtl="0">
              <a:lnSpc>
                <a:spcPct val="100000"/>
              </a:lnSpc>
              <a:spcBef>
                <a:spcPts val="0"/>
              </a:spcBef>
              <a:spcAft>
                <a:spcPts val="0"/>
              </a:spcAft>
              <a:buClr>
                <a:srgbClr val="000000"/>
              </a:buClr>
              <a:buSzPts val="1800"/>
              <a:buFont typeface="Helvetica Neue"/>
              <a:buNone/>
            </a:pPr>
            <a:r>
              <a:rPr lang="en" sz="1800" b="0" i="0" u="none" strike="noStrike" cap="none">
                <a:solidFill>
                  <a:srgbClr val="000000"/>
                </a:solidFill>
                <a:latin typeface="Helvetica Neue"/>
                <a:ea typeface="Helvetica Neue"/>
                <a:cs typeface="Helvetica Neue"/>
                <a:sym typeface="Helvetica Neue"/>
              </a:rPr>
              <a:t>Standard Model Effective Field Theory</a:t>
            </a:r>
            <a:endParaRPr sz="500"/>
          </a:p>
        </p:txBody>
      </p:sp>
      <p:pic>
        <p:nvPicPr>
          <p:cNvPr id="326" name="Google Shape;326;p42" descr="fig_01b.pdf"/>
          <p:cNvPicPr preferRelativeResize="0"/>
          <p:nvPr/>
        </p:nvPicPr>
        <p:blipFill rotWithShape="1">
          <a:blip r:embed="rId6">
            <a:alphaModFix/>
          </a:blip>
          <a:srcRect/>
          <a:stretch/>
        </p:blipFill>
        <p:spPr>
          <a:xfrm>
            <a:off x="4734389" y="1537596"/>
            <a:ext cx="949826" cy="770400"/>
          </a:xfrm>
          <a:prstGeom prst="rect">
            <a:avLst/>
          </a:prstGeom>
          <a:noFill/>
          <a:ln>
            <a:noFill/>
          </a:ln>
        </p:spPr>
      </p:pic>
      <p:pic>
        <p:nvPicPr>
          <p:cNvPr id="327" name="Google Shape;327;p42" descr="feynman_quartic_WWW.pdf"/>
          <p:cNvPicPr preferRelativeResize="0"/>
          <p:nvPr/>
        </p:nvPicPr>
        <p:blipFill rotWithShape="1">
          <a:blip r:embed="rId7">
            <a:alphaModFix/>
          </a:blip>
          <a:srcRect/>
          <a:stretch/>
        </p:blipFill>
        <p:spPr>
          <a:xfrm>
            <a:off x="5368211" y="2178601"/>
            <a:ext cx="999102" cy="770400"/>
          </a:xfrm>
          <a:prstGeom prst="rect">
            <a:avLst/>
          </a:prstGeom>
          <a:noFill/>
          <a:ln>
            <a:noFill/>
          </a:ln>
        </p:spPr>
      </p:pic>
      <p:pic>
        <p:nvPicPr>
          <p:cNvPr id="328" name="Google Shape;328;p42" descr="Figure_001-a.pdf"/>
          <p:cNvPicPr preferRelativeResize="0"/>
          <p:nvPr/>
        </p:nvPicPr>
        <p:blipFill rotWithShape="1">
          <a:blip r:embed="rId8">
            <a:alphaModFix/>
          </a:blip>
          <a:srcRect/>
          <a:stretch/>
        </p:blipFill>
        <p:spPr>
          <a:xfrm>
            <a:off x="5740328" y="1538833"/>
            <a:ext cx="1130023" cy="653044"/>
          </a:xfrm>
          <a:prstGeom prst="rect">
            <a:avLst/>
          </a:prstGeom>
          <a:noFill/>
          <a:ln>
            <a:noFill/>
          </a:ln>
        </p:spPr>
      </p:pic>
      <p:pic>
        <p:nvPicPr>
          <p:cNvPr id="329" name="Google Shape;329;p42" descr="Pol.pdf"/>
          <p:cNvPicPr preferRelativeResize="0"/>
          <p:nvPr/>
        </p:nvPicPr>
        <p:blipFill rotWithShape="1">
          <a:blip r:embed="rId9">
            <a:alphaModFix/>
          </a:blip>
          <a:srcRect/>
          <a:stretch/>
        </p:blipFill>
        <p:spPr>
          <a:xfrm>
            <a:off x="7120689" y="1570317"/>
            <a:ext cx="1737230" cy="977194"/>
          </a:xfrm>
          <a:prstGeom prst="rect">
            <a:avLst/>
          </a:prstGeom>
          <a:noFill/>
          <a:ln>
            <a:noFill/>
          </a:ln>
          <a:effectLst>
            <a:outerShdw blurRad="190500" dist="8455" dir="5400000" rotWithShape="0">
              <a:srgbClr val="000000"/>
            </a:outerShdw>
          </a:effectLst>
        </p:spPr>
      </p:pic>
      <p:pic>
        <p:nvPicPr>
          <p:cNvPr id="330" name="Google Shape;330;p42" title="Screen Shot 2026-03-24 at 4.55.19 PM.png"/>
          <p:cNvPicPr preferRelativeResize="0"/>
          <p:nvPr/>
        </p:nvPicPr>
        <p:blipFill>
          <a:blip r:embed="rId10">
            <a:alphaModFix/>
          </a:blip>
          <a:stretch>
            <a:fillRect/>
          </a:stretch>
        </p:blipFill>
        <p:spPr>
          <a:xfrm>
            <a:off x="5725061" y="4355050"/>
            <a:ext cx="2014643" cy="303175"/>
          </a:xfrm>
          <a:prstGeom prst="rect">
            <a:avLst/>
          </a:prstGeom>
          <a:solidFill>
            <a:srgbClr val="FFE6D1">
              <a:alpha val="79610"/>
            </a:srgbClr>
          </a:solid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3"/>
          <p:cNvSpPr txBox="1">
            <a:spLocks noGrp="1"/>
          </p:cNvSpPr>
          <p:nvPr>
            <p:ph type="title" idx="4294967295"/>
          </p:nvPr>
        </p:nvSpPr>
        <p:spPr>
          <a:xfrm>
            <a:off x="197200" y="27000"/>
            <a:ext cx="8889900" cy="577500"/>
          </a:xfrm>
          <a:prstGeom prst="rect">
            <a:avLst/>
          </a:prstGeom>
        </p:spPr>
        <p:txBody>
          <a:bodyPr spcFirstLastPara="1" wrap="square" lIns="91425" tIns="91425" rIns="91425" bIns="91425" anchor="t" anchorCtr="0">
            <a:normAutofit fontScale="90000"/>
          </a:bodyPr>
          <a:lstStyle/>
          <a:p>
            <a:pPr marL="0" lvl="0" indent="0" algn="ctr" rtl="0">
              <a:lnSpc>
                <a:spcPct val="138000"/>
              </a:lnSpc>
              <a:spcBef>
                <a:spcPts val="2400"/>
              </a:spcBef>
              <a:spcAft>
                <a:spcPts val="0"/>
              </a:spcAft>
              <a:buClr>
                <a:schemeClr val="dk1"/>
              </a:buClr>
              <a:buSzPct val="47143"/>
              <a:buFont typeface="Arial"/>
              <a:buNone/>
            </a:pPr>
            <a:r>
              <a:rPr lang="en" sz="2333" b="1">
                <a:latin typeface="Calibri"/>
                <a:ea typeface="Calibri"/>
                <a:cs typeface="Calibri"/>
                <a:sym typeface="Calibri"/>
              </a:rPr>
              <a:t>A</a:t>
            </a:r>
            <a:r>
              <a:rPr lang="en" sz="2000" b="1">
                <a:latin typeface="Calibri"/>
                <a:ea typeface="Calibri"/>
                <a:cs typeface="Calibri"/>
                <a:sym typeface="Calibri"/>
              </a:rPr>
              <a:t>utonomous Discovery of New Physics Through Anomaly Detection with Agentic Workflow</a:t>
            </a:r>
            <a:endParaRPr sz="2000" b="1">
              <a:latin typeface="Calibri"/>
              <a:ea typeface="Calibri"/>
              <a:cs typeface="Calibri"/>
              <a:sym typeface="Calibri"/>
            </a:endParaRPr>
          </a:p>
          <a:p>
            <a:pPr marL="0" lvl="0" indent="0" algn="l" rtl="0">
              <a:spcBef>
                <a:spcPts val="600"/>
              </a:spcBef>
              <a:spcAft>
                <a:spcPts val="0"/>
              </a:spcAft>
              <a:buNone/>
            </a:pPr>
            <a:r>
              <a:rPr lang="en" sz="1800"/>
              <a:t>                                   </a:t>
            </a:r>
            <a:r>
              <a:rPr lang="en" sz="1800" u="sng">
                <a:solidFill>
                  <a:srgbClr val="FF0000"/>
                </a:solidFill>
              </a:rPr>
              <a:t> </a:t>
            </a:r>
            <a:endParaRPr sz="1800">
              <a:solidFill>
                <a:srgbClr val="FF0000"/>
              </a:solidFill>
            </a:endParaRPr>
          </a:p>
        </p:txBody>
      </p:sp>
      <p:sp>
        <p:nvSpPr>
          <p:cNvPr id="336" name="Google Shape;336;p43"/>
          <p:cNvSpPr txBox="1"/>
          <p:nvPr/>
        </p:nvSpPr>
        <p:spPr>
          <a:xfrm>
            <a:off x="149100" y="1215350"/>
            <a:ext cx="8845800" cy="2195400"/>
          </a:xfrm>
          <a:prstGeom prst="rect">
            <a:avLst/>
          </a:prstGeom>
          <a:noFill/>
          <a:ln>
            <a:noFill/>
          </a:ln>
        </p:spPr>
        <p:txBody>
          <a:bodyPr spcFirstLastPara="1" wrap="square" lIns="91425" tIns="91425" rIns="91425" bIns="91425" anchor="t" anchorCtr="0">
            <a:spAutoFit/>
          </a:bodyPr>
          <a:lstStyle/>
          <a:p>
            <a:pPr marL="0" lvl="0" indent="0" algn="just" rtl="0">
              <a:lnSpc>
                <a:spcPct val="138000"/>
              </a:lnSpc>
              <a:spcBef>
                <a:spcPts val="1200"/>
              </a:spcBef>
              <a:spcAft>
                <a:spcPts val="0"/>
              </a:spcAft>
              <a:buNone/>
            </a:pPr>
            <a:r>
              <a:rPr lang="en" sz="1300" b="1">
                <a:solidFill>
                  <a:schemeClr val="dk1"/>
                </a:solidFill>
                <a:latin typeface="Calibri"/>
                <a:ea typeface="Calibri"/>
                <a:cs typeface="Calibri"/>
                <a:sym typeface="Calibri"/>
              </a:rPr>
              <a:t>[Goal]</a:t>
            </a:r>
            <a:r>
              <a:rPr lang="en" sz="1300">
                <a:solidFill>
                  <a:schemeClr val="dk1"/>
                </a:solidFill>
                <a:latin typeface="Calibri"/>
                <a:ea typeface="Calibri"/>
                <a:cs typeface="Calibri"/>
                <a:sym typeface="Calibri"/>
              </a:rPr>
              <a:t> To develop an agentic AI framework to automate and enable a comprehensive, mode-agnostic scan for resonant new-physics signatures in particle collision experiments. The framework will systematically iterate over candidate invariant masses, retrain the anomaly-detection model for each probed mass, scan multiple anomaly-score thresholds, and evaluate the statistical significance of any localized enhancement in data. </a:t>
            </a:r>
            <a:endParaRPr sz="1300">
              <a:solidFill>
                <a:schemeClr val="dk1"/>
              </a:solidFill>
              <a:latin typeface="Calibri"/>
              <a:ea typeface="Calibri"/>
              <a:cs typeface="Calibri"/>
              <a:sym typeface="Calibri"/>
            </a:endParaRPr>
          </a:p>
          <a:p>
            <a:pPr marL="0" lvl="0" indent="0" algn="just" rtl="0">
              <a:lnSpc>
                <a:spcPct val="138000"/>
              </a:lnSpc>
              <a:spcBef>
                <a:spcPts val="1200"/>
              </a:spcBef>
              <a:spcAft>
                <a:spcPts val="1200"/>
              </a:spcAft>
              <a:buNone/>
            </a:pPr>
            <a:r>
              <a:rPr lang="en" sz="1300" b="1">
                <a:solidFill>
                  <a:schemeClr val="dk1"/>
                </a:solidFill>
                <a:latin typeface="Calibri"/>
                <a:ea typeface="Calibri"/>
                <a:cs typeface="Calibri"/>
                <a:sym typeface="Calibri"/>
              </a:rPr>
              <a:t>[Final outcome] </a:t>
            </a:r>
            <a:r>
              <a:rPr lang="en" sz="1300">
                <a:solidFill>
                  <a:schemeClr val="dk1"/>
                </a:solidFill>
                <a:latin typeface="Calibri"/>
                <a:ea typeface="Calibri"/>
                <a:cs typeface="Calibri"/>
                <a:sym typeface="Calibri"/>
              </a:rPr>
              <a:t>A data-driven, AI-enabled framework for discovering new resonant phenomena in collider experiments. It identifies the most likely signals in collision data, including the relevant physics channels, peak mass positions, and widths, after probing a range of sensitivity conditions for generic signals in anomaly-region scans.</a:t>
            </a:r>
            <a:endParaRPr sz="1300">
              <a:solidFill>
                <a:schemeClr val="dk1"/>
              </a:solidFill>
            </a:endParaRPr>
          </a:p>
        </p:txBody>
      </p:sp>
      <p:sp>
        <p:nvSpPr>
          <p:cNvPr id="337" name="Google Shape;337;p43"/>
          <p:cNvSpPr txBox="1"/>
          <p:nvPr/>
        </p:nvSpPr>
        <p:spPr>
          <a:xfrm>
            <a:off x="254250" y="4210300"/>
            <a:ext cx="5194200" cy="69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Contact: S.Chekanov (chekanov@anl.gov)</a:t>
            </a:r>
            <a:endParaRPr sz="1800">
              <a:solidFill>
                <a:srgbClr val="FF0000"/>
              </a:solidFill>
            </a:endParaRPr>
          </a:p>
        </p:txBody>
      </p:sp>
      <p:sp>
        <p:nvSpPr>
          <p:cNvPr id="338" name="Google Shape;338;p43"/>
          <p:cNvSpPr txBox="1"/>
          <p:nvPr/>
        </p:nvSpPr>
        <p:spPr>
          <a:xfrm>
            <a:off x="3869400" y="3661925"/>
            <a:ext cx="3609300" cy="57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FF0000"/>
                </a:solidFill>
              </a:rPr>
              <a:t>Looking for a PI from University !</a:t>
            </a:r>
            <a:endParaRPr sz="1600">
              <a:solidFill>
                <a:srgbClr val="FF0000"/>
              </a:solidFill>
            </a:endParaRPr>
          </a:p>
        </p:txBody>
      </p:sp>
      <p:sp>
        <p:nvSpPr>
          <p:cNvPr id="339" name="Google Shape;339;p43"/>
          <p:cNvSpPr txBox="1"/>
          <p:nvPr/>
        </p:nvSpPr>
        <p:spPr>
          <a:xfrm>
            <a:off x="254250" y="792875"/>
            <a:ext cx="8635500" cy="50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latin typeface="Calibri"/>
                <a:ea typeface="Calibri"/>
                <a:cs typeface="Calibri"/>
                <a:sym typeface="Calibri"/>
              </a:rPr>
              <a:t>Grand Challenge Topical Area: </a:t>
            </a:r>
            <a:r>
              <a:rPr lang="en" sz="1600" i="1">
                <a:solidFill>
                  <a:schemeClr val="dk1"/>
                </a:solidFill>
                <a:latin typeface="Calibri"/>
                <a:ea typeface="Calibri"/>
                <a:cs typeface="Calibri"/>
                <a:sym typeface="Calibri"/>
              </a:rPr>
              <a:t> </a:t>
            </a:r>
            <a:r>
              <a:rPr lang="en" sz="1600" i="1">
                <a:solidFill>
                  <a:schemeClr val="dk1"/>
                </a:solidFill>
              </a:rPr>
              <a:t>Unifying Physics from Quarks to the Cosmos</a:t>
            </a:r>
            <a:endParaRPr sz="1600" i="1">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p:txBody>
      </p:sp>
      <p:sp>
        <p:nvSpPr>
          <p:cNvPr id="340" name="Google Shape;340;p43"/>
          <p:cNvSpPr txBox="1"/>
          <p:nvPr/>
        </p:nvSpPr>
        <p:spPr>
          <a:xfrm>
            <a:off x="254250" y="3661925"/>
            <a:ext cx="4377900" cy="39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Participants: ANL, UIC, U.Wisc.</a:t>
            </a:r>
            <a:endParaRPr sz="18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344"/>
        <p:cNvGrpSpPr/>
        <p:nvPr/>
      </p:nvGrpSpPr>
      <p:grpSpPr>
        <a:xfrm>
          <a:off x="0" y="0"/>
          <a:ext cx="0" cy="0"/>
          <a:chOff x="0" y="0"/>
          <a:chExt cx="0" cy="0"/>
        </a:xfrm>
      </p:grpSpPr>
      <p:sp>
        <p:nvSpPr>
          <p:cNvPr id="345" name="Google Shape;345;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Projects being discussed</a:t>
            </a:r>
            <a:endParaRPr/>
          </a:p>
        </p:txBody>
      </p:sp>
      <p:sp>
        <p:nvSpPr>
          <p:cNvPr id="346" name="Google Shape;346;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AutoNum type="arabicPeriod"/>
            </a:pPr>
            <a:r>
              <a:rPr lang="en"/>
              <a:t>Paolo Agentic analysis: LBL, UW, connection with UC AF (conversation started)</a:t>
            </a:r>
            <a:endParaRPr/>
          </a:p>
          <a:p>
            <a:pPr marL="914400" lvl="1" indent="-304165" algn="l" rtl="0">
              <a:spcBef>
                <a:spcPts val="0"/>
              </a:spcBef>
              <a:spcAft>
                <a:spcPts val="0"/>
              </a:spcAft>
              <a:buSzPct val="100000"/>
              <a:buAutoNum type="alphaLcPeriod"/>
            </a:pPr>
            <a:r>
              <a:rPr lang="en"/>
              <a:t>Phase 1: UCB, UC, UCSC, LBNL, … </a:t>
            </a:r>
            <a:br>
              <a:rPr lang="en"/>
            </a:br>
            <a:r>
              <a:rPr lang="en" sz="1329"/>
              <a:t>Giordon/Ilija/Rob (</a:t>
            </a:r>
            <a:r>
              <a:rPr lang="en" sz="1329" u="sng">
                <a:solidFill>
                  <a:schemeClr val="accent5"/>
                </a:solidFill>
                <a:hlinkClick r:id="rId3">
                  <a:extLst>
                    <a:ext uri="{A12FA001-AC4F-418D-AE19-62706E023703}">
                      <ahyp:hlinkClr xmlns:ahyp="http://schemas.microsoft.com/office/drawing/2018/hyperlinkcolor" val="tx"/>
                    </a:ext>
                  </a:extLst>
                </a:hlinkClick>
              </a:rPr>
              <a:t>initial concept</a:t>
            </a:r>
            <a:r>
              <a:rPr lang="en" sz="1329"/>
              <a:t>) - agentic analysis framework</a:t>
            </a:r>
            <a:br>
              <a:rPr lang="en" sz="1800"/>
            </a:br>
            <a:r>
              <a:rPr lang="en"/>
              <a:t> </a:t>
            </a:r>
            <a:endParaRPr/>
          </a:p>
          <a:p>
            <a:pPr marL="457200" lvl="0" indent="-325755" algn="l" rtl="0">
              <a:spcBef>
                <a:spcPts val="0"/>
              </a:spcBef>
              <a:spcAft>
                <a:spcPts val="0"/>
              </a:spcAft>
              <a:buSzPct val="100000"/>
              <a:buAutoNum type="arabicPeriod"/>
            </a:pPr>
            <a:r>
              <a:rPr lang="en"/>
              <a:t>Alexei/Kaushik: Bamboo (Agentic PanDA): BNL, UTA, connection with Redwood? Talk with CMS on Friday</a:t>
            </a:r>
            <a:endParaRPr/>
          </a:p>
          <a:p>
            <a:pPr marL="457200" lvl="0" indent="-325755" algn="l" rtl="0">
              <a:spcBef>
                <a:spcPts val="0"/>
              </a:spcBef>
              <a:spcAft>
                <a:spcPts val="0"/>
              </a:spcAft>
              <a:buSzPct val="100000"/>
              <a:buAutoNum type="arabicPeriod"/>
            </a:pPr>
            <a:r>
              <a:rPr lang="en"/>
              <a:t>Alexei: New cyberinfrastructure (for HL-LHC/EIC) : BNL, UTA, … Google (Distributed computing evolution)</a:t>
            </a:r>
            <a:endParaRPr/>
          </a:p>
          <a:p>
            <a:pPr marL="457200" lvl="0" indent="-325755" algn="l" rtl="0">
              <a:spcBef>
                <a:spcPts val="0"/>
              </a:spcBef>
              <a:spcAft>
                <a:spcPts val="0"/>
              </a:spcAft>
              <a:buSzPct val="100000"/>
              <a:buAutoNum type="arabicPeriod"/>
            </a:pPr>
            <a:r>
              <a:rPr lang="en"/>
              <a:t>Kaushik: Automation of ATLAS computing facility operations; UTA, BNL, … Google (if we are allowed to have all 3)?</a:t>
            </a:r>
            <a:endParaRPr/>
          </a:p>
          <a:p>
            <a:pPr marL="914400" lvl="1" indent="-304165" algn="l" rtl="0">
              <a:spcBef>
                <a:spcPts val="0"/>
              </a:spcBef>
              <a:spcAft>
                <a:spcPts val="0"/>
              </a:spcAft>
              <a:buSzPct val="100000"/>
              <a:buAutoNum type="alphaLcPeriod"/>
            </a:pPr>
            <a:r>
              <a:rPr lang="en"/>
              <a:t>2,3, and 4 will be combined into a Phase 1. May not be good to combine with CMS yet and wait for Phase 2</a:t>
            </a:r>
            <a:endParaRPr/>
          </a:p>
          <a:p>
            <a:pPr marL="457200" lvl="0" indent="-325755" algn="l" rtl="0">
              <a:spcBef>
                <a:spcPts val="0"/>
              </a:spcBef>
              <a:spcAft>
                <a:spcPts val="0"/>
              </a:spcAft>
              <a:buSzPct val="100000"/>
              <a:buAutoNum type="arabicPeriod"/>
            </a:pPr>
            <a:r>
              <a:rPr lang="en"/>
              <a:t>Paolo: AI Ready Data on Demand (Analysis Facility-connected). Also connected to simulation on demand (e.g. OpenCosmos)</a:t>
            </a:r>
            <a:endParaRPr/>
          </a:p>
          <a:p>
            <a:pPr marL="914400" lvl="1" indent="-304165" algn="l" rtl="0">
              <a:spcBef>
                <a:spcPts val="0"/>
              </a:spcBef>
              <a:spcAft>
                <a:spcPts val="0"/>
              </a:spcAft>
              <a:buSzPct val="100000"/>
              <a:buAutoNum type="alphaLcPeriod"/>
            </a:pPr>
            <a:r>
              <a:rPr lang="en"/>
              <a:t>Verena: operations data must be made available as well</a:t>
            </a:r>
            <a:br>
              <a:rPr lang="en"/>
            </a:b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350"/>
        <p:cNvGrpSpPr/>
        <p:nvPr/>
      </p:nvGrpSpPr>
      <p:grpSpPr>
        <a:xfrm>
          <a:off x="0" y="0"/>
          <a:ext cx="0" cy="0"/>
          <a:chOff x="0" y="0"/>
          <a:chExt cx="0" cy="0"/>
        </a:xfrm>
      </p:grpSpPr>
      <p:sp>
        <p:nvSpPr>
          <p:cNvPr id="351" name="Google Shape;351;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Projects being discussed 2</a:t>
            </a:r>
            <a:endParaRPr/>
          </a:p>
        </p:txBody>
      </p:sp>
      <p:sp>
        <p:nvSpPr>
          <p:cNvPr id="352" name="Google Shape;352;p45"/>
          <p:cNvSpPr txBox="1">
            <a:spLocks noGrp="1"/>
          </p:cNvSpPr>
          <p:nvPr>
            <p:ph type="body" idx="1"/>
          </p:nvPr>
        </p:nvSpPr>
        <p:spPr>
          <a:xfrm>
            <a:off x="311700" y="737475"/>
            <a:ext cx="8520600" cy="42477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endParaRPr/>
          </a:p>
          <a:p>
            <a:pPr marL="457200" lvl="0" indent="-342900" algn="l" rtl="0">
              <a:spcBef>
                <a:spcPts val="1200"/>
              </a:spcBef>
              <a:spcAft>
                <a:spcPts val="0"/>
              </a:spcAft>
              <a:buSzPts val="1800"/>
              <a:buAutoNum type="arabicPeriod"/>
            </a:pPr>
            <a:r>
              <a:rPr lang="en"/>
              <a:t>Viviana: Foundation Models for HENP</a:t>
            </a:r>
            <a:endParaRPr/>
          </a:p>
          <a:p>
            <a:pPr marL="914400" lvl="1" indent="-317500" algn="l" rtl="0">
              <a:spcBef>
                <a:spcPts val="0"/>
              </a:spcBef>
              <a:spcAft>
                <a:spcPts val="0"/>
              </a:spcAft>
              <a:buSzPts val="1400"/>
              <a:buAutoNum type="alphaLcPeriod"/>
            </a:pPr>
            <a:r>
              <a:rPr lang="en"/>
              <a:t>Thinking about TREASURE phase 2. Need to go cross-frontier. Will require buy in from labs.</a:t>
            </a:r>
            <a:endParaRPr/>
          </a:p>
          <a:p>
            <a:pPr marL="914400" lvl="1" indent="-317500" algn="l" rtl="0">
              <a:spcBef>
                <a:spcPts val="0"/>
              </a:spcBef>
              <a:spcAft>
                <a:spcPts val="0"/>
              </a:spcAft>
              <a:buSzPts val="1400"/>
              <a:buAutoNum type="alphaLcPeriod"/>
            </a:pPr>
            <a:r>
              <a:rPr lang="en"/>
              <a:t>Current preferred: Alternative: multiple Phase 1 which will converge into a Phase 2 in December </a:t>
            </a:r>
            <a:endParaRPr/>
          </a:p>
          <a:p>
            <a:pPr marL="914400" lvl="1" indent="-317500" algn="l" rtl="0">
              <a:spcBef>
                <a:spcPts val="0"/>
              </a:spcBef>
              <a:spcAft>
                <a:spcPts val="0"/>
              </a:spcAft>
              <a:buSzPts val="1400"/>
              <a:buAutoNum type="alphaLcPeriod"/>
            </a:pPr>
            <a:r>
              <a:rPr lang="en"/>
              <a:t>Gordon: Phase 1 would need to be narrowly focused to deliver in six months</a:t>
            </a:r>
            <a:endParaRPr/>
          </a:p>
          <a:p>
            <a:pPr marL="457200" lvl="0" indent="-342900" algn="l" rtl="0">
              <a:spcBef>
                <a:spcPts val="0"/>
              </a:spcBef>
              <a:spcAft>
                <a:spcPts val="0"/>
              </a:spcAft>
              <a:buSzPts val="1800"/>
              <a:buAutoNum type="arabicPeriod"/>
            </a:pPr>
            <a:r>
              <a:rPr lang="en"/>
              <a:t>Catrin/Peter Detector operations</a:t>
            </a:r>
            <a:endParaRPr/>
          </a:p>
          <a:p>
            <a:pPr marL="914400" lvl="1" indent="-317500" algn="l" rtl="0">
              <a:spcBef>
                <a:spcPts val="0"/>
              </a:spcBef>
              <a:spcAft>
                <a:spcPts val="0"/>
              </a:spcAft>
              <a:buSzPts val="1400"/>
              <a:buAutoNum type="alphaLcPeriod"/>
            </a:pPr>
            <a:r>
              <a:rPr lang="en"/>
              <a:t>Projects discussed during SCOPE workshop last week</a:t>
            </a:r>
            <a:endParaRPr/>
          </a:p>
          <a:p>
            <a:pPr marL="457200" lvl="0" indent="-342900" algn="l" rtl="0">
              <a:spcBef>
                <a:spcPts val="0"/>
              </a:spcBef>
              <a:spcAft>
                <a:spcPts val="0"/>
              </a:spcAft>
              <a:buSzPts val="1800"/>
              <a:buAutoNum type="arabicPeriod"/>
            </a:pPr>
            <a:r>
              <a:rPr lang="en"/>
              <a:t>Self-Driving Trigger Systems: Deploying Autonomous Real-Time Data Acquisition and Online Foundation Model Inference for DOE High-Energy Physics Facilities</a:t>
            </a:r>
            <a:endParaRPr/>
          </a:p>
          <a:p>
            <a:pPr marL="914400" lvl="1" indent="-317500" algn="l" rtl="0">
              <a:spcBef>
                <a:spcPts val="0"/>
              </a:spcBef>
              <a:spcAft>
                <a:spcPts val="0"/>
              </a:spcAft>
              <a:buSzPts val="1400"/>
              <a:buAutoNum type="alphaLcPeriod"/>
            </a:pPr>
            <a:r>
              <a:rPr lang="en"/>
              <a:t>Targeting 14A</a:t>
            </a:r>
            <a:endParaRPr/>
          </a:p>
          <a:p>
            <a:pPr marL="914400" lvl="1" indent="-317500" algn="l" rtl="0">
              <a:spcBef>
                <a:spcPts val="0"/>
              </a:spcBef>
              <a:spcAft>
                <a:spcPts val="0"/>
              </a:spcAft>
              <a:buSzPts val="1400"/>
              <a:buAutoNum type="alphaLcPeriod"/>
            </a:pPr>
            <a:r>
              <a:rPr lang="en"/>
              <a:t>Presented at </a:t>
            </a:r>
            <a:r>
              <a:rPr lang="en" u="sng">
                <a:solidFill>
                  <a:schemeClr val="hlink"/>
                </a:solidFill>
                <a:hlinkClick r:id="rId3"/>
              </a:rPr>
              <a:t>ATLAS SCOPE workshop by David Miller (Chicago)</a:t>
            </a:r>
            <a:endParaRPr/>
          </a:p>
          <a:p>
            <a:pPr marL="914400" lvl="1" indent="-317500" algn="l" rtl="0">
              <a:spcBef>
                <a:spcPts val="0"/>
              </a:spcBef>
              <a:spcAft>
                <a:spcPts val="0"/>
              </a:spcAft>
              <a:buSzPts val="1400"/>
              <a:buAutoNum type="alphaLcPeriod"/>
            </a:pPr>
            <a:r>
              <a:rPr lang="en" u="sng">
                <a:solidFill>
                  <a:schemeClr val="hlink"/>
                </a:solidFill>
                <a:hlinkClick r:id="rId4"/>
              </a:rPr>
              <a:t>https://arxiv.org/abs/2104.06622</a:t>
            </a:r>
            <a:r>
              <a:rPr lang="en"/>
              <a:t> , </a:t>
            </a:r>
            <a:r>
              <a:rPr lang="en" u="sng">
                <a:solidFill>
                  <a:schemeClr val="hlink"/>
                </a:solidFill>
                <a:hlinkClick r:id="rId5"/>
              </a:rPr>
              <a:t>https://arxiv.org/abs/2601.08910</a:t>
            </a:r>
            <a:r>
              <a:rPr lang="en"/>
              <a:t> </a:t>
            </a:r>
            <a:endParaRPr/>
          </a:p>
          <a:p>
            <a:pPr marL="914400" lvl="1" indent="-317500" algn="l" rtl="0">
              <a:spcBef>
                <a:spcPts val="0"/>
              </a:spcBef>
              <a:spcAft>
                <a:spcPts val="0"/>
              </a:spcAft>
              <a:buSzPts val="1400"/>
              <a:buAutoNum type="alphaLcPeriod"/>
            </a:pPr>
            <a:r>
              <a:rPr lang="en"/>
              <a:t>ATLAS+CMS+Industry (NVIDIA)</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356"/>
        <p:cNvGrpSpPr/>
        <p:nvPr/>
      </p:nvGrpSpPr>
      <p:grpSpPr>
        <a:xfrm>
          <a:off x="0" y="0"/>
          <a:ext cx="0" cy="0"/>
          <a:chOff x="0" y="0"/>
          <a:chExt cx="0" cy="0"/>
        </a:xfrm>
      </p:grpSpPr>
      <p:sp>
        <p:nvSpPr>
          <p:cNvPr id="357" name="Google Shape;357;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Projects being discussed 3</a:t>
            </a:r>
            <a:endParaRPr/>
          </a:p>
        </p:txBody>
      </p:sp>
      <p:sp>
        <p:nvSpPr>
          <p:cNvPr id="358" name="Google Shape;358;p46"/>
          <p:cNvSpPr txBox="1">
            <a:spLocks noGrp="1"/>
          </p:cNvSpPr>
          <p:nvPr>
            <p:ph type="body" idx="1"/>
          </p:nvPr>
        </p:nvSpPr>
        <p:spPr>
          <a:xfrm>
            <a:off x="325165" y="737475"/>
            <a:ext cx="8520600" cy="4247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457200" lvl="0" indent="-342900" algn="l" rtl="0">
              <a:spcBef>
                <a:spcPts val="1200"/>
              </a:spcBef>
              <a:spcAft>
                <a:spcPts val="0"/>
              </a:spcAft>
              <a:buSzPts val="1800"/>
              <a:buAutoNum type="arabicPeriod"/>
            </a:pPr>
            <a:r>
              <a:rPr lang="en"/>
              <a:t>Shawn: AURA: </a:t>
            </a:r>
            <a:r>
              <a:rPr lang="en" sz="1400" i="1">
                <a:solidFill>
                  <a:srgbClr val="434343"/>
                </a:solidFill>
              </a:rPr>
              <a:t>Autonomous Unified Response Agents for Infrastructure Assurance, </a:t>
            </a:r>
            <a:r>
              <a:rPr lang="en" sz="1100">
                <a:solidFill>
                  <a:schemeClr val="dk1"/>
                </a:solidFill>
              </a:rPr>
              <a:t>This proposal addresses </a:t>
            </a:r>
            <a:r>
              <a:rPr lang="en" sz="1100" b="1">
                <a:solidFill>
                  <a:schemeClr val="dk1"/>
                </a:solidFill>
              </a:rPr>
              <a:t>Topic 15/A: AI for Operational Resilience of Scientific Infrastructure</a:t>
            </a:r>
            <a:r>
              <a:rPr lang="en" sz="1100">
                <a:solidFill>
                  <a:schemeClr val="dk1"/>
                </a:solidFill>
              </a:rPr>
              <a:t> by developing </a:t>
            </a:r>
            <a:r>
              <a:rPr lang="en" sz="1100" b="1">
                <a:solidFill>
                  <a:schemeClr val="dk1"/>
                </a:solidFill>
              </a:rPr>
              <a:t>AURA</a:t>
            </a:r>
            <a:r>
              <a:rPr lang="en" sz="1100">
                <a:solidFill>
                  <a:schemeClr val="dk1"/>
                </a:solidFill>
              </a:rPr>
              <a:t> - an autonomous cyberagent system that proactively identifies and mitigates infrastructure issues before they impact scientific workflows.</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a:t>Shawn: GUARDIAN: </a:t>
            </a:r>
            <a:r>
              <a:rPr lang="en" sz="1400" i="1">
                <a:solidFill>
                  <a:srgbClr val="434343"/>
                </a:solidFill>
              </a:rPr>
              <a:t>Generative AI-based Unified Response and Decision Intelligence for Advanced Networks, </a:t>
            </a:r>
            <a:r>
              <a:rPr lang="en" sz="1100">
                <a:solidFill>
                  <a:schemeClr val="dk1"/>
                </a:solidFill>
              </a:rPr>
              <a:t>This proposal addresses </a:t>
            </a:r>
            <a:r>
              <a:rPr lang="en" sz="1100" b="1">
                <a:solidFill>
                  <a:schemeClr val="dk1"/>
                </a:solidFill>
              </a:rPr>
              <a:t>Topic 20/A: Cybersecurity for AI-driven Science Workflows</a:t>
            </a:r>
            <a:r>
              <a:rPr lang="en" sz="1100">
                <a:solidFill>
                  <a:schemeClr val="dk1"/>
                </a:solidFill>
              </a:rPr>
              <a:t> by developing </a:t>
            </a:r>
            <a:r>
              <a:rPr lang="en" sz="1100" b="1">
                <a:solidFill>
                  <a:schemeClr val="dk1"/>
                </a:solidFill>
              </a:rPr>
              <a:t>GUARDIAN</a:t>
            </a:r>
            <a:r>
              <a:rPr lang="en" sz="1100">
                <a:solidFill>
                  <a:schemeClr val="dk1"/>
                </a:solidFill>
              </a:rPr>
              <a:t> - an AI/LLM Security Orchestrator that intelligently gathers, correlates, and acts upon security information from diverse scientific infrastructure sources. </a:t>
            </a:r>
            <a:endParaRPr sz="1100">
              <a:solidFill>
                <a:schemeClr val="dk1"/>
              </a:solidFill>
            </a:endParaRPr>
          </a:p>
          <a:p>
            <a:pPr marL="457200" lvl="0" indent="-317500" algn="l" rtl="0">
              <a:spcBef>
                <a:spcPts val="0"/>
              </a:spcBef>
              <a:spcAft>
                <a:spcPts val="0"/>
              </a:spcAft>
              <a:buSzPts val="1400"/>
              <a:buAutoNum type="arabicPeriod"/>
            </a:pPr>
            <a:r>
              <a:rPr lang="en" sz="1600" b="1"/>
              <a:t>Alex Undrus: Project ARGUS:</a:t>
            </a:r>
            <a:r>
              <a:rPr lang="en" sz="1400" b="1"/>
              <a:t> A</a:t>
            </a:r>
            <a:r>
              <a:rPr lang="en" sz="1400"/>
              <a:t>gentic </a:t>
            </a:r>
            <a:r>
              <a:rPr lang="en" sz="1400" b="1"/>
              <a:t>R</a:t>
            </a:r>
            <a:r>
              <a:rPr lang="en" sz="1400"/>
              <a:t>untime &amp; </a:t>
            </a:r>
            <a:r>
              <a:rPr lang="en" sz="1400" b="1"/>
              <a:t>G</a:t>
            </a:r>
            <a:r>
              <a:rPr lang="en" sz="1400"/>
              <a:t>eneralization for </a:t>
            </a:r>
            <a:r>
              <a:rPr lang="en" sz="1400" b="1"/>
              <a:t>U</a:t>
            </a:r>
            <a:r>
              <a:rPr lang="en" sz="1400"/>
              <a:t>niversal </a:t>
            </a:r>
            <a:r>
              <a:rPr lang="en" sz="1400" b="1"/>
              <a:t>S</a:t>
            </a:r>
            <a:r>
              <a:rPr lang="en" sz="1400"/>
              <a:t>oftware-orchestration. This proposal aligns </a:t>
            </a:r>
            <a:r>
              <a:rPr lang="en" sz="1100" b="1">
                <a:solidFill>
                  <a:schemeClr val="dk1"/>
                </a:solidFill>
              </a:rPr>
              <a:t>Topic 14/C</a:t>
            </a:r>
            <a:r>
              <a:rPr lang="en" sz="1100">
                <a:solidFill>
                  <a:schemeClr val="dk1"/>
                </a:solidFill>
              </a:rPr>
              <a:t> (Expedited Discovery) and </a:t>
            </a:r>
            <a:r>
              <a:rPr lang="en" sz="1100" b="1">
                <a:solidFill>
                  <a:schemeClr val="dk1"/>
                </a:solidFill>
              </a:rPr>
              <a:t>Focus Area 18</a:t>
            </a:r>
            <a:r>
              <a:rPr lang="en" sz="1100">
                <a:solidFill>
                  <a:schemeClr val="dk1"/>
                </a:solidFill>
              </a:rPr>
              <a:t> (AI-Assisted Software Engineering)</a:t>
            </a:r>
            <a:r>
              <a:rPr lang="en" sz="1400"/>
              <a:t>. It resonates AURA, but applies to the software development and testing lifecycle (with AI—automate, optimize, and generalize software orchestration, enabling more efficient and reliable development workflows)</a:t>
            </a:r>
            <a:endParaRPr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362"/>
        <p:cNvGrpSpPr/>
        <p:nvPr/>
      </p:nvGrpSpPr>
      <p:grpSpPr>
        <a:xfrm>
          <a:off x="0" y="0"/>
          <a:ext cx="0" cy="0"/>
          <a:chOff x="0" y="0"/>
          <a:chExt cx="0" cy="0"/>
        </a:xfrm>
      </p:grpSpPr>
      <p:sp>
        <p:nvSpPr>
          <p:cNvPr id="363" name="Google Shape;363;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ATLAS Analysis – the current approach</a:t>
            </a:r>
            <a:endParaRPr/>
          </a:p>
        </p:txBody>
      </p:sp>
      <p:sp>
        <p:nvSpPr>
          <p:cNvPr id="364" name="Google Shape;364;p47"/>
          <p:cNvSpPr txBox="1">
            <a:spLocks noGrp="1"/>
          </p:cNvSpPr>
          <p:nvPr>
            <p:ph type="body" idx="1"/>
          </p:nvPr>
        </p:nvSpPr>
        <p:spPr>
          <a:xfrm>
            <a:off x="4268425" y="1435440"/>
            <a:ext cx="4563900" cy="3609900"/>
          </a:xfrm>
          <a:prstGeom prst="rect">
            <a:avLst/>
          </a:prstGeom>
          <a:ln w="28575" cap="flat" cmpd="sng">
            <a:solidFill>
              <a:schemeClr val="accent1"/>
            </a:solidFill>
            <a:prstDash val="solid"/>
            <a:round/>
            <a:headEnd type="none" w="sm" len="sm"/>
            <a:tailEnd type="none" w="sm" len="sm"/>
          </a:ln>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a:t>ATLAS physics analysis has grown in complexity. </a:t>
            </a:r>
            <a:endParaRPr/>
          </a:p>
          <a:p>
            <a:pPr marL="457200" lvl="0" indent="-308610" algn="l" rtl="0">
              <a:spcBef>
                <a:spcPts val="1200"/>
              </a:spcBef>
              <a:spcAft>
                <a:spcPts val="0"/>
              </a:spcAft>
              <a:buSzPct val="100000"/>
              <a:buChar char="●"/>
            </a:pPr>
            <a:r>
              <a:rPr lang="en"/>
              <a:t>Terminals with </a:t>
            </a:r>
            <a:r>
              <a:rPr lang="en">
                <a:latin typeface="Source Sans Pro"/>
                <a:ea typeface="Source Sans Pro"/>
                <a:cs typeface="Source Sans Pro"/>
                <a:sym typeface="Source Sans Pro"/>
              </a:rPr>
              <a:t>rucio download</a:t>
            </a:r>
            <a:r>
              <a:rPr lang="en"/>
              <a:t> commands and transfer progress bars</a:t>
            </a:r>
            <a:endParaRPr/>
          </a:p>
          <a:p>
            <a:pPr marL="457200" lvl="0" indent="-308610" algn="l" rtl="0">
              <a:spcBef>
                <a:spcPts val="0"/>
              </a:spcBef>
              <a:spcAft>
                <a:spcPts val="0"/>
              </a:spcAft>
              <a:buSzPct val="100000"/>
              <a:buChar char="●"/>
            </a:pPr>
            <a:r>
              <a:rPr lang="en"/>
              <a:t>Jupyter notebooks with red error tracebacks</a:t>
            </a:r>
            <a:endParaRPr/>
          </a:p>
          <a:p>
            <a:pPr marL="457200" lvl="0" indent="-308610" algn="l" rtl="0">
              <a:spcBef>
                <a:spcPts val="0"/>
              </a:spcBef>
              <a:spcAft>
                <a:spcPts val="0"/>
              </a:spcAft>
              <a:buSzPct val="100000"/>
              <a:buChar char="●"/>
            </a:pPr>
            <a:r>
              <a:rPr lang="en"/>
              <a:t>Using AMI’s web interface to find datasets but run into authentication errors</a:t>
            </a:r>
            <a:endParaRPr/>
          </a:p>
          <a:p>
            <a:pPr marL="457200" lvl="0" indent="-308610" algn="l" rtl="0">
              <a:spcBef>
                <a:spcPts val="0"/>
              </a:spcBef>
              <a:spcAft>
                <a:spcPts val="0"/>
              </a:spcAft>
              <a:buSzPct val="100000"/>
              <a:buChar char="●"/>
            </a:pPr>
            <a:r>
              <a:rPr lang="en"/>
              <a:t>Reading TWiki pages to find out about CP recommendations</a:t>
            </a:r>
            <a:endParaRPr/>
          </a:p>
          <a:p>
            <a:pPr marL="457200" lvl="0" indent="-308610" algn="l" rtl="0">
              <a:spcBef>
                <a:spcPts val="0"/>
              </a:spcBef>
              <a:spcAft>
                <a:spcPts val="0"/>
              </a:spcAft>
              <a:buSzPct val="100000"/>
              <a:buChar char="●"/>
            </a:pPr>
            <a:r>
              <a:rPr lang="en"/>
              <a:t>Lots of held jobs with condor (or slurm)</a:t>
            </a:r>
            <a:endParaRPr/>
          </a:p>
          <a:p>
            <a:pPr marL="457200" lvl="0" indent="-308610" algn="l" rtl="0">
              <a:spcBef>
                <a:spcPts val="0"/>
              </a:spcBef>
              <a:spcAft>
                <a:spcPts val="0"/>
              </a:spcAft>
              <a:buSzPct val="100000"/>
              <a:buChar char="●"/>
            </a:pPr>
            <a:r>
              <a:rPr lang="en"/>
              <a:t>Asking on mattermost about samples or p-tags or problems with software</a:t>
            </a:r>
            <a:endParaRPr/>
          </a:p>
          <a:p>
            <a:pPr marL="457200" lvl="0" indent="-308610" algn="l" rtl="0">
              <a:spcBef>
                <a:spcPts val="0"/>
              </a:spcBef>
              <a:spcAft>
                <a:spcPts val="0"/>
              </a:spcAft>
              <a:buSzPct val="100000"/>
              <a:buChar char="●"/>
            </a:pPr>
            <a:r>
              <a:rPr lang="en"/>
              <a:t>Using different tools and frameworks with all sorts of varying different ways of plaintext configuration</a:t>
            </a:r>
            <a:endParaRPr/>
          </a:p>
          <a:p>
            <a:pPr marL="457200" lvl="0" indent="-308610" algn="l" rtl="0">
              <a:spcBef>
                <a:spcPts val="0"/>
              </a:spcBef>
              <a:spcAft>
                <a:spcPts val="0"/>
              </a:spcAft>
              <a:buSzPct val="100000"/>
              <a:buChar char="●"/>
            </a:pPr>
            <a:r>
              <a:rPr lang="en"/>
              <a:t>Accessing different analysis facilities to run code and transfer data and work with other people</a:t>
            </a:r>
            <a:endParaRPr/>
          </a:p>
          <a:p>
            <a:pPr marL="457200" lvl="0" indent="-308610" algn="l" rtl="0">
              <a:spcBef>
                <a:spcPts val="0"/>
              </a:spcBef>
              <a:spcAft>
                <a:spcPts val="0"/>
              </a:spcAft>
              <a:buSzPct val="100000"/>
              <a:buChar char="●"/>
            </a:pPr>
            <a:r>
              <a:rPr lang="en"/>
              <a:t>A browser with 15+ tabs open</a:t>
            </a:r>
            <a:endParaRPr/>
          </a:p>
          <a:p>
            <a:pPr marL="0" lvl="0" indent="0" algn="l" rtl="0">
              <a:spcBef>
                <a:spcPts val="1200"/>
              </a:spcBef>
              <a:spcAft>
                <a:spcPts val="1200"/>
              </a:spcAft>
              <a:buNone/>
            </a:pPr>
            <a:r>
              <a:rPr lang="en" b="1"/>
              <a:t>This is a lot to handle, and you’re not alone!</a:t>
            </a:r>
            <a:endParaRPr b="1"/>
          </a:p>
        </p:txBody>
      </p:sp>
      <p:pic>
        <p:nvPicPr>
          <p:cNvPr id="365" name="Google Shape;365;p47"/>
          <p:cNvPicPr preferRelativeResize="0"/>
          <p:nvPr/>
        </p:nvPicPr>
        <p:blipFill rotWithShape="1">
          <a:blip r:embed="rId3">
            <a:alphaModFix/>
          </a:blip>
          <a:srcRect l="37324"/>
          <a:stretch/>
        </p:blipFill>
        <p:spPr>
          <a:xfrm>
            <a:off x="1605927" y="1583727"/>
            <a:ext cx="2506924" cy="621042"/>
          </a:xfrm>
          <a:prstGeom prst="rect">
            <a:avLst/>
          </a:prstGeom>
          <a:noFill/>
          <a:ln>
            <a:noFill/>
          </a:ln>
          <a:effectLst>
            <a:outerShdw blurRad="71438" dist="95250" dir="2700000" algn="bl" rotWithShape="0">
              <a:srgbClr val="000000">
                <a:alpha val="50000"/>
              </a:srgbClr>
            </a:outerShdw>
          </a:effectLst>
        </p:spPr>
      </p:pic>
      <p:pic>
        <p:nvPicPr>
          <p:cNvPr id="366" name="Google Shape;366;p47" title="Screenshot 2026-03-18 at 14.15.03.png"/>
          <p:cNvPicPr preferRelativeResize="0"/>
          <p:nvPr/>
        </p:nvPicPr>
        <p:blipFill>
          <a:blip r:embed="rId4">
            <a:alphaModFix/>
          </a:blip>
          <a:stretch>
            <a:fillRect/>
          </a:stretch>
        </p:blipFill>
        <p:spPr>
          <a:xfrm>
            <a:off x="230933" y="1235800"/>
            <a:ext cx="3008435" cy="484735"/>
          </a:xfrm>
          <a:prstGeom prst="rect">
            <a:avLst/>
          </a:prstGeom>
          <a:noFill/>
          <a:ln>
            <a:noFill/>
          </a:ln>
          <a:effectLst>
            <a:outerShdw blurRad="71438" dist="95250" dir="2700000" algn="bl" rotWithShape="0">
              <a:srgbClr val="000000">
                <a:alpha val="50000"/>
              </a:srgbClr>
            </a:outerShdw>
          </a:effectLst>
        </p:spPr>
      </p:pic>
      <p:pic>
        <p:nvPicPr>
          <p:cNvPr id="367" name="Google Shape;367;p47" title="Screenshot 2026-03-18 at 14.19.21.png"/>
          <p:cNvPicPr preferRelativeResize="0"/>
          <p:nvPr/>
        </p:nvPicPr>
        <p:blipFill>
          <a:blip r:embed="rId5">
            <a:alphaModFix/>
          </a:blip>
          <a:stretch>
            <a:fillRect/>
          </a:stretch>
        </p:blipFill>
        <p:spPr>
          <a:xfrm>
            <a:off x="230925" y="1642712"/>
            <a:ext cx="1751261" cy="1124100"/>
          </a:xfrm>
          <a:prstGeom prst="rect">
            <a:avLst/>
          </a:prstGeom>
          <a:noFill/>
          <a:ln>
            <a:noFill/>
          </a:ln>
          <a:effectLst>
            <a:outerShdw blurRad="71438" dist="95250" dir="2700000" algn="bl" rotWithShape="0">
              <a:srgbClr val="000000">
                <a:alpha val="50000"/>
              </a:srgbClr>
            </a:outerShdw>
          </a:effectLst>
        </p:spPr>
      </p:pic>
      <p:pic>
        <p:nvPicPr>
          <p:cNvPr id="368" name="Google Shape;368;p47" title="Screenshot 2026-03-18 at 14.17.57.png"/>
          <p:cNvPicPr preferRelativeResize="0"/>
          <p:nvPr/>
        </p:nvPicPr>
        <p:blipFill>
          <a:blip r:embed="rId6">
            <a:alphaModFix/>
          </a:blip>
          <a:stretch>
            <a:fillRect/>
          </a:stretch>
        </p:blipFill>
        <p:spPr>
          <a:xfrm>
            <a:off x="230925" y="2077055"/>
            <a:ext cx="3555143" cy="255420"/>
          </a:xfrm>
          <a:prstGeom prst="rect">
            <a:avLst/>
          </a:prstGeom>
          <a:noFill/>
          <a:ln>
            <a:noFill/>
          </a:ln>
          <a:effectLst>
            <a:outerShdw blurRad="71438" dist="95250" dir="2700000" algn="bl" rotWithShape="0">
              <a:srgbClr val="000000">
                <a:alpha val="50000"/>
              </a:srgbClr>
            </a:outerShdw>
          </a:effectLst>
        </p:spPr>
      </p:pic>
      <p:pic>
        <p:nvPicPr>
          <p:cNvPr id="369" name="Google Shape;369;p47" title="Screenshot 2026-03-18 at 14.19.59.png"/>
          <p:cNvPicPr preferRelativeResize="0"/>
          <p:nvPr/>
        </p:nvPicPr>
        <p:blipFill>
          <a:blip r:embed="rId7">
            <a:alphaModFix/>
          </a:blip>
          <a:stretch>
            <a:fillRect/>
          </a:stretch>
        </p:blipFill>
        <p:spPr>
          <a:xfrm>
            <a:off x="1881551" y="2077058"/>
            <a:ext cx="1357826" cy="1253617"/>
          </a:xfrm>
          <a:prstGeom prst="rect">
            <a:avLst/>
          </a:prstGeom>
          <a:noFill/>
          <a:ln>
            <a:noFill/>
          </a:ln>
          <a:effectLst>
            <a:outerShdw blurRad="71438" dist="95250" dir="2700000" algn="bl" rotWithShape="0">
              <a:srgbClr val="000000">
                <a:alpha val="50000"/>
              </a:srgbClr>
            </a:outerShdw>
          </a:effectLst>
        </p:spPr>
      </p:pic>
      <p:pic>
        <p:nvPicPr>
          <p:cNvPr id="370" name="Google Shape;370;p47"/>
          <p:cNvPicPr preferRelativeResize="0"/>
          <p:nvPr/>
        </p:nvPicPr>
        <p:blipFill rotWithShape="1">
          <a:blip r:embed="rId8">
            <a:alphaModFix/>
          </a:blip>
          <a:srcRect r="43036"/>
          <a:stretch/>
        </p:blipFill>
        <p:spPr>
          <a:xfrm>
            <a:off x="169263" y="2770775"/>
            <a:ext cx="3678475" cy="711250"/>
          </a:xfrm>
          <a:prstGeom prst="rect">
            <a:avLst/>
          </a:prstGeom>
          <a:noFill/>
          <a:ln>
            <a:noFill/>
          </a:ln>
          <a:effectLst>
            <a:outerShdw blurRad="71438" dist="95250" dir="2700000" algn="bl" rotWithShape="0">
              <a:srgbClr val="000000">
                <a:alpha val="50000"/>
              </a:srgbClr>
            </a:outerShdw>
          </a:effectLst>
        </p:spPr>
      </p:pic>
      <p:pic>
        <p:nvPicPr>
          <p:cNvPr id="371" name="Google Shape;371;p47"/>
          <p:cNvPicPr preferRelativeResize="0"/>
          <p:nvPr/>
        </p:nvPicPr>
        <p:blipFill>
          <a:blip r:embed="rId9">
            <a:alphaModFix/>
          </a:blip>
          <a:stretch>
            <a:fillRect/>
          </a:stretch>
        </p:blipFill>
        <p:spPr>
          <a:xfrm>
            <a:off x="2141875" y="2863975"/>
            <a:ext cx="1705883" cy="1098650"/>
          </a:xfrm>
          <a:prstGeom prst="rect">
            <a:avLst/>
          </a:prstGeom>
          <a:noFill/>
          <a:ln>
            <a:noFill/>
          </a:ln>
          <a:effectLst>
            <a:outerShdw blurRad="71438" dist="95250" dir="2700000" algn="bl" rotWithShape="0">
              <a:srgbClr val="000000">
                <a:alpha val="50000"/>
              </a:srgbClr>
            </a:outerShdw>
          </a:effectLst>
        </p:spPr>
      </p:pic>
      <p:pic>
        <p:nvPicPr>
          <p:cNvPr id="372" name="Google Shape;372;p47" title="Screenshot 2026-03-18 at 14.23.48.png"/>
          <p:cNvPicPr preferRelativeResize="0"/>
          <p:nvPr/>
        </p:nvPicPr>
        <p:blipFill>
          <a:blip r:embed="rId10">
            <a:alphaModFix/>
          </a:blip>
          <a:stretch>
            <a:fillRect/>
          </a:stretch>
        </p:blipFill>
        <p:spPr>
          <a:xfrm>
            <a:off x="230925" y="3183422"/>
            <a:ext cx="2287126" cy="820900"/>
          </a:xfrm>
          <a:prstGeom prst="rect">
            <a:avLst/>
          </a:prstGeom>
          <a:noFill/>
          <a:ln>
            <a:noFill/>
          </a:ln>
          <a:effectLst>
            <a:outerShdw blurRad="71438" dist="95250" dir="2700000" algn="bl" rotWithShape="0">
              <a:srgbClr val="000000">
                <a:alpha val="50000"/>
              </a:srgbClr>
            </a:outerShdw>
          </a:effectLst>
        </p:spPr>
      </p:pic>
      <p:pic>
        <p:nvPicPr>
          <p:cNvPr id="373" name="Google Shape;373;p47" title="Screenshot 2026-03-18 at 14.25.29.png"/>
          <p:cNvPicPr preferRelativeResize="0"/>
          <p:nvPr/>
        </p:nvPicPr>
        <p:blipFill>
          <a:blip r:embed="rId11">
            <a:alphaModFix/>
          </a:blip>
          <a:stretch>
            <a:fillRect/>
          </a:stretch>
        </p:blipFill>
        <p:spPr>
          <a:xfrm>
            <a:off x="-4" y="3863328"/>
            <a:ext cx="1751250" cy="1134848"/>
          </a:xfrm>
          <a:prstGeom prst="rect">
            <a:avLst/>
          </a:prstGeom>
          <a:noFill/>
          <a:ln>
            <a:noFill/>
          </a:ln>
          <a:effectLst>
            <a:outerShdw blurRad="71438" dist="95250" dir="2700000" algn="bl" rotWithShape="0">
              <a:srgbClr val="000000">
                <a:alpha val="50000"/>
              </a:srgbClr>
            </a:outerShdw>
          </a:effectLst>
        </p:spPr>
      </p:pic>
      <p:pic>
        <p:nvPicPr>
          <p:cNvPr id="374" name="Google Shape;374;p47" title="Screenshot 2026-03-18 at 14.24.20.png"/>
          <p:cNvPicPr preferRelativeResize="0"/>
          <p:nvPr/>
        </p:nvPicPr>
        <p:blipFill>
          <a:blip r:embed="rId12">
            <a:alphaModFix/>
          </a:blip>
          <a:stretch>
            <a:fillRect/>
          </a:stretch>
        </p:blipFill>
        <p:spPr>
          <a:xfrm>
            <a:off x="2713750" y="3391801"/>
            <a:ext cx="1185201" cy="1210374"/>
          </a:xfrm>
          <a:prstGeom prst="rect">
            <a:avLst/>
          </a:prstGeom>
          <a:noFill/>
          <a:ln>
            <a:noFill/>
          </a:ln>
          <a:effectLst>
            <a:outerShdw blurRad="71438" dist="95250" dir="2700000" algn="bl" rotWithShape="0">
              <a:srgbClr val="000000">
                <a:alpha val="50000"/>
              </a:srgbClr>
            </a:outerShdw>
          </a:effectLst>
        </p:spPr>
      </p:pic>
      <p:pic>
        <p:nvPicPr>
          <p:cNvPr id="375" name="Google Shape;375;p47" title="Screenshot 2026-03-18 at 14.28.46.png"/>
          <p:cNvPicPr preferRelativeResize="0"/>
          <p:nvPr/>
        </p:nvPicPr>
        <p:blipFill>
          <a:blip r:embed="rId13">
            <a:alphaModFix/>
          </a:blip>
          <a:stretch>
            <a:fillRect/>
          </a:stretch>
        </p:blipFill>
        <p:spPr>
          <a:xfrm>
            <a:off x="1329604" y="3797524"/>
            <a:ext cx="1751251" cy="816409"/>
          </a:xfrm>
          <a:prstGeom prst="rect">
            <a:avLst/>
          </a:prstGeom>
          <a:noFill/>
          <a:ln>
            <a:noFill/>
          </a:ln>
          <a:effectLst>
            <a:outerShdw blurRad="71438" dist="95250" dir="2700000" algn="bl" rotWithShape="0">
              <a:srgbClr val="000000">
                <a:alpha val="50000"/>
              </a:srgbClr>
            </a:outerShdw>
          </a:effectLst>
        </p:spPr>
      </p:pic>
      <p:pic>
        <p:nvPicPr>
          <p:cNvPr id="376" name="Google Shape;376;p47" descr="A small figure of a physicist hunched over a laptop, surrounded by all of it. with the physicist alone, should be a woman of color, and none of the other stuff from the slide -- on just a white background."/>
          <p:cNvPicPr preferRelativeResize="0"/>
          <p:nvPr/>
        </p:nvPicPr>
        <p:blipFill rotWithShape="1">
          <a:blip r:embed="rId14">
            <a:alphaModFix/>
          </a:blip>
          <a:srcRect t="23047" r="59283"/>
          <a:stretch/>
        </p:blipFill>
        <p:spPr>
          <a:xfrm>
            <a:off x="6252875" y="69276"/>
            <a:ext cx="1258725" cy="1324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380"/>
        <p:cNvGrpSpPr/>
        <p:nvPr/>
      </p:nvGrpSpPr>
      <p:grpSpPr>
        <a:xfrm>
          <a:off x="0" y="0"/>
          <a:ext cx="0" cy="0"/>
          <a:chOff x="0" y="0"/>
          <a:chExt cx="0" cy="0"/>
        </a:xfrm>
      </p:grpSpPr>
      <p:sp>
        <p:nvSpPr>
          <p:cNvPr id="381" name="Google Shape;381;p48"/>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ATLAS Analysis – using Elwood</a:t>
            </a:r>
            <a:endParaRPr/>
          </a:p>
        </p:txBody>
      </p:sp>
      <p:pic>
        <p:nvPicPr>
          <p:cNvPr id="382" name="Google Shape;382;p48"/>
          <p:cNvPicPr preferRelativeResize="0"/>
          <p:nvPr/>
        </p:nvPicPr>
        <p:blipFill>
          <a:blip r:embed="rId3">
            <a:alphaModFix/>
          </a:blip>
          <a:stretch>
            <a:fillRect/>
          </a:stretch>
        </p:blipFill>
        <p:spPr>
          <a:xfrm>
            <a:off x="1477675" y="1017725"/>
            <a:ext cx="6188652" cy="4125775"/>
          </a:xfrm>
          <a:prstGeom prst="rect">
            <a:avLst/>
          </a:prstGeom>
          <a:noFill/>
          <a:ln>
            <a:noFill/>
          </a:ln>
        </p:spPr>
      </p:pic>
      <p:sp>
        <p:nvSpPr>
          <p:cNvPr id="383" name="Google Shape;383;p48"/>
          <p:cNvSpPr txBox="1"/>
          <p:nvPr/>
        </p:nvSpPr>
        <p:spPr>
          <a:xfrm>
            <a:off x="5777400" y="0"/>
            <a:ext cx="3366600" cy="344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i="1">
                <a:solidFill>
                  <a:schemeClr val="dk2"/>
                </a:solidFill>
              </a:rPr>
              <a:t>Image generated by Claude</a:t>
            </a:r>
            <a:endParaRPr sz="1800" i="1">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387"/>
        <p:cNvGrpSpPr/>
        <p:nvPr/>
      </p:nvGrpSpPr>
      <p:grpSpPr>
        <a:xfrm>
          <a:off x="0" y="0"/>
          <a:ext cx="0" cy="0"/>
          <a:chOff x="0" y="0"/>
          <a:chExt cx="0" cy="0"/>
        </a:xfrm>
      </p:grpSpPr>
      <p:sp>
        <p:nvSpPr>
          <p:cNvPr id="388" name="Google Shape;388;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Agentic Analysis (Giordon, Rob, Ilija)</a:t>
            </a:r>
            <a:endParaRPr/>
          </a:p>
        </p:txBody>
      </p:sp>
      <p:sp>
        <p:nvSpPr>
          <p:cNvPr id="389" name="Google Shape;389;p49"/>
          <p:cNvSpPr txBox="1">
            <a:spLocks noGrp="1"/>
          </p:cNvSpPr>
          <p:nvPr>
            <p:ph type="body" idx="1"/>
          </p:nvPr>
        </p:nvSpPr>
        <p:spPr>
          <a:xfrm>
            <a:off x="311700" y="1152475"/>
            <a:ext cx="8520600" cy="3807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300" b="1">
                <a:solidFill>
                  <a:schemeClr val="dk1"/>
                </a:solidFill>
              </a:rPr>
              <a:t>What is Elwood?</a:t>
            </a:r>
            <a:r>
              <a:rPr lang="en" sz="1300">
                <a:solidFill>
                  <a:schemeClr val="dk1"/>
                </a:solidFill>
              </a:rPr>
              <a:t> Elwood is an agentic analysis framework proposed. A physicist describes their analysis intent in natural language: "find the ttbar MC samples matching my p-tag, run the coffea selection, and fit the result with pyhf"; Elwood autonomously handles the full workflow: dataset discovery via Rucio and AMI, columnar data delivery through ServiceX, histogram production with coffea, and statistical inference with pyhf. The key architectural idea is that the AI model is a general-purpose reasoning engine while the experiment-specific knowledge such as which tools to call, which datasets to query, which recommendations to follow all live in a swappable, extensible configuration layer we call the </a:t>
            </a:r>
            <a:r>
              <a:rPr lang="en" sz="1300" i="1">
                <a:solidFill>
                  <a:schemeClr val="dk1"/>
                </a:solidFill>
              </a:rPr>
              <a:t>codebook </a:t>
            </a:r>
            <a:r>
              <a:rPr lang="en" sz="1300">
                <a:solidFill>
                  <a:schemeClr val="dk1"/>
                </a:solidFill>
              </a:rPr>
              <a:t>. This means the framework is not locked to ATLAS or an analysis facility: swap the codebook and it works for EIC and NERSC, or DUNE and American Science Cloud.</a:t>
            </a:r>
            <a:endParaRPr sz="1300">
              <a:solidFill>
                <a:schemeClr val="dk1"/>
              </a:solidFill>
            </a:endParaRPr>
          </a:p>
          <a:p>
            <a:pPr marL="0" lvl="0" indent="0" algn="l" rtl="0">
              <a:spcBef>
                <a:spcPts val="1200"/>
              </a:spcBef>
              <a:spcAft>
                <a:spcPts val="1200"/>
              </a:spcAft>
              <a:buNone/>
            </a:pPr>
            <a:r>
              <a:rPr lang="en" sz="1300" b="1">
                <a:solidFill>
                  <a:schemeClr val="dk1"/>
                </a:solidFill>
              </a:rPr>
              <a:t>What is the quantifiable improvement?</a:t>
            </a:r>
            <a:r>
              <a:rPr lang="en" sz="1300">
                <a:solidFill>
                  <a:schemeClr val="dk1"/>
                </a:solidFill>
              </a:rPr>
              <a:t> Every ATLAS analyst knows the overhead: debugging grid jobs, chasing down the right datasets, resubmitting jobs, navigating TWiki pages for CP recommendations. None of that is physics, it's infrastructure friction. Elwood targets that friction directly. The Phase 1 demonstrator measures productivity on the analysis facility benchmarking pipeline: how long does it take to go from an empty starting state to a first histogram with systematics, comparing an Elwood-assisted run against a manual baseline? We are also planning a workshop experiment where students use Elwood on ATLAS Open Data, measuring how many participants reach the fitting stage compared to prior tutorials.</a:t>
            </a:r>
            <a:endParaRPr sz="20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6016</Words>
  <Application>Microsoft Office PowerPoint</Application>
  <PresentationFormat>On-screen Show (16:9)</PresentationFormat>
  <Paragraphs>364</Paragraphs>
  <Slides>35</Slides>
  <Notes>35</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Helvetica Neue</vt:lpstr>
      <vt:lpstr>Source Sans Pro</vt:lpstr>
      <vt:lpstr>Jacques Francois Shadow</vt:lpstr>
      <vt:lpstr>Calibri</vt:lpstr>
      <vt:lpstr>Arial</vt:lpstr>
      <vt:lpstr>Arial Black</vt:lpstr>
      <vt:lpstr>Simple Light</vt:lpstr>
      <vt:lpstr>What we know about Genesis call</vt:lpstr>
      <vt:lpstr>More Thoughts on Strategy</vt:lpstr>
      <vt:lpstr>Goals for Today</vt:lpstr>
      <vt:lpstr>US ATLAS Expressions of Interest Spreadsheet</vt:lpstr>
      <vt:lpstr>PowerPoint Presentation</vt:lpstr>
      <vt:lpstr>PowerPoint Presentation</vt:lpstr>
      <vt:lpstr>PowerPoint Presentation</vt:lpstr>
      <vt:lpstr>PowerPoint Presentation</vt:lpstr>
      <vt:lpstr>Foundation Model for HEP(Viviana)</vt:lpstr>
      <vt:lpstr>Foundation Model for HEP(Viviana)</vt:lpstr>
      <vt:lpstr>Towards a Foundation Model for Calorimetry (1/2)</vt:lpstr>
      <vt:lpstr>Towards a Foundation Model for Calorimetry (2/2)</vt:lpstr>
      <vt:lpstr>A Low-Level Calorimeter Foundation Model to Enhance Current and Future Collider Experiments</vt:lpstr>
      <vt:lpstr>Self-Supervised Learning towards Improved HEP Foundation Models</vt:lpstr>
      <vt:lpstr>PowerPoint Presentation</vt:lpstr>
      <vt:lpstr>PowerPoint Presentation</vt:lpstr>
      <vt:lpstr>Improved datasets for ML research</vt:lpstr>
      <vt:lpstr>PowerPoint Presentation</vt:lpstr>
      <vt:lpstr>PowerPoint Presentation</vt:lpstr>
      <vt:lpstr>Agentic Analysis  (Watts)</vt:lpstr>
      <vt:lpstr>AI Agents for End-to-End Analysis</vt:lpstr>
      <vt:lpstr>Detector Operation (1/2)  (Catrin Bernius: Catrin.Bernius@cern.ch / Peter Onyisi ponyisi@utexas.edu / Verena Martinez Outschoorn vimartin@umass.edu)</vt:lpstr>
      <vt:lpstr>Detector Operation (2/2)  (Catrin Bernius: Catrin.Bernius@cern.ch / Peter Onyisi ponyisi@utexas.edu / Verena Martinez Outschoorn vimartin@umass.edu)</vt:lpstr>
      <vt:lpstr>Self-Driving Trigger Systems: Deploying Autonomous Real-Time Data Acquisition and Online Foundation Model Inference for DOE High-Energy Physics Facilities (Miller)  </vt:lpstr>
      <vt:lpstr>AI agentic workflows for firmware and hardware integration in LS3 and future operations</vt:lpstr>
      <vt:lpstr>Incorporating AI in ATLAS Data Quality Assessment</vt:lpstr>
      <vt:lpstr>14-C: ML-Based Lossless Data Compression for Energy Frontier and Neutrino Experiments</vt:lpstr>
      <vt:lpstr>ASSET: AI-Steered SMEFT Event Tomography</vt:lpstr>
      <vt:lpstr>Autonomous Discovery of New Physics Through Anomaly Detection with Agentic Workflow                                     </vt:lpstr>
      <vt:lpstr>Projects being discussed</vt:lpstr>
      <vt:lpstr>Projects being discussed 2</vt:lpstr>
      <vt:lpstr>Projects being discussed 3</vt:lpstr>
      <vt:lpstr>ATLAS Analysis – the current approach</vt:lpstr>
      <vt:lpstr>ATLAS Analysis – using Elwood</vt:lpstr>
      <vt:lpstr>Agentic Analysis (Giordon, Rob, Ilija)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Nathan Herling</dc:creator>
  <cp:lastModifiedBy>Nathan Herling</cp:lastModifiedBy>
  <cp:revision>1</cp:revision>
  <dcterms:modified xsi:type="dcterms:W3CDTF">2026-04-10T07:47:30Z</dcterms:modified>
</cp:coreProperties>
</file>